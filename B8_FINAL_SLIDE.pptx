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27"/>
  </p:notesMasterIdLst>
  <p:sldIdLst>
    <p:sldId id="256" r:id="rId2"/>
    <p:sldId id="257" r:id="rId3"/>
    <p:sldId id="258" r:id="rId4"/>
    <p:sldId id="259" r:id="rId5"/>
    <p:sldId id="267" r:id="rId6"/>
    <p:sldId id="268" r:id="rId7"/>
    <p:sldId id="292" r:id="rId8"/>
    <p:sldId id="271" r:id="rId9"/>
    <p:sldId id="290" r:id="rId10"/>
    <p:sldId id="272" r:id="rId11"/>
    <p:sldId id="273" r:id="rId12"/>
    <p:sldId id="274" r:id="rId13"/>
    <p:sldId id="276" r:id="rId14"/>
    <p:sldId id="279" r:id="rId15"/>
    <p:sldId id="293" r:id="rId16"/>
    <p:sldId id="294" r:id="rId17"/>
    <p:sldId id="295" r:id="rId18"/>
    <p:sldId id="285" r:id="rId19"/>
    <p:sldId id="286" r:id="rId20"/>
    <p:sldId id="288" r:id="rId21"/>
    <p:sldId id="289" r:id="rId22"/>
    <p:sldId id="291" r:id="rId23"/>
    <p:sldId id="263" r:id="rId24"/>
    <p:sldId id="264" r:id="rId25"/>
    <p:sldId id="266" r:id="rId26"/>
  </p:sldIdLst>
  <p:sldSz cx="9144000" cy="5143500" type="screen16x9"/>
  <p:notesSz cx="6858000" cy="9144000"/>
  <p:embeddedFontLst>
    <p:embeddedFont>
      <p:font typeface="Georgia" panose="02040502050405020303" pitchFamily="18" charset="0"/>
      <p:regular r:id="rId28"/>
      <p:bold r:id="rId29"/>
      <p:italic r:id="rId30"/>
      <p:boldItalic r:id="rId31"/>
    </p:embeddedFont>
    <p:embeddedFont>
      <p:font typeface="Times" panose="02020603050405020304" pitchFamily="18"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898" y="29"/>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6a9b0999d3_1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26a9b0999d3_1_1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f8c5a0340c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g2f8c5a0340c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05b97875ee_0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05b97875ee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05b97875ee_0_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6" name="Google Shape;146;g305b97875ee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05b97875ee_0_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6" name="Google Shape;146;g305b97875ee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6542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05b97875ee_0_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6" name="Google Shape;146;g305b97875ee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52863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05b97875ee_0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g305b97875ee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34238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05b97875ee_0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g305b97875ee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3098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05b97875ee_0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g305b97875ee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54347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05b97875ee_0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g305b97875ee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4361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05b97875ee_0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g305b97875ee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9751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05b97875ee_0_1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g305b97875ee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33954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05b97875ee_0_1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g305b97875ee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881723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05b97875ee_0_1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g305b97875ee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0543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05b97875ee_0_1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g305b97875ee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9739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05b97875ee_0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g305b97875ee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409452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05b97875ee_0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65" name="Google Shape;165;g305b97875ee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214960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05b97875ee_0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g305b97875ee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52374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05b97875ee_0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65" name="Google Shape;165;g305b97875ee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527938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05b97875ee_0_1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1" name="Google Shape;171;g305b97875ee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05b97875ee_0_1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7" name="Google Shape;177;g305b97875ee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05b97875ee_0_1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9" name="Google Shape;189;g305b97875ee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cxnSp>
        <p:nvCxnSpPr>
          <p:cNvPr id="8" name="Google Shape;8;p2"/>
          <p:cNvCxnSpPr/>
          <p:nvPr/>
        </p:nvCxnSpPr>
        <p:spPr>
          <a:xfrm>
            <a:off x="905744" y="3257550"/>
            <a:ext cx="7406700" cy="0"/>
          </a:xfrm>
          <a:prstGeom prst="straightConnector1">
            <a:avLst/>
          </a:prstGeom>
          <a:noFill/>
          <a:ln w="9525" cap="flat" cmpd="sng">
            <a:solidFill>
              <a:srgbClr val="7F7F7F"/>
            </a:solidFill>
            <a:prstDash val="solid"/>
            <a:round/>
            <a:headEnd type="none" w="sm" len="sm"/>
            <a:tailEnd type="none" w="sm" len="sm"/>
          </a:ln>
        </p:spPr>
      </p:cxnSp>
      <p:sp>
        <p:nvSpPr>
          <p:cNvPr id="9" name="Google Shape;9;p2"/>
          <p:cNvSpPr txBox="1">
            <a:spLocks noGrp="1"/>
          </p:cNvSpPr>
          <p:nvPr>
            <p:ph type="ctrTitle"/>
          </p:nvPr>
        </p:nvSpPr>
        <p:spPr>
          <a:xfrm>
            <a:off x="1745273" y="1573035"/>
            <a:ext cx="5653454" cy="1318846"/>
          </a:xfrm>
          <a:prstGeom prst="rect">
            <a:avLst/>
          </a:prstGeom>
          <a:noFill/>
          <a:ln>
            <a:noFill/>
          </a:ln>
        </p:spPr>
        <p:txBody>
          <a:bodyPr spcFirstLastPara="1" wrap="square" lIns="68575" tIns="34275" rIns="68575" bIns="34275" anchor="b" anchorCtr="0">
            <a:noAutofit/>
          </a:bodyPr>
          <a:lstStyle>
            <a:lvl1pPr marR="0" lvl="0" algn="ctr"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10" name="Google Shape;10;p2"/>
          <p:cNvPicPr preferRelativeResize="0"/>
          <p:nvPr/>
        </p:nvPicPr>
        <p:blipFill rotWithShape="1">
          <a:blip r:embed="rId2">
            <a:alphaModFix/>
          </a:blip>
          <a:srcRect/>
          <a:stretch/>
        </p:blipFill>
        <p:spPr>
          <a:xfrm>
            <a:off x="3956124" y="326202"/>
            <a:ext cx="1305950" cy="12468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3"/>
          <p:cNvSpPr txBox="1">
            <a:spLocks noGrp="1"/>
          </p:cNvSpPr>
          <p:nvPr>
            <p:ph type="body" idx="1"/>
          </p:nvPr>
        </p:nvSpPr>
        <p:spPr>
          <a:xfrm>
            <a:off x="306889" y="878606"/>
            <a:ext cx="8523900" cy="3931800"/>
          </a:xfrm>
          <a:prstGeom prst="rect">
            <a:avLst/>
          </a:prstGeom>
          <a:noFill/>
          <a:ln>
            <a:noFill/>
          </a:ln>
        </p:spPr>
        <p:txBody>
          <a:bodyPr spcFirstLastPara="1" wrap="square" lIns="0" tIns="34275" rIns="0" bIns="34275" anchor="t" anchorCtr="0">
            <a:noAutofit/>
          </a:bodyPr>
          <a:lstStyle>
            <a:lvl1pPr marL="457200" lvl="0" indent="-342900" algn="l">
              <a:lnSpc>
                <a:spcPct val="90000"/>
              </a:lnSpc>
              <a:spcBef>
                <a:spcPts val="900"/>
              </a:spcBef>
              <a:spcAft>
                <a:spcPts val="0"/>
              </a:spcAft>
              <a:buClr>
                <a:schemeClr val="dk1"/>
              </a:buClr>
              <a:buSzPts val="1800"/>
              <a:buFont typeface="Courier New"/>
              <a:buChar char="o"/>
              <a:defRPr sz="1800" b="0" cap="none">
                <a:solidFill>
                  <a:schemeClr val="dk1"/>
                </a:solidFill>
                <a:latin typeface="Calibri"/>
                <a:ea typeface="Calibri"/>
                <a:cs typeface="Calibri"/>
                <a:sym typeface="Calibri"/>
              </a:defRPr>
            </a:lvl1pPr>
            <a:lvl2pPr marL="914400" lvl="1" indent="-317500" algn="l">
              <a:lnSpc>
                <a:spcPct val="90000"/>
              </a:lnSpc>
              <a:spcBef>
                <a:spcPts val="200"/>
              </a:spcBef>
              <a:spcAft>
                <a:spcPts val="0"/>
              </a:spcAft>
              <a:buClr>
                <a:srgbClr val="3F3F3F"/>
              </a:buClr>
              <a:buSzPts val="1400"/>
              <a:buFont typeface="Courier New"/>
              <a:buChar char="o"/>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13" name="Google Shape;13;p3"/>
          <p:cNvSpPr txBox="1"/>
          <p:nvPr/>
        </p:nvSpPr>
        <p:spPr>
          <a:xfrm>
            <a:off x="899150" y="147426"/>
            <a:ext cx="7543800" cy="470100"/>
          </a:xfrm>
          <a:prstGeom prst="rect">
            <a:avLst/>
          </a:prstGeom>
          <a:noFill/>
          <a:ln>
            <a:noFill/>
          </a:ln>
        </p:spPr>
        <p:txBody>
          <a:bodyPr spcFirstLastPara="1" wrap="square" lIns="68575" tIns="34275" rIns="68575" bIns="34275" anchor="b" anchorCtr="0">
            <a:noAutofit/>
          </a:bodyPr>
          <a:lstStyle/>
          <a:p>
            <a:pPr marL="0" marR="0" lvl="0" indent="0" algn="ctr" rtl="0">
              <a:lnSpc>
                <a:spcPct val="85000"/>
              </a:lnSpc>
              <a:spcBef>
                <a:spcPts val="0"/>
              </a:spcBef>
              <a:spcAft>
                <a:spcPts val="0"/>
              </a:spcAft>
              <a:buClr>
                <a:srgbClr val="000000"/>
              </a:buClr>
              <a:buSzPts val="3200"/>
              <a:buFont typeface="Arial"/>
              <a:buNone/>
            </a:pPr>
            <a:endParaRPr sz="3200" b="0" i="0" u="none" strike="noStrike" cap="none">
              <a:solidFill>
                <a:srgbClr val="3F3F3F"/>
              </a:solidFill>
              <a:latin typeface="Calibri"/>
              <a:ea typeface="Calibri"/>
              <a:cs typeface="Calibri"/>
              <a:sym typeface="Calibri"/>
            </a:endParaRPr>
          </a:p>
        </p:txBody>
      </p:sp>
      <p:pic>
        <p:nvPicPr>
          <p:cNvPr id="14" name="Google Shape;14;p3" descr="Military Institute of Science and Technology - Wikipedia"/>
          <p:cNvPicPr preferRelativeResize="0"/>
          <p:nvPr/>
        </p:nvPicPr>
        <p:blipFill rotWithShape="1">
          <a:blip r:embed="rId2">
            <a:alphaModFix/>
          </a:blip>
          <a:srcRect/>
          <a:stretch/>
        </p:blipFill>
        <p:spPr>
          <a:xfrm>
            <a:off x="21521" y="12184"/>
            <a:ext cx="679529" cy="610738"/>
          </a:xfrm>
          <a:prstGeom prst="rect">
            <a:avLst/>
          </a:prstGeom>
          <a:noFill/>
          <a:ln>
            <a:noFill/>
          </a:ln>
        </p:spPr>
      </p:pic>
      <p:cxnSp>
        <p:nvCxnSpPr>
          <p:cNvPr id="15" name="Google Shape;15;p3"/>
          <p:cNvCxnSpPr/>
          <p:nvPr/>
        </p:nvCxnSpPr>
        <p:spPr>
          <a:xfrm>
            <a:off x="238538" y="686262"/>
            <a:ext cx="8905461" cy="22985"/>
          </a:xfrm>
          <a:prstGeom prst="straightConnector1">
            <a:avLst/>
          </a:prstGeom>
          <a:noFill/>
          <a:ln w="19050" cap="flat" cmpd="sng">
            <a:solidFill>
              <a:srgbClr val="3BAD29"/>
            </a:solidFill>
            <a:prstDash val="solid"/>
            <a:round/>
            <a:headEnd type="none" w="sm" len="sm"/>
            <a:tailEnd type="none" w="sm" len="sm"/>
          </a:ln>
        </p:spPr>
      </p:cxnSp>
      <p:cxnSp>
        <p:nvCxnSpPr>
          <p:cNvPr id="16" name="Google Shape;16;p3"/>
          <p:cNvCxnSpPr/>
          <p:nvPr/>
        </p:nvCxnSpPr>
        <p:spPr>
          <a:xfrm>
            <a:off x="-1" y="739271"/>
            <a:ext cx="8905461" cy="22985"/>
          </a:xfrm>
          <a:prstGeom prst="straightConnector1">
            <a:avLst/>
          </a:prstGeom>
          <a:noFill/>
          <a:ln w="19050" cap="flat" cmpd="sng">
            <a:solidFill>
              <a:srgbClr val="FFFF00"/>
            </a:solidFill>
            <a:prstDash val="solid"/>
            <a:round/>
            <a:headEnd type="none" w="sm" len="sm"/>
            <a:tailEnd type="none" w="sm" len="sm"/>
          </a:ln>
        </p:spPr>
      </p:cxnSp>
      <p:pic>
        <p:nvPicPr>
          <p:cNvPr id="17" name="Google Shape;17;p3"/>
          <p:cNvPicPr preferRelativeResize="0"/>
          <p:nvPr/>
        </p:nvPicPr>
        <p:blipFill rotWithShape="1">
          <a:blip r:embed="rId3">
            <a:alphaModFix/>
          </a:blip>
          <a:srcRect l="5348" r="13298"/>
          <a:stretch/>
        </p:blipFill>
        <p:spPr>
          <a:xfrm>
            <a:off x="8244850" y="42663"/>
            <a:ext cx="899130" cy="568731"/>
          </a:xfrm>
          <a:prstGeom prst="rect">
            <a:avLst/>
          </a:prstGeom>
          <a:noFill/>
          <a:ln>
            <a:noFill/>
          </a:ln>
        </p:spPr>
      </p:pic>
      <p:sp>
        <p:nvSpPr>
          <p:cNvPr id="18" name="Google Shape;18;p3"/>
          <p:cNvSpPr txBox="1"/>
          <p:nvPr/>
        </p:nvSpPr>
        <p:spPr>
          <a:xfrm>
            <a:off x="0" y="4866362"/>
            <a:ext cx="488515"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fld id="{00000000-1234-1234-1234-123412341234}" type="slidenum">
              <a:rPr lang="en" sz="11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
        <p:nvSpPr>
          <p:cNvPr id="19" name="Google Shape;19;p3"/>
          <p:cNvSpPr/>
          <p:nvPr/>
        </p:nvSpPr>
        <p:spPr>
          <a:xfrm>
            <a:off x="7871011" y="4922294"/>
            <a:ext cx="1281267" cy="227470"/>
          </a:xfrm>
          <a:custGeom>
            <a:avLst/>
            <a:gdLst/>
            <a:ahLst/>
            <a:cxnLst/>
            <a:rect l="l" t="t" r="r" b="b"/>
            <a:pathLst>
              <a:path w="1411193" h="268372" extrusionOk="0">
                <a:moveTo>
                  <a:pt x="0" y="262109"/>
                </a:moveTo>
                <a:lnTo>
                  <a:pt x="102818" y="5976"/>
                </a:lnTo>
                <a:lnTo>
                  <a:pt x="1401564" y="0"/>
                </a:lnTo>
                <a:lnTo>
                  <a:pt x="1411193" y="268372"/>
                </a:lnTo>
                <a:lnTo>
                  <a:pt x="0" y="262109"/>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
          <p:cNvSpPr txBox="1"/>
          <p:nvPr/>
        </p:nvSpPr>
        <p:spPr>
          <a:xfrm>
            <a:off x="7972612" y="4943292"/>
            <a:ext cx="1171368" cy="18468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 sz="1050" b="1" i="0" u="none" strike="noStrike" cap="none">
                <a:solidFill>
                  <a:srgbClr val="FFFFFF"/>
                </a:solidFill>
                <a:latin typeface="Calibri"/>
                <a:ea typeface="Calibri"/>
                <a:cs typeface="Calibri"/>
                <a:sym typeface="Calibri"/>
              </a:rPr>
              <a:t>Dept of CSE, MIST</a:t>
            </a:r>
            <a:endParaRPr sz="1050" b="1" i="0" u="none" strike="noStrike" cap="none">
              <a:solidFill>
                <a:srgbClr val="FFFFFF"/>
              </a:solidFill>
              <a:latin typeface="Calibri"/>
              <a:ea typeface="Calibri"/>
              <a:cs typeface="Calibri"/>
              <a:sym typeface="Calibri"/>
            </a:endParaRPr>
          </a:p>
        </p:txBody>
      </p:sp>
      <p:sp>
        <p:nvSpPr>
          <p:cNvPr id="21" name="Google Shape;21;p3"/>
          <p:cNvSpPr/>
          <p:nvPr/>
        </p:nvSpPr>
        <p:spPr>
          <a:xfrm>
            <a:off x="1190708" y="107263"/>
            <a:ext cx="6745356" cy="461665"/>
          </a:xfrm>
          <a:prstGeom prst="rect">
            <a:avLst/>
          </a:prstGeom>
          <a:solidFill>
            <a:srgbClr val="00B0F0"/>
          </a:solidFill>
          <a:ln>
            <a:noFill/>
          </a:ln>
          <a:effectLst>
            <a:outerShdw blurRad="50800" dist="38100" dir="8100000" algn="tr" rotWithShape="0">
              <a:srgbClr val="000000">
                <a:alpha val="40000"/>
              </a:srgbClr>
            </a:outerShdw>
            <a:reflection stA="52000" endA="300" endPos="35000" sy="-100000" algn="bl" rotWithShape="0"/>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000000"/>
              </a:solidFill>
              <a:latin typeface="Calibri"/>
              <a:ea typeface="Calibri"/>
              <a:cs typeface="Calibri"/>
              <a:sym typeface="Calibri"/>
            </a:endParaRPr>
          </a:p>
        </p:txBody>
      </p:sp>
      <p:sp>
        <p:nvSpPr>
          <p:cNvPr id="22" name="Google Shape;22;p3"/>
          <p:cNvSpPr txBox="1">
            <a:spLocks noGrp="1"/>
          </p:cNvSpPr>
          <p:nvPr>
            <p:ph type="title"/>
          </p:nvPr>
        </p:nvSpPr>
        <p:spPr>
          <a:xfrm>
            <a:off x="1280160" y="155763"/>
            <a:ext cx="6590851" cy="354777"/>
          </a:xfrm>
          <a:prstGeom prst="rect">
            <a:avLst/>
          </a:prstGeom>
          <a:noFill/>
          <a:ln>
            <a:noFill/>
          </a:ln>
        </p:spPr>
        <p:txBody>
          <a:bodyPr spcFirstLastPara="1" wrap="square" lIns="68575" tIns="34275" rIns="68575" bIns="34275" anchor="b" anchorCtr="0">
            <a:noAutofit/>
          </a:bodyPr>
          <a:lstStyle>
            <a:lvl1pPr marR="0" lvl="0" algn="ctr" rtl="0">
              <a:lnSpc>
                <a:spcPct val="85000"/>
              </a:lnSpc>
              <a:spcBef>
                <a:spcPts val="0"/>
              </a:spcBef>
              <a:spcAft>
                <a:spcPts val="0"/>
              </a:spcAft>
              <a:buClr>
                <a:srgbClr val="3F3F3F"/>
              </a:buClr>
              <a:buSzPts val="1400"/>
              <a:buFont typeface="Arial"/>
              <a:buNone/>
              <a:defRPr sz="2400" b="1"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1">
  <p:cSld name="OBJECT_1">
    <p:spTree>
      <p:nvGrpSpPr>
        <p:cNvPr id="1" name="Shape 23"/>
        <p:cNvGrpSpPr/>
        <p:nvPr/>
      </p:nvGrpSpPr>
      <p:grpSpPr>
        <a:xfrm>
          <a:off x="0" y="0"/>
          <a:ext cx="0" cy="0"/>
          <a:chOff x="0" y="0"/>
          <a:chExt cx="0" cy="0"/>
        </a:xfrm>
      </p:grpSpPr>
      <p:sp>
        <p:nvSpPr>
          <p:cNvPr id="24" name="Google Shape;24;p4"/>
          <p:cNvSpPr txBox="1"/>
          <p:nvPr/>
        </p:nvSpPr>
        <p:spPr>
          <a:xfrm>
            <a:off x="899150" y="1214226"/>
            <a:ext cx="7543800" cy="470100"/>
          </a:xfrm>
          <a:prstGeom prst="rect">
            <a:avLst/>
          </a:prstGeom>
          <a:noFill/>
          <a:ln>
            <a:noFill/>
          </a:ln>
        </p:spPr>
        <p:txBody>
          <a:bodyPr spcFirstLastPara="1" wrap="square" lIns="68575" tIns="34275" rIns="68575" bIns="34275" anchor="b" anchorCtr="0">
            <a:noAutofit/>
          </a:bodyPr>
          <a:lstStyle/>
          <a:p>
            <a:pPr marL="0" marR="0" lvl="0" indent="0" algn="ctr" rtl="0">
              <a:lnSpc>
                <a:spcPct val="85000"/>
              </a:lnSpc>
              <a:spcBef>
                <a:spcPts val="0"/>
              </a:spcBef>
              <a:spcAft>
                <a:spcPts val="0"/>
              </a:spcAft>
              <a:buClr>
                <a:srgbClr val="000000"/>
              </a:buClr>
              <a:buSzPts val="3200"/>
              <a:buFont typeface="Arial"/>
              <a:buNone/>
            </a:pPr>
            <a:endParaRPr sz="3200" b="0" i="0" u="none" strike="noStrike" cap="none">
              <a:solidFill>
                <a:srgbClr val="3F3F3F"/>
              </a:solidFill>
              <a:latin typeface="Calibri"/>
              <a:ea typeface="Calibri"/>
              <a:cs typeface="Calibri"/>
              <a:sym typeface="Calibri"/>
            </a:endParaRPr>
          </a:p>
        </p:txBody>
      </p:sp>
      <p:pic>
        <p:nvPicPr>
          <p:cNvPr id="25" name="Google Shape;25;p4" descr="Military Institute of Science and Technology - Wikipedia"/>
          <p:cNvPicPr preferRelativeResize="0"/>
          <p:nvPr/>
        </p:nvPicPr>
        <p:blipFill rotWithShape="1">
          <a:blip r:embed="rId2">
            <a:alphaModFix/>
          </a:blip>
          <a:srcRect/>
          <a:stretch/>
        </p:blipFill>
        <p:spPr>
          <a:xfrm>
            <a:off x="21521" y="12184"/>
            <a:ext cx="679529" cy="610738"/>
          </a:xfrm>
          <a:prstGeom prst="rect">
            <a:avLst/>
          </a:prstGeom>
          <a:noFill/>
          <a:ln>
            <a:noFill/>
          </a:ln>
        </p:spPr>
      </p:pic>
      <p:cxnSp>
        <p:nvCxnSpPr>
          <p:cNvPr id="26" name="Google Shape;26;p4"/>
          <p:cNvCxnSpPr/>
          <p:nvPr/>
        </p:nvCxnSpPr>
        <p:spPr>
          <a:xfrm>
            <a:off x="238538" y="686262"/>
            <a:ext cx="8905500" cy="23100"/>
          </a:xfrm>
          <a:prstGeom prst="straightConnector1">
            <a:avLst/>
          </a:prstGeom>
          <a:noFill/>
          <a:ln w="19050" cap="flat" cmpd="sng">
            <a:solidFill>
              <a:srgbClr val="3BAD29"/>
            </a:solidFill>
            <a:prstDash val="solid"/>
            <a:round/>
            <a:headEnd type="none" w="sm" len="sm"/>
            <a:tailEnd type="none" w="sm" len="sm"/>
          </a:ln>
        </p:spPr>
      </p:cxnSp>
      <p:cxnSp>
        <p:nvCxnSpPr>
          <p:cNvPr id="27" name="Google Shape;27;p4"/>
          <p:cNvCxnSpPr/>
          <p:nvPr/>
        </p:nvCxnSpPr>
        <p:spPr>
          <a:xfrm>
            <a:off x="-1" y="739271"/>
            <a:ext cx="8905500" cy="23100"/>
          </a:xfrm>
          <a:prstGeom prst="straightConnector1">
            <a:avLst/>
          </a:prstGeom>
          <a:noFill/>
          <a:ln w="19050" cap="flat" cmpd="sng">
            <a:solidFill>
              <a:srgbClr val="FFFF00"/>
            </a:solidFill>
            <a:prstDash val="solid"/>
            <a:round/>
            <a:headEnd type="none" w="sm" len="sm"/>
            <a:tailEnd type="none" w="sm" len="sm"/>
          </a:ln>
        </p:spPr>
      </p:cxnSp>
      <p:pic>
        <p:nvPicPr>
          <p:cNvPr id="28" name="Google Shape;28;p4"/>
          <p:cNvPicPr preferRelativeResize="0"/>
          <p:nvPr/>
        </p:nvPicPr>
        <p:blipFill rotWithShape="1">
          <a:blip r:embed="rId3">
            <a:alphaModFix/>
          </a:blip>
          <a:srcRect l="5352" r="13292"/>
          <a:stretch/>
        </p:blipFill>
        <p:spPr>
          <a:xfrm>
            <a:off x="8244850" y="42663"/>
            <a:ext cx="899130" cy="568731"/>
          </a:xfrm>
          <a:prstGeom prst="rect">
            <a:avLst/>
          </a:prstGeom>
          <a:noFill/>
          <a:ln>
            <a:noFill/>
          </a:ln>
        </p:spPr>
      </p:pic>
      <p:sp>
        <p:nvSpPr>
          <p:cNvPr id="29" name="Google Shape;29;p4"/>
          <p:cNvSpPr txBox="1"/>
          <p:nvPr/>
        </p:nvSpPr>
        <p:spPr>
          <a:xfrm>
            <a:off x="0" y="4866362"/>
            <a:ext cx="488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fld id="{00000000-1234-1234-1234-123412341234}" type="slidenum">
              <a:rPr lang="en" sz="11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
        <p:nvSpPr>
          <p:cNvPr id="30" name="Google Shape;30;p4"/>
          <p:cNvSpPr/>
          <p:nvPr/>
        </p:nvSpPr>
        <p:spPr>
          <a:xfrm>
            <a:off x="7871011" y="4922294"/>
            <a:ext cx="1280658" cy="227445"/>
          </a:xfrm>
          <a:custGeom>
            <a:avLst/>
            <a:gdLst/>
            <a:ahLst/>
            <a:cxnLst/>
            <a:rect l="l" t="t" r="r" b="b"/>
            <a:pathLst>
              <a:path w="1411193" h="268372" extrusionOk="0">
                <a:moveTo>
                  <a:pt x="0" y="262109"/>
                </a:moveTo>
                <a:lnTo>
                  <a:pt x="102818" y="5976"/>
                </a:lnTo>
                <a:lnTo>
                  <a:pt x="1401564" y="0"/>
                </a:lnTo>
                <a:lnTo>
                  <a:pt x="1411193" y="268372"/>
                </a:lnTo>
                <a:lnTo>
                  <a:pt x="0" y="262109"/>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4"/>
          <p:cNvSpPr txBox="1"/>
          <p:nvPr/>
        </p:nvSpPr>
        <p:spPr>
          <a:xfrm>
            <a:off x="7972612" y="4943292"/>
            <a:ext cx="1171500" cy="184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 sz="1050" b="1" i="0" u="none" strike="noStrike" cap="none">
                <a:solidFill>
                  <a:srgbClr val="FFFFFF"/>
                </a:solidFill>
                <a:latin typeface="Calibri"/>
                <a:ea typeface="Calibri"/>
                <a:cs typeface="Calibri"/>
                <a:sym typeface="Calibri"/>
              </a:rPr>
              <a:t>Dept of CSE, MIST</a:t>
            </a:r>
            <a:endParaRPr sz="1050" b="1"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99150" y="27029"/>
            <a:ext cx="7543800" cy="590400"/>
          </a:xfrm>
          <a:prstGeom prst="rect">
            <a:avLst/>
          </a:prstGeom>
          <a:noFill/>
          <a:ln>
            <a:noFill/>
          </a:ln>
        </p:spPr>
        <p:txBody>
          <a:bodyPr spcFirstLastPara="1" wrap="square" lIns="68575" tIns="34275" rIns="68575" bIns="34275" anchor="b" anchorCtr="0">
            <a:noAutofit/>
          </a:bodyPr>
          <a:lstStyle>
            <a:lvl1pPr marR="0" lvl="0" algn="l" rtl="0">
              <a:lnSpc>
                <a:spcPct val="85000"/>
              </a:lnSpc>
              <a:spcBef>
                <a:spcPts val="0"/>
              </a:spcBef>
              <a:spcAft>
                <a:spcPts val="0"/>
              </a:spcAft>
              <a:buClr>
                <a:srgbClr val="3F3F3F"/>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 name="Google Shape;35;p6"/>
          <p:cNvSpPr txBox="1"/>
          <p:nvPr/>
        </p:nvSpPr>
        <p:spPr>
          <a:xfrm>
            <a:off x="0" y="4866362"/>
            <a:ext cx="488515"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fld id="{00000000-1234-1234-1234-123412341234}" type="slidenum">
              <a:rPr lang="en" sz="11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
        <p:nvSpPr>
          <p:cNvPr id="36" name="Google Shape;36;p6"/>
          <p:cNvSpPr/>
          <p:nvPr/>
        </p:nvSpPr>
        <p:spPr>
          <a:xfrm>
            <a:off x="7871011" y="4922294"/>
            <a:ext cx="1281267" cy="227470"/>
          </a:xfrm>
          <a:custGeom>
            <a:avLst/>
            <a:gdLst/>
            <a:ahLst/>
            <a:cxnLst/>
            <a:rect l="l" t="t" r="r" b="b"/>
            <a:pathLst>
              <a:path w="1411193" h="268372" extrusionOk="0">
                <a:moveTo>
                  <a:pt x="0" y="262109"/>
                </a:moveTo>
                <a:lnTo>
                  <a:pt x="102818" y="5976"/>
                </a:lnTo>
                <a:lnTo>
                  <a:pt x="1401564" y="0"/>
                </a:lnTo>
                <a:lnTo>
                  <a:pt x="1411193" y="268372"/>
                </a:lnTo>
                <a:lnTo>
                  <a:pt x="0" y="262109"/>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txBox="1"/>
          <p:nvPr/>
        </p:nvSpPr>
        <p:spPr>
          <a:xfrm>
            <a:off x="7972612" y="4943292"/>
            <a:ext cx="1171368" cy="18468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 sz="1050" b="1" i="0" u="none" strike="noStrike" cap="none">
                <a:solidFill>
                  <a:srgbClr val="FFFFFF"/>
                </a:solidFill>
                <a:latin typeface="Calibri"/>
                <a:ea typeface="Calibri"/>
                <a:cs typeface="Calibri"/>
                <a:sym typeface="Calibri"/>
              </a:rPr>
              <a:t>Dept of CSE, MIST</a:t>
            </a:r>
            <a:endParaRPr sz="1050" b="1"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822960" y="569214"/>
            <a:ext cx="7543800" cy="2674500"/>
          </a:xfrm>
          <a:prstGeom prst="rect">
            <a:avLst/>
          </a:prstGeom>
          <a:noFill/>
          <a:ln>
            <a:noFill/>
          </a:ln>
        </p:spPr>
        <p:txBody>
          <a:bodyPr spcFirstLastPara="1" wrap="square" lIns="68575" tIns="34275" rIns="68575" bIns="34275" anchor="b" anchorCtr="0">
            <a:noAutofit/>
          </a:bodyPr>
          <a:lstStyle>
            <a:lvl1pPr marR="0" lvl="0" algn="l" rtl="0">
              <a:lnSpc>
                <a:spcPct val="85000"/>
              </a:lnSpc>
              <a:spcBef>
                <a:spcPts val="0"/>
              </a:spcBef>
              <a:spcAft>
                <a:spcPts val="0"/>
              </a:spcAft>
              <a:buClr>
                <a:srgbClr val="262626"/>
              </a:buClr>
              <a:buSzPts val="6000"/>
              <a:buFont typeface="Calibri"/>
              <a:buNone/>
              <a:defRPr sz="4000" b="0" i="0" u="none" strike="noStrike" cap="none">
                <a:solidFill>
                  <a:srgbClr val="262626"/>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40" name="Google Shape;40;p7"/>
          <p:cNvSpPr txBox="1">
            <a:spLocks noGrp="1"/>
          </p:cNvSpPr>
          <p:nvPr>
            <p:ph type="body" idx="1"/>
          </p:nvPr>
        </p:nvSpPr>
        <p:spPr>
          <a:xfrm>
            <a:off x="822960" y="3339845"/>
            <a:ext cx="4732333" cy="912609"/>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900"/>
              </a:spcBef>
              <a:spcAft>
                <a:spcPts val="0"/>
              </a:spcAft>
              <a:buSzPts val="1800"/>
              <a:buNone/>
              <a:defRPr sz="18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400"/>
              <a:buNone/>
              <a:defRPr sz="1400">
                <a:solidFill>
                  <a:srgbClr val="888888"/>
                </a:solidFill>
              </a:defRPr>
            </a:lvl2pPr>
            <a:lvl3pPr marL="1371600" lvl="2" indent="-228600" algn="l">
              <a:lnSpc>
                <a:spcPct val="90000"/>
              </a:lnSpc>
              <a:spcBef>
                <a:spcPts val="300"/>
              </a:spcBef>
              <a:spcAft>
                <a:spcPts val="0"/>
              </a:spcAft>
              <a:buSzPts val="1200"/>
              <a:buNone/>
              <a:defRPr sz="1200">
                <a:solidFill>
                  <a:srgbClr val="888888"/>
                </a:solidFill>
              </a:defRPr>
            </a:lvl3pPr>
            <a:lvl4pPr marL="1828800" lvl="3" indent="-228600" algn="l">
              <a:lnSpc>
                <a:spcPct val="90000"/>
              </a:lnSpc>
              <a:spcBef>
                <a:spcPts val="300"/>
              </a:spcBef>
              <a:spcAft>
                <a:spcPts val="0"/>
              </a:spcAft>
              <a:buSzPts val="1100"/>
              <a:buNone/>
              <a:defRPr sz="1100">
                <a:solidFill>
                  <a:srgbClr val="888888"/>
                </a:solidFill>
              </a:defRPr>
            </a:lvl4pPr>
            <a:lvl5pPr marL="2286000" lvl="4" indent="-228600" algn="l">
              <a:lnSpc>
                <a:spcPct val="90000"/>
              </a:lnSpc>
              <a:spcBef>
                <a:spcPts val="300"/>
              </a:spcBef>
              <a:spcAft>
                <a:spcPts val="0"/>
              </a:spcAft>
              <a:buSzPts val="1100"/>
              <a:buNone/>
              <a:defRPr sz="1100">
                <a:solidFill>
                  <a:srgbClr val="888888"/>
                </a:solidFill>
              </a:defRPr>
            </a:lvl5pPr>
            <a:lvl6pPr marL="2743200" lvl="5" indent="-228600" algn="l">
              <a:lnSpc>
                <a:spcPct val="90000"/>
              </a:lnSpc>
              <a:spcBef>
                <a:spcPts val="300"/>
              </a:spcBef>
              <a:spcAft>
                <a:spcPts val="0"/>
              </a:spcAft>
              <a:buSzPts val="1100"/>
              <a:buNone/>
              <a:defRPr sz="1100">
                <a:solidFill>
                  <a:srgbClr val="888888"/>
                </a:solidFill>
              </a:defRPr>
            </a:lvl6pPr>
            <a:lvl7pPr marL="3200400" lvl="6" indent="-228600" algn="l">
              <a:lnSpc>
                <a:spcPct val="90000"/>
              </a:lnSpc>
              <a:spcBef>
                <a:spcPts val="300"/>
              </a:spcBef>
              <a:spcAft>
                <a:spcPts val="0"/>
              </a:spcAft>
              <a:buSzPts val="1100"/>
              <a:buNone/>
              <a:defRPr sz="1100">
                <a:solidFill>
                  <a:srgbClr val="888888"/>
                </a:solidFill>
              </a:defRPr>
            </a:lvl7pPr>
            <a:lvl8pPr marL="3657600" lvl="7" indent="-228600" algn="l">
              <a:lnSpc>
                <a:spcPct val="90000"/>
              </a:lnSpc>
              <a:spcBef>
                <a:spcPts val="300"/>
              </a:spcBef>
              <a:spcAft>
                <a:spcPts val="0"/>
              </a:spcAft>
              <a:buSzPts val="1100"/>
              <a:buNone/>
              <a:defRPr sz="1100">
                <a:solidFill>
                  <a:srgbClr val="888888"/>
                </a:solidFill>
              </a:defRPr>
            </a:lvl8pPr>
            <a:lvl9pPr marL="4114800" lvl="8" indent="-228600" algn="l">
              <a:lnSpc>
                <a:spcPct val="90000"/>
              </a:lnSpc>
              <a:spcBef>
                <a:spcPts val="300"/>
              </a:spcBef>
              <a:spcAft>
                <a:spcPts val="300"/>
              </a:spcAft>
              <a:buSzPts val="1100"/>
              <a:buNone/>
              <a:defRPr sz="1100">
                <a:solidFill>
                  <a:srgbClr val="888888"/>
                </a:solidFill>
              </a:defRPr>
            </a:lvl9pPr>
          </a:lstStyle>
          <a:p>
            <a:endParaRPr/>
          </a:p>
        </p:txBody>
      </p:sp>
      <p:cxnSp>
        <p:nvCxnSpPr>
          <p:cNvPr id="41" name="Google Shape;41;p7"/>
          <p:cNvCxnSpPr/>
          <p:nvPr/>
        </p:nvCxnSpPr>
        <p:spPr>
          <a:xfrm>
            <a:off x="905744" y="3257550"/>
            <a:ext cx="7406700" cy="0"/>
          </a:xfrm>
          <a:prstGeom prst="straightConnector1">
            <a:avLst/>
          </a:prstGeom>
          <a:noFill/>
          <a:ln w="9525" cap="flat" cmpd="sng">
            <a:solidFill>
              <a:srgbClr val="7F7F7F"/>
            </a:solidFill>
            <a:prstDash val="solid"/>
            <a:round/>
            <a:headEnd type="none" w="sm" len="sm"/>
            <a:tailEnd type="none" w="sm" len="sm"/>
          </a:ln>
        </p:spPr>
      </p:cxnSp>
      <p:pic>
        <p:nvPicPr>
          <p:cNvPr id="42" name="Google Shape;42;p7" descr="Military Institute of Science and Technology - Wikipedia"/>
          <p:cNvPicPr preferRelativeResize="0"/>
          <p:nvPr/>
        </p:nvPicPr>
        <p:blipFill rotWithShape="1">
          <a:blip r:embed="rId2">
            <a:alphaModFix/>
          </a:blip>
          <a:srcRect/>
          <a:stretch/>
        </p:blipFill>
        <p:spPr>
          <a:xfrm>
            <a:off x="6809792" y="3416871"/>
            <a:ext cx="1225655" cy="1101123"/>
          </a:xfrm>
          <a:prstGeom prst="rect">
            <a:avLst/>
          </a:prstGeom>
          <a:noFill/>
          <a:ln>
            <a:noFill/>
          </a:ln>
        </p:spPr>
      </p:pic>
      <p:sp>
        <p:nvSpPr>
          <p:cNvPr id="43" name="Google Shape;43;p7"/>
          <p:cNvSpPr txBox="1"/>
          <p:nvPr/>
        </p:nvSpPr>
        <p:spPr>
          <a:xfrm>
            <a:off x="0" y="4866362"/>
            <a:ext cx="488515"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fld id="{00000000-1234-1234-1234-123412341234}" type="slidenum">
              <a:rPr lang="en" sz="11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
        <p:nvSpPr>
          <p:cNvPr id="44" name="Google Shape;44;p7"/>
          <p:cNvSpPr/>
          <p:nvPr/>
        </p:nvSpPr>
        <p:spPr>
          <a:xfrm>
            <a:off x="7871011" y="4922294"/>
            <a:ext cx="1281267" cy="227470"/>
          </a:xfrm>
          <a:custGeom>
            <a:avLst/>
            <a:gdLst/>
            <a:ahLst/>
            <a:cxnLst/>
            <a:rect l="l" t="t" r="r" b="b"/>
            <a:pathLst>
              <a:path w="1411193" h="268372" extrusionOk="0">
                <a:moveTo>
                  <a:pt x="0" y="262109"/>
                </a:moveTo>
                <a:lnTo>
                  <a:pt x="102818" y="5976"/>
                </a:lnTo>
                <a:lnTo>
                  <a:pt x="1401564" y="0"/>
                </a:lnTo>
                <a:lnTo>
                  <a:pt x="1411193" y="268372"/>
                </a:lnTo>
                <a:lnTo>
                  <a:pt x="0" y="262109"/>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7"/>
          <p:cNvSpPr txBox="1"/>
          <p:nvPr/>
        </p:nvSpPr>
        <p:spPr>
          <a:xfrm>
            <a:off x="7972612" y="4943292"/>
            <a:ext cx="1171368" cy="18468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 sz="1050" b="1" i="0" u="none" strike="noStrike" cap="none">
                <a:solidFill>
                  <a:srgbClr val="FFFFFF"/>
                </a:solidFill>
                <a:latin typeface="Calibri"/>
                <a:ea typeface="Calibri"/>
                <a:cs typeface="Calibri"/>
                <a:sym typeface="Calibri"/>
              </a:rPr>
              <a:t>Dept of CSE, MIST</a:t>
            </a:r>
            <a:endParaRPr sz="1050" b="1"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8"/>
          <p:cNvSpPr txBox="1">
            <a:spLocks noGrp="1"/>
          </p:cNvSpPr>
          <p:nvPr>
            <p:ph type="body" idx="1"/>
          </p:nvPr>
        </p:nvSpPr>
        <p:spPr>
          <a:xfrm>
            <a:off x="822960" y="1384300"/>
            <a:ext cx="3703200" cy="3017400"/>
          </a:xfrm>
          <a:prstGeom prst="rect">
            <a:avLst/>
          </a:prstGeom>
          <a:noFill/>
          <a:ln>
            <a:noFill/>
          </a:ln>
        </p:spPr>
        <p:txBody>
          <a:bodyPr spcFirstLastPara="1" wrap="square" lIns="0" tIns="34275" rIns="0" bIns="34275" anchor="t" anchorCtr="0">
            <a:noAutofit/>
          </a:bodyPr>
          <a:lstStyle>
            <a:lvl1pPr marL="457200" lvl="0" indent="-317500" algn="l">
              <a:lnSpc>
                <a:spcPct val="90000"/>
              </a:lnSpc>
              <a:spcBef>
                <a:spcPts val="900"/>
              </a:spcBef>
              <a:spcAft>
                <a:spcPts val="0"/>
              </a:spcAft>
              <a:buSzPts val="1400"/>
              <a:buChar char=" "/>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48" name="Google Shape;48;p8"/>
          <p:cNvSpPr txBox="1">
            <a:spLocks noGrp="1"/>
          </p:cNvSpPr>
          <p:nvPr>
            <p:ph type="body" idx="2"/>
          </p:nvPr>
        </p:nvSpPr>
        <p:spPr>
          <a:xfrm>
            <a:off x="4663440" y="1384301"/>
            <a:ext cx="3703200" cy="3017400"/>
          </a:xfrm>
          <a:prstGeom prst="rect">
            <a:avLst/>
          </a:prstGeom>
          <a:noFill/>
          <a:ln>
            <a:noFill/>
          </a:ln>
        </p:spPr>
        <p:txBody>
          <a:bodyPr spcFirstLastPara="1" wrap="square" lIns="0" tIns="34275" rIns="0" bIns="34275" anchor="t" anchorCtr="0">
            <a:noAutofit/>
          </a:bodyPr>
          <a:lstStyle>
            <a:lvl1pPr marL="457200" lvl="0" indent="-317500" algn="l">
              <a:lnSpc>
                <a:spcPct val="90000"/>
              </a:lnSpc>
              <a:spcBef>
                <a:spcPts val="900"/>
              </a:spcBef>
              <a:spcAft>
                <a:spcPts val="0"/>
              </a:spcAft>
              <a:buSzPts val="1400"/>
              <a:buChar char=" "/>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49" name="Google Shape;49;p8"/>
          <p:cNvSpPr txBox="1"/>
          <p:nvPr/>
        </p:nvSpPr>
        <p:spPr>
          <a:xfrm>
            <a:off x="0" y="4866362"/>
            <a:ext cx="488515"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fld id="{00000000-1234-1234-1234-123412341234}" type="slidenum">
              <a:rPr lang="en" sz="11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
        <p:nvSpPr>
          <p:cNvPr id="50" name="Google Shape;50;p8"/>
          <p:cNvSpPr/>
          <p:nvPr/>
        </p:nvSpPr>
        <p:spPr>
          <a:xfrm>
            <a:off x="7871011" y="4922294"/>
            <a:ext cx="1281267" cy="227470"/>
          </a:xfrm>
          <a:custGeom>
            <a:avLst/>
            <a:gdLst/>
            <a:ahLst/>
            <a:cxnLst/>
            <a:rect l="l" t="t" r="r" b="b"/>
            <a:pathLst>
              <a:path w="1411193" h="268372" extrusionOk="0">
                <a:moveTo>
                  <a:pt x="0" y="262109"/>
                </a:moveTo>
                <a:lnTo>
                  <a:pt x="102818" y="5976"/>
                </a:lnTo>
                <a:lnTo>
                  <a:pt x="1401564" y="0"/>
                </a:lnTo>
                <a:lnTo>
                  <a:pt x="1411193" y="268372"/>
                </a:lnTo>
                <a:lnTo>
                  <a:pt x="0" y="262109"/>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8"/>
          <p:cNvSpPr txBox="1"/>
          <p:nvPr/>
        </p:nvSpPr>
        <p:spPr>
          <a:xfrm>
            <a:off x="7972612" y="4943292"/>
            <a:ext cx="1171368" cy="18468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 sz="1050" b="1" i="0" u="none" strike="noStrike" cap="none">
                <a:solidFill>
                  <a:srgbClr val="FFFFFF"/>
                </a:solidFill>
                <a:latin typeface="Calibri"/>
                <a:ea typeface="Calibri"/>
                <a:cs typeface="Calibri"/>
                <a:sym typeface="Calibri"/>
              </a:rPr>
              <a:t>Dept of CSE, MIST</a:t>
            </a:r>
            <a:endParaRPr sz="1050" b="1" i="0" u="none" strike="noStrike" cap="none">
              <a:solidFill>
                <a:srgbClr val="FFFFFF"/>
              </a:solidFill>
              <a:latin typeface="Calibri"/>
              <a:ea typeface="Calibri"/>
              <a:cs typeface="Calibri"/>
              <a:sym typeface="Calibri"/>
            </a:endParaRPr>
          </a:p>
        </p:txBody>
      </p:sp>
      <p:cxnSp>
        <p:nvCxnSpPr>
          <p:cNvPr id="52" name="Google Shape;52;p8"/>
          <p:cNvCxnSpPr/>
          <p:nvPr/>
        </p:nvCxnSpPr>
        <p:spPr>
          <a:xfrm>
            <a:off x="238538" y="686262"/>
            <a:ext cx="8905461" cy="22985"/>
          </a:xfrm>
          <a:prstGeom prst="straightConnector1">
            <a:avLst/>
          </a:prstGeom>
          <a:noFill/>
          <a:ln w="19050" cap="flat" cmpd="sng">
            <a:solidFill>
              <a:srgbClr val="3BAD29"/>
            </a:solidFill>
            <a:prstDash val="solid"/>
            <a:round/>
            <a:headEnd type="none" w="sm" len="sm"/>
            <a:tailEnd type="none" w="sm" len="sm"/>
          </a:ln>
        </p:spPr>
      </p:cxnSp>
      <p:cxnSp>
        <p:nvCxnSpPr>
          <p:cNvPr id="53" name="Google Shape;53;p8"/>
          <p:cNvCxnSpPr/>
          <p:nvPr/>
        </p:nvCxnSpPr>
        <p:spPr>
          <a:xfrm>
            <a:off x="-1" y="739271"/>
            <a:ext cx="8905461" cy="22985"/>
          </a:xfrm>
          <a:prstGeom prst="straightConnector1">
            <a:avLst/>
          </a:prstGeom>
          <a:noFill/>
          <a:ln w="19050" cap="flat" cmpd="sng">
            <a:solidFill>
              <a:srgbClr val="FFFF00"/>
            </a:solidFill>
            <a:prstDash val="solid"/>
            <a:round/>
            <a:headEnd type="none" w="sm" len="sm"/>
            <a:tailEnd type="none" w="sm" len="sm"/>
          </a:ln>
        </p:spPr>
      </p:cxnSp>
      <p:sp>
        <p:nvSpPr>
          <p:cNvPr id="54" name="Google Shape;54;p8"/>
          <p:cNvSpPr/>
          <p:nvPr/>
        </p:nvSpPr>
        <p:spPr>
          <a:xfrm>
            <a:off x="1190708" y="107263"/>
            <a:ext cx="6745356" cy="461665"/>
          </a:xfrm>
          <a:prstGeom prst="rect">
            <a:avLst/>
          </a:prstGeom>
          <a:solidFill>
            <a:srgbClr val="00B0F0"/>
          </a:solidFill>
          <a:ln>
            <a:noFill/>
          </a:ln>
          <a:effectLst>
            <a:outerShdw blurRad="50800" dist="38100" dir="8100000" algn="tr" rotWithShape="0">
              <a:srgbClr val="000000">
                <a:alpha val="40000"/>
              </a:srgbClr>
            </a:outerShdw>
            <a:reflection stA="52000" endA="300" endPos="35000" sy="-100000" algn="bl" rotWithShape="0"/>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000000"/>
              </a:solidFill>
              <a:latin typeface="Calibri"/>
              <a:ea typeface="Calibri"/>
              <a:cs typeface="Calibri"/>
              <a:sym typeface="Calibri"/>
            </a:endParaRPr>
          </a:p>
        </p:txBody>
      </p:sp>
      <p:sp>
        <p:nvSpPr>
          <p:cNvPr id="55" name="Google Shape;55;p8"/>
          <p:cNvSpPr txBox="1">
            <a:spLocks noGrp="1"/>
          </p:cNvSpPr>
          <p:nvPr>
            <p:ph type="title"/>
          </p:nvPr>
        </p:nvSpPr>
        <p:spPr>
          <a:xfrm>
            <a:off x="1280160" y="155763"/>
            <a:ext cx="6590851" cy="354777"/>
          </a:xfrm>
          <a:prstGeom prst="rect">
            <a:avLst/>
          </a:prstGeom>
          <a:noFill/>
          <a:ln>
            <a:noFill/>
          </a:ln>
        </p:spPr>
        <p:txBody>
          <a:bodyPr spcFirstLastPara="1" wrap="square" lIns="68575" tIns="34275" rIns="68575" bIns="34275" anchor="b" anchorCtr="0">
            <a:noAutofit/>
          </a:bodyPr>
          <a:lstStyle>
            <a:lvl1pPr marR="0" lvl="0" algn="ctr" rtl="0">
              <a:lnSpc>
                <a:spcPct val="85000"/>
              </a:lnSpc>
              <a:spcBef>
                <a:spcPts val="0"/>
              </a:spcBef>
              <a:spcAft>
                <a:spcPts val="0"/>
              </a:spcAft>
              <a:buClr>
                <a:srgbClr val="3F3F3F"/>
              </a:buClr>
              <a:buSzPts val="1400"/>
              <a:buFont typeface="Arial"/>
              <a:buNone/>
              <a:defRPr sz="2400" b="1"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56" name="Google Shape;56;p8" descr="Military Institute of Science and Technology - Wikipedia"/>
          <p:cNvPicPr preferRelativeResize="0"/>
          <p:nvPr/>
        </p:nvPicPr>
        <p:blipFill rotWithShape="1">
          <a:blip r:embed="rId2">
            <a:alphaModFix/>
          </a:blip>
          <a:srcRect/>
          <a:stretch/>
        </p:blipFill>
        <p:spPr>
          <a:xfrm>
            <a:off x="21521" y="12184"/>
            <a:ext cx="679529" cy="610738"/>
          </a:xfrm>
          <a:prstGeom prst="rect">
            <a:avLst/>
          </a:prstGeom>
          <a:noFill/>
          <a:ln>
            <a:noFill/>
          </a:ln>
        </p:spPr>
      </p:pic>
      <p:pic>
        <p:nvPicPr>
          <p:cNvPr id="57" name="Google Shape;57;p8"/>
          <p:cNvPicPr preferRelativeResize="0"/>
          <p:nvPr/>
        </p:nvPicPr>
        <p:blipFill rotWithShape="1">
          <a:blip r:embed="rId3">
            <a:alphaModFix/>
          </a:blip>
          <a:srcRect l="5348" r="13298"/>
          <a:stretch/>
        </p:blipFill>
        <p:spPr>
          <a:xfrm>
            <a:off x="8244850" y="42663"/>
            <a:ext cx="899130" cy="56873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9"/>
          <p:cNvSpPr txBox="1">
            <a:spLocks noGrp="1"/>
          </p:cNvSpPr>
          <p:nvPr>
            <p:ph type="body" idx="1"/>
          </p:nvPr>
        </p:nvSpPr>
        <p:spPr>
          <a:xfrm>
            <a:off x="822960" y="1384539"/>
            <a:ext cx="3703200" cy="552300"/>
          </a:xfrm>
          <a:prstGeom prst="rect">
            <a:avLst/>
          </a:prstGeom>
          <a:noFill/>
          <a:ln>
            <a:noFill/>
          </a:ln>
        </p:spPr>
        <p:txBody>
          <a:bodyPr spcFirstLastPara="1" wrap="square" lIns="68575" tIns="34275" rIns="68575" bIns="34275" anchor="ctr" anchorCtr="0">
            <a:noAutofit/>
          </a:bodyPr>
          <a:lstStyle>
            <a:lvl1pPr marL="457200" lvl="0" indent="-228600" algn="l">
              <a:lnSpc>
                <a:spcPct val="90000"/>
              </a:lnSpc>
              <a:spcBef>
                <a:spcPts val="900"/>
              </a:spcBef>
              <a:spcAft>
                <a:spcPts val="0"/>
              </a:spcAft>
              <a:buSzPts val="1500"/>
              <a:buNone/>
              <a:defRPr sz="1500" b="0" cap="none">
                <a:solidFill>
                  <a:schemeClr val="dk2"/>
                </a:solidFill>
              </a:defRPr>
            </a:lvl1pPr>
            <a:lvl2pPr marL="914400" lvl="1" indent="-228600" algn="l">
              <a:lnSpc>
                <a:spcPct val="90000"/>
              </a:lnSpc>
              <a:spcBef>
                <a:spcPts val="200"/>
              </a:spcBef>
              <a:spcAft>
                <a:spcPts val="0"/>
              </a:spcAft>
              <a:buSzPts val="1500"/>
              <a:buNone/>
              <a:defRPr sz="1500" b="1"/>
            </a:lvl2pPr>
            <a:lvl3pPr marL="1371600" lvl="2" indent="-228600" algn="l">
              <a:lnSpc>
                <a:spcPct val="90000"/>
              </a:lnSpc>
              <a:spcBef>
                <a:spcPts val="300"/>
              </a:spcBef>
              <a:spcAft>
                <a:spcPts val="0"/>
              </a:spcAft>
              <a:buSzPts val="1400"/>
              <a:buNone/>
              <a:defRPr sz="1400" b="1"/>
            </a:lvl3pPr>
            <a:lvl4pPr marL="1828800" lvl="3" indent="-228600" algn="l">
              <a:lnSpc>
                <a:spcPct val="90000"/>
              </a:lnSpc>
              <a:spcBef>
                <a:spcPts val="300"/>
              </a:spcBef>
              <a:spcAft>
                <a:spcPts val="0"/>
              </a:spcAft>
              <a:buSzPts val="1200"/>
              <a:buNone/>
              <a:defRPr sz="1200" b="1"/>
            </a:lvl4pPr>
            <a:lvl5pPr marL="2286000" lvl="4" indent="-228600" algn="l">
              <a:lnSpc>
                <a:spcPct val="90000"/>
              </a:lnSpc>
              <a:spcBef>
                <a:spcPts val="300"/>
              </a:spcBef>
              <a:spcAft>
                <a:spcPts val="0"/>
              </a:spcAft>
              <a:buSzPts val="1200"/>
              <a:buNone/>
              <a:defRPr sz="1200" b="1"/>
            </a:lvl5pPr>
            <a:lvl6pPr marL="2743200" lvl="5" indent="-228600" algn="l">
              <a:lnSpc>
                <a:spcPct val="90000"/>
              </a:lnSpc>
              <a:spcBef>
                <a:spcPts val="300"/>
              </a:spcBef>
              <a:spcAft>
                <a:spcPts val="0"/>
              </a:spcAft>
              <a:buSzPts val="1200"/>
              <a:buNone/>
              <a:defRPr sz="1200" b="1"/>
            </a:lvl6pPr>
            <a:lvl7pPr marL="3200400" lvl="6" indent="-228600" algn="l">
              <a:lnSpc>
                <a:spcPct val="90000"/>
              </a:lnSpc>
              <a:spcBef>
                <a:spcPts val="300"/>
              </a:spcBef>
              <a:spcAft>
                <a:spcPts val="0"/>
              </a:spcAft>
              <a:buSzPts val="1200"/>
              <a:buNone/>
              <a:defRPr sz="1200" b="1"/>
            </a:lvl7pPr>
            <a:lvl8pPr marL="3657600" lvl="7" indent="-228600" algn="l">
              <a:lnSpc>
                <a:spcPct val="90000"/>
              </a:lnSpc>
              <a:spcBef>
                <a:spcPts val="300"/>
              </a:spcBef>
              <a:spcAft>
                <a:spcPts val="0"/>
              </a:spcAft>
              <a:buSzPts val="1200"/>
              <a:buNone/>
              <a:defRPr sz="1200" b="1"/>
            </a:lvl8pPr>
            <a:lvl9pPr marL="4114800" lvl="8" indent="-228600" algn="l">
              <a:lnSpc>
                <a:spcPct val="90000"/>
              </a:lnSpc>
              <a:spcBef>
                <a:spcPts val="300"/>
              </a:spcBef>
              <a:spcAft>
                <a:spcPts val="300"/>
              </a:spcAft>
              <a:buSzPts val="1200"/>
              <a:buNone/>
              <a:defRPr sz="1200" b="1"/>
            </a:lvl9pPr>
          </a:lstStyle>
          <a:p>
            <a:endParaRPr/>
          </a:p>
        </p:txBody>
      </p:sp>
      <p:sp>
        <p:nvSpPr>
          <p:cNvPr id="60" name="Google Shape;60;p9"/>
          <p:cNvSpPr txBox="1">
            <a:spLocks noGrp="1"/>
          </p:cNvSpPr>
          <p:nvPr>
            <p:ph type="body" idx="2"/>
          </p:nvPr>
        </p:nvSpPr>
        <p:spPr>
          <a:xfrm>
            <a:off x="822960" y="1936751"/>
            <a:ext cx="3703200" cy="2465100"/>
          </a:xfrm>
          <a:prstGeom prst="rect">
            <a:avLst/>
          </a:prstGeom>
          <a:noFill/>
          <a:ln>
            <a:noFill/>
          </a:ln>
        </p:spPr>
        <p:txBody>
          <a:bodyPr spcFirstLastPara="1" wrap="square" lIns="0" tIns="34275" rIns="0" bIns="34275" anchor="t" anchorCtr="0">
            <a:noAutofit/>
          </a:bodyPr>
          <a:lstStyle>
            <a:lvl1pPr marL="457200" lvl="0" indent="-317500" algn="l">
              <a:lnSpc>
                <a:spcPct val="90000"/>
              </a:lnSpc>
              <a:spcBef>
                <a:spcPts val="900"/>
              </a:spcBef>
              <a:spcAft>
                <a:spcPts val="0"/>
              </a:spcAft>
              <a:buSzPts val="1400"/>
              <a:buChar char=" "/>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61" name="Google Shape;61;p9"/>
          <p:cNvSpPr txBox="1">
            <a:spLocks noGrp="1"/>
          </p:cNvSpPr>
          <p:nvPr>
            <p:ph type="body" idx="3"/>
          </p:nvPr>
        </p:nvSpPr>
        <p:spPr>
          <a:xfrm>
            <a:off x="4663440" y="1384539"/>
            <a:ext cx="3703200" cy="552300"/>
          </a:xfrm>
          <a:prstGeom prst="rect">
            <a:avLst/>
          </a:prstGeom>
          <a:noFill/>
          <a:ln>
            <a:noFill/>
          </a:ln>
        </p:spPr>
        <p:txBody>
          <a:bodyPr spcFirstLastPara="1" wrap="square" lIns="68575" tIns="34275" rIns="68575" bIns="34275" anchor="ctr" anchorCtr="0">
            <a:noAutofit/>
          </a:bodyPr>
          <a:lstStyle>
            <a:lvl1pPr marL="457200" lvl="0" indent="-228600" algn="l">
              <a:lnSpc>
                <a:spcPct val="90000"/>
              </a:lnSpc>
              <a:spcBef>
                <a:spcPts val="900"/>
              </a:spcBef>
              <a:spcAft>
                <a:spcPts val="0"/>
              </a:spcAft>
              <a:buSzPts val="1500"/>
              <a:buNone/>
              <a:defRPr sz="1500" b="0" cap="none">
                <a:solidFill>
                  <a:schemeClr val="dk2"/>
                </a:solidFill>
              </a:defRPr>
            </a:lvl1pPr>
            <a:lvl2pPr marL="914400" lvl="1" indent="-228600" algn="l">
              <a:lnSpc>
                <a:spcPct val="90000"/>
              </a:lnSpc>
              <a:spcBef>
                <a:spcPts val="200"/>
              </a:spcBef>
              <a:spcAft>
                <a:spcPts val="0"/>
              </a:spcAft>
              <a:buSzPts val="1500"/>
              <a:buNone/>
              <a:defRPr sz="1500" b="1"/>
            </a:lvl2pPr>
            <a:lvl3pPr marL="1371600" lvl="2" indent="-228600" algn="l">
              <a:lnSpc>
                <a:spcPct val="90000"/>
              </a:lnSpc>
              <a:spcBef>
                <a:spcPts val="300"/>
              </a:spcBef>
              <a:spcAft>
                <a:spcPts val="0"/>
              </a:spcAft>
              <a:buSzPts val="1400"/>
              <a:buNone/>
              <a:defRPr sz="1400" b="1"/>
            </a:lvl3pPr>
            <a:lvl4pPr marL="1828800" lvl="3" indent="-228600" algn="l">
              <a:lnSpc>
                <a:spcPct val="90000"/>
              </a:lnSpc>
              <a:spcBef>
                <a:spcPts val="300"/>
              </a:spcBef>
              <a:spcAft>
                <a:spcPts val="0"/>
              </a:spcAft>
              <a:buSzPts val="1200"/>
              <a:buNone/>
              <a:defRPr sz="1200" b="1"/>
            </a:lvl4pPr>
            <a:lvl5pPr marL="2286000" lvl="4" indent="-228600" algn="l">
              <a:lnSpc>
                <a:spcPct val="90000"/>
              </a:lnSpc>
              <a:spcBef>
                <a:spcPts val="300"/>
              </a:spcBef>
              <a:spcAft>
                <a:spcPts val="0"/>
              </a:spcAft>
              <a:buSzPts val="1200"/>
              <a:buNone/>
              <a:defRPr sz="1200" b="1"/>
            </a:lvl5pPr>
            <a:lvl6pPr marL="2743200" lvl="5" indent="-228600" algn="l">
              <a:lnSpc>
                <a:spcPct val="90000"/>
              </a:lnSpc>
              <a:spcBef>
                <a:spcPts val="300"/>
              </a:spcBef>
              <a:spcAft>
                <a:spcPts val="0"/>
              </a:spcAft>
              <a:buSzPts val="1200"/>
              <a:buNone/>
              <a:defRPr sz="1200" b="1"/>
            </a:lvl6pPr>
            <a:lvl7pPr marL="3200400" lvl="6" indent="-228600" algn="l">
              <a:lnSpc>
                <a:spcPct val="90000"/>
              </a:lnSpc>
              <a:spcBef>
                <a:spcPts val="300"/>
              </a:spcBef>
              <a:spcAft>
                <a:spcPts val="0"/>
              </a:spcAft>
              <a:buSzPts val="1200"/>
              <a:buNone/>
              <a:defRPr sz="1200" b="1"/>
            </a:lvl7pPr>
            <a:lvl8pPr marL="3657600" lvl="7" indent="-228600" algn="l">
              <a:lnSpc>
                <a:spcPct val="90000"/>
              </a:lnSpc>
              <a:spcBef>
                <a:spcPts val="300"/>
              </a:spcBef>
              <a:spcAft>
                <a:spcPts val="0"/>
              </a:spcAft>
              <a:buSzPts val="1200"/>
              <a:buNone/>
              <a:defRPr sz="1200" b="1"/>
            </a:lvl8pPr>
            <a:lvl9pPr marL="4114800" lvl="8" indent="-228600" algn="l">
              <a:lnSpc>
                <a:spcPct val="90000"/>
              </a:lnSpc>
              <a:spcBef>
                <a:spcPts val="300"/>
              </a:spcBef>
              <a:spcAft>
                <a:spcPts val="300"/>
              </a:spcAft>
              <a:buSzPts val="1200"/>
              <a:buNone/>
              <a:defRPr sz="1200" b="1"/>
            </a:lvl9pPr>
          </a:lstStyle>
          <a:p>
            <a:endParaRPr/>
          </a:p>
        </p:txBody>
      </p:sp>
      <p:sp>
        <p:nvSpPr>
          <p:cNvPr id="62" name="Google Shape;62;p9"/>
          <p:cNvSpPr txBox="1">
            <a:spLocks noGrp="1"/>
          </p:cNvSpPr>
          <p:nvPr>
            <p:ph type="body" idx="4"/>
          </p:nvPr>
        </p:nvSpPr>
        <p:spPr>
          <a:xfrm>
            <a:off x="4663440" y="1936750"/>
            <a:ext cx="3703200" cy="2465100"/>
          </a:xfrm>
          <a:prstGeom prst="rect">
            <a:avLst/>
          </a:prstGeom>
          <a:noFill/>
          <a:ln>
            <a:noFill/>
          </a:ln>
        </p:spPr>
        <p:txBody>
          <a:bodyPr spcFirstLastPara="1" wrap="square" lIns="0" tIns="34275" rIns="0" bIns="34275" anchor="t" anchorCtr="0">
            <a:noAutofit/>
          </a:bodyPr>
          <a:lstStyle>
            <a:lvl1pPr marL="457200" lvl="0" indent="-317500" algn="l">
              <a:lnSpc>
                <a:spcPct val="90000"/>
              </a:lnSpc>
              <a:spcBef>
                <a:spcPts val="900"/>
              </a:spcBef>
              <a:spcAft>
                <a:spcPts val="0"/>
              </a:spcAft>
              <a:buSzPts val="1400"/>
              <a:buChar char=" "/>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pic>
        <p:nvPicPr>
          <p:cNvPr id="63" name="Google Shape;63;p9" descr="Military Institute of Science and Technology - Wikipedia"/>
          <p:cNvPicPr preferRelativeResize="0"/>
          <p:nvPr/>
        </p:nvPicPr>
        <p:blipFill rotWithShape="1">
          <a:blip r:embed="rId2">
            <a:alphaModFix/>
          </a:blip>
          <a:srcRect/>
          <a:stretch/>
        </p:blipFill>
        <p:spPr>
          <a:xfrm>
            <a:off x="13901" y="7531"/>
            <a:ext cx="671900" cy="602740"/>
          </a:xfrm>
          <a:prstGeom prst="rect">
            <a:avLst/>
          </a:prstGeom>
          <a:noFill/>
          <a:ln>
            <a:noFill/>
          </a:ln>
        </p:spPr>
      </p:pic>
      <p:sp>
        <p:nvSpPr>
          <p:cNvPr id="64" name="Google Shape;64;p9"/>
          <p:cNvSpPr txBox="1"/>
          <p:nvPr/>
        </p:nvSpPr>
        <p:spPr>
          <a:xfrm>
            <a:off x="0" y="4866362"/>
            <a:ext cx="488515"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fld id="{00000000-1234-1234-1234-123412341234}" type="slidenum">
              <a:rPr lang="en" sz="11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pic>
        <p:nvPicPr>
          <p:cNvPr id="65" name="Google Shape;65;p9"/>
          <p:cNvPicPr preferRelativeResize="0"/>
          <p:nvPr/>
        </p:nvPicPr>
        <p:blipFill rotWithShape="1">
          <a:blip r:embed="rId3">
            <a:alphaModFix/>
          </a:blip>
          <a:srcRect l="5348" r="13298"/>
          <a:stretch/>
        </p:blipFill>
        <p:spPr>
          <a:xfrm>
            <a:off x="8214360" y="42663"/>
            <a:ext cx="929620" cy="588017"/>
          </a:xfrm>
          <a:prstGeom prst="rect">
            <a:avLst/>
          </a:prstGeom>
          <a:noFill/>
          <a:ln>
            <a:noFill/>
          </a:ln>
        </p:spPr>
      </p:pic>
      <p:sp>
        <p:nvSpPr>
          <p:cNvPr id="66" name="Google Shape;66;p9"/>
          <p:cNvSpPr/>
          <p:nvPr/>
        </p:nvSpPr>
        <p:spPr>
          <a:xfrm>
            <a:off x="7871011" y="4922294"/>
            <a:ext cx="1281267" cy="227470"/>
          </a:xfrm>
          <a:custGeom>
            <a:avLst/>
            <a:gdLst/>
            <a:ahLst/>
            <a:cxnLst/>
            <a:rect l="l" t="t" r="r" b="b"/>
            <a:pathLst>
              <a:path w="1411193" h="268372" extrusionOk="0">
                <a:moveTo>
                  <a:pt x="0" y="262109"/>
                </a:moveTo>
                <a:lnTo>
                  <a:pt x="102818" y="5976"/>
                </a:lnTo>
                <a:lnTo>
                  <a:pt x="1401564" y="0"/>
                </a:lnTo>
                <a:lnTo>
                  <a:pt x="1411193" y="268372"/>
                </a:lnTo>
                <a:lnTo>
                  <a:pt x="0" y="262109"/>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9"/>
          <p:cNvSpPr txBox="1"/>
          <p:nvPr/>
        </p:nvSpPr>
        <p:spPr>
          <a:xfrm>
            <a:off x="7972612" y="4943292"/>
            <a:ext cx="1171368" cy="18468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 sz="1050" b="1" i="0" u="none" strike="noStrike" cap="none">
                <a:solidFill>
                  <a:srgbClr val="FFFFFF"/>
                </a:solidFill>
                <a:latin typeface="Calibri"/>
                <a:ea typeface="Calibri"/>
                <a:cs typeface="Calibri"/>
                <a:sym typeface="Calibri"/>
              </a:rPr>
              <a:t>Dept of CSE, MIST</a:t>
            </a:r>
            <a:endParaRPr sz="1050" b="1" i="0" u="none" strike="noStrike" cap="none">
              <a:solidFill>
                <a:srgbClr val="FFFFFF"/>
              </a:solidFill>
              <a:latin typeface="Calibri"/>
              <a:ea typeface="Calibri"/>
              <a:cs typeface="Calibri"/>
              <a:sym typeface="Calibri"/>
            </a:endParaRPr>
          </a:p>
        </p:txBody>
      </p:sp>
      <p:cxnSp>
        <p:nvCxnSpPr>
          <p:cNvPr id="68" name="Google Shape;68;p9"/>
          <p:cNvCxnSpPr/>
          <p:nvPr/>
        </p:nvCxnSpPr>
        <p:spPr>
          <a:xfrm>
            <a:off x="238538" y="686262"/>
            <a:ext cx="8905461" cy="22985"/>
          </a:xfrm>
          <a:prstGeom prst="straightConnector1">
            <a:avLst/>
          </a:prstGeom>
          <a:noFill/>
          <a:ln w="19050" cap="flat" cmpd="sng">
            <a:solidFill>
              <a:srgbClr val="3BAD29"/>
            </a:solidFill>
            <a:prstDash val="solid"/>
            <a:round/>
            <a:headEnd type="none" w="sm" len="sm"/>
            <a:tailEnd type="none" w="sm" len="sm"/>
          </a:ln>
        </p:spPr>
      </p:cxnSp>
      <p:cxnSp>
        <p:nvCxnSpPr>
          <p:cNvPr id="69" name="Google Shape;69;p9"/>
          <p:cNvCxnSpPr/>
          <p:nvPr/>
        </p:nvCxnSpPr>
        <p:spPr>
          <a:xfrm>
            <a:off x="-1" y="739271"/>
            <a:ext cx="8905461" cy="22985"/>
          </a:xfrm>
          <a:prstGeom prst="straightConnector1">
            <a:avLst/>
          </a:prstGeom>
          <a:noFill/>
          <a:ln w="19050" cap="flat" cmpd="sng">
            <a:solidFill>
              <a:srgbClr val="FFFF00"/>
            </a:solidFill>
            <a:prstDash val="solid"/>
            <a:round/>
            <a:headEnd type="none" w="sm" len="sm"/>
            <a:tailEnd type="none" w="sm" len="sm"/>
          </a:ln>
        </p:spPr>
      </p:cxnSp>
      <p:sp>
        <p:nvSpPr>
          <p:cNvPr id="70" name="Google Shape;70;p9"/>
          <p:cNvSpPr/>
          <p:nvPr/>
        </p:nvSpPr>
        <p:spPr>
          <a:xfrm>
            <a:off x="1190708" y="107263"/>
            <a:ext cx="6745356" cy="461665"/>
          </a:xfrm>
          <a:prstGeom prst="rect">
            <a:avLst/>
          </a:prstGeom>
          <a:solidFill>
            <a:srgbClr val="00B0F0"/>
          </a:solidFill>
          <a:ln>
            <a:noFill/>
          </a:ln>
          <a:effectLst>
            <a:outerShdw blurRad="50800" dist="38100" dir="8100000" algn="tr" rotWithShape="0">
              <a:srgbClr val="000000">
                <a:alpha val="40000"/>
              </a:srgbClr>
            </a:outerShdw>
            <a:reflection stA="52000" endA="300" endPos="35000" sy="-100000" algn="bl" rotWithShape="0"/>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000000"/>
              </a:solidFill>
              <a:latin typeface="Calibri"/>
              <a:ea typeface="Calibri"/>
              <a:cs typeface="Calibri"/>
              <a:sym typeface="Calibri"/>
            </a:endParaRPr>
          </a:p>
        </p:txBody>
      </p:sp>
      <p:sp>
        <p:nvSpPr>
          <p:cNvPr id="71" name="Google Shape;71;p9"/>
          <p:cNvSpPr txBox="1">
            <a:spLocks noGrp="1"/>
          </p:cNvSpPr>
          <p:nvPr>
            <p:ph type="title"/>
          </p:nvPr>
        </p:nvSpPr>
        <p:spPr>
          <a:xfrm>
            <a:off x="1280160" y="155763"/>
            <a:ext cx="6590851" cy="354777"/>
          </a:xfrm>
          <a:prstGeom prst="rect">
            <a:avLst/>
          </a:prstGeom>
          <a:noFill/>
          <a:ln>
            <a:noFill/>
          </a:ln>
        </p:spPr>
        <p:txBody>
          <a:bodyPr spcFirstLastPara="1" wrap="square" lIns="68575" tIns="34275" rIns="68575" bIns="34275" anchor="b" anchorCtr="0">
            <a:noAutofit/>
          </a:bodyPr>
          <a:lstStyle>
            <a:lvl1pPr marR="0" lvl="0" algn="ctr" rtl="0">
              <a:lnSpc>
                <a:spcPct val="85000"/>
              </a:lnSpc>
              <a:spcBef>
                <a:spcPts val="0"/>
              </a:spcBef>
              <a:spcAft>
                <a:spcPts val="0"/>
              </a:spcAft>
              <a:buClr>
                <a:srgbClr val="3F3F3F"/>
              </a:buClr>
              <a:buSzPts val="1400"/>
              <a:buFont typeface="Arial"/>
              <a:buNone/>
              <a:defRPr sz="2400" b="1"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2"/>
        <p:cNvGrpSpPr/>
        <p:nvPr/>
      </p:nvGrpSpPr>
      <p:grpSpPr>
        <a:xfrm>
          <a:off x="0" y="0"/>
          <a:ext cx="0" cy="0"/>
          <a:chOff x="0" y="0"/>
          <a:chExt cx="0" cy="0"/>
        </a:xfrm>
      </p:grpSpPr>
      <p:sp>
        <p:nvSpPr>
          <p:cNvPr id="73" name="Google Shape;73;p10"/>
          <p:cNvSpPr/>
          <p:nvPr/>
        </p:nvSpPr>
        <p:spPr>
          <a:xfrm>
            <a:off x="12" y="0"/>
            <a:ext cx="3038100" cy="5143500"/>
          </a:xfrm>
          <a:prstGeom prst="rect">
            <a:avLst/>
          </a:prstGeom>
          <a:solidFill>
            <a:schemeClr val="accent2"/>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0"/>
          <p:cNvSpPr/>
          <p:nvPr/>
        </p:nvSpPr>
        <p:spPr>
          <a:xfrm>
            <a:off x="3030053" y="0"/>
            <a:ext cx="48000" cy="5143500"/>
          </a:xfrm>
          <a:prstGeom prst="rect">
            <a:avLst/>
          </a:prstGeom>
          <a:solidFill>
            <a:schemeClr val="accent1"/>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0"/>
          <p:cNvSpPr txBox="1">
            <a:spLocks noGrp="1"/>
          </p:cNvSpPr>
          <p:nvPr>
            <p:ph type="title"/>
          </p:nvPr>
        </p:nvSpPr>
        <p:spPr>
          <a:xfrm>
            <a:off x="342900" y="445769"/>
            <a:ext cx="2400300" cy="1714500"/>
          </a:xfrm>
          <a:prstGeom prst="rect">
            <a:avLst/>
          </a:prstGeom>
          <a:noFill/>
          <a:ln>
            <a:noFill/>
          </a:ln>
        </p:spPr>
        <p:txBody>
          <a:bodyPr spcFirstLastPara="1" wrap="square" lIns="68575" tIns="34275" rIns="68575" bIns="34275" anchor="b" anchorCtr="0">
            <a:noAutofit/>
          </a:bodyPr>
          <a:lstStyle>
            <a:lvl1pPr marR="0" lvl="0" algn="l" rtl="0">
              <a:lnSpc>
                <a:spcPct val="85000"/>
              </a:lnSpc>
              <a:spcBef>
                <a:spcPts val="0"/>
              </a:spcBef>
              <a:spcAft>
                <a:spcPts val="0"/>
              </a:spcAft>
              <a:buClr>
                <a:srgbClr val="FFFFFF"/>
              </a:buClr>
              <a:buSzPts val="2700"/>
              <a:buFont typeface="Calibri"/>
              <a:buNone/>
              <a:defRPr sz="27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6" name="Google Shape;76;p10"/>
          <p:cNvSpPr txBox="1">
            <a:spLocks noGrp="1"/>
          </p:cNvSpPr>
          <p:nvPr>
            <p:ph type="body" idx="1"/>
          </p:nvPr>
        </p:nvSpPr>
        <p:spPr>
          <a:xfrm>
            <a:off x="3600450" y="548640"/>
            <a:ext cx="4869300" cy="3943200"/>
          </a:xfrm>
          <a:prstGeom prst="rect">
            <a:avLst/>
          </a:prstGeom>
          <a:noFill/>
          <a:ln>
            <a:noFill/>
          </a:ln>
        </p:spPr>
        <p:txBody>
          <a:bodyPr spcFirstLastPara="1" wrap="square" lIns="0" tIns="34275" rIns="0" bIns="34275" anchor="t" anchorCtr="0">
            <a:noAutofit/>
          </a:bodyPr>
          <a:lstStyle>
            <a:lvl1pPr marL="457200" lvl="0" indent="-317500" algn="l">
              <a:lnSpc>
                <a:spcPct val="90000"/>
              </a:lnSpc>
              <a:spcBef>
                <a:spcPts val="900"/>
              </a:spcBef>
              <a:spcAft>
                <a:spcPts val="0"/>
              </a:spcAft>
              <a:buSzPts val="1400"/>
              <a:buChar char=" "/>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77" name="Google Shape;77;p10"/>
          <p:cNvSpPr txBox="1">
            <a:spLocks noGrp="1"/>
          </p:cNvSpPr>
          <p:nvPr>
            <p:ph type="body" idx="2"/>
          </p:nvPr>
        </p:nvSpPr>
        <p:spPr>
          <a:xfrm>
            <a:off x="342900" y="2194560"/>
            <a:ext cx="2400300" cy="25344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900"/>
              </a:spcBef>
              <a:spcAft>
                <a:spcPts val="0"/>
              </a:spcAft>
              <a:buSzPts val="1100"/>
              <a:buNone/>
              <a:defRPr sz="1100">
                <a:solidFill>
                  <a:srgbClr val="FFFFFF"/>
                </a:solidFill>
              </a:defRPr>
            </a:lvl1pPr>
            <a:lvl2pPr marL="914400" lvl="1" indent="-228600" algn="l">
              <a:lnSpc>
                <a:spcPct val="90000"/>
              </a:lnSpc>
              <a:spcBef>
                <a:spcPts val="200"/>
              </a:spcBef>
              <a:spcAft>
                <a:spcPts val="0"/>
              </a:spcAft>
              <a:buSzPts val="900"/>
              <a:buNone/>
              <a:defRPr sz="900"/>
            </a:lvl2pPr>
            <a:lvl3pPr marL="1371600" lvl="2" indent="-228600" algn="l">
              <a:lnSpc>
                <a:spcPct val="90000"/>
              </a:lnSpc>
              <a:spcBef>
                <a:spcPts val="300"/>
              </a:spcBef>
              <a:spcAft>
                <a:spcPts val="0"/>
              </a:spcAft>
              <a:buSzPts val="800"/>
              <a:buNone/>
              <a:defRPr sz="800"/>
            </a:lvl3pPr>
            <a:lvl4pPr marL="1828800" lvl="3" indent="-228600" algn="l">
              <a:lnSpc>
                <a:spcPct val="90000"/>
              </a:lnSpc>
              <a:spcBef>
                <a:spcPts val="300"/>
              </a:spcBef>
              <a:spcAft>
                <a:spcPts val="0"/>
              </a:spcAft>
              <a:buSzPts val="700"/>
              <a:buNone/>
              <a:defRPr sz="700"/>
            </a:lvl4pPr>
            <a:lvl5pPr marL="2286000" lvl="4" indent="-228600" algn="l">
              <a:lnSpc>
                <a:spcPct val="90000"/>
              </a:lnSpc>
              <a:spcBef>
                <a:spcPts val="300"/>
              </a:spcBef>
              <a:spcAft>
                <a:spcPts val="0"/>
              </a:spcAft>
              <a:buSzPts val="700"/>
              <a:buNone/>
              <a:defRPr sz="700"/>
            </a:lvl5pPr>
            <a:lvl6pPr marL="2743200" lvl="5" indent="-228600" algn="l">
              <a:lnSpc>
                <a:spcPct val="90000"/>
              </a:lnSpc>
              <a:spcBef>
                <a:spcPts val="300"/>
              </a:spcBef>
              <a:spcAft>
                <a:spcPts val="0"/>
              </a:spcAft>
              <a:buSzPts val="700"/>
              <a:buNone/>
              <a:defRPr sz="700"/>
            </a:lvl6pPr>
            <a:lvl7pPr marL="3200400" lvl="6" indent="-228600" algn="l">
              <a:lnSpc>
                <a:spcPct val="90000"/>
              </a:lnSpc>
              <a:spcBef>
                <a:spcPts val="300"/>
              </a:spcBef>
              <a:spcAft>
                <a:spcPts val="0"/>
              </a:spcAft>
              <a:buSzPts val="700"/>
              <a:buNone/>
              <a:defRPr sz="700"/>
            </a:lvl7pPr>
            <a:lvl8pPr marL="3657600" lvl="7" indent="-228600" algn="l">
              <a:lnSpc>
                <a:spcPct val="90000"/>
              </a:lnSpc>
              <a:spcBef>
                <a:spcPts val="300"/>
              </a:spcBef>
              <a:spcAft>
                <a:spcPts val="0"/>
              </a:spcAft>
              <a:buSzPts val="700"/>
              <a:buNone/>
              <a:defRPr sz="700"/>
            </a:lvl8pPr>
            <a:lvl9pPr marL="4114800" lvl="8" indent="-228600" algn="l">
              <a:lnSpc>
                <a:spcPct val="90000"/>
              </a:lnSpc>
              <a:spcBef>
                <a:spcPts val="300"/>
              </a:spcBef>
              <a:spcAft>
                <a:spcPts val="300"/>
              </a:spcAft>
              <a:buSzPts val="700"/>
              <a:buNone/>
              <a:defRPr sz="700"/>
            </a:lvl9pPr>
          </a:lstStyle>
          <a:p>
            <a:endParaRPr/>
          </a:p>
        </p:txBody>
      </p:sp>
      <p:sp>
        <p:nvSpPr>
          <p:cNvPr id="78" name="Google Shape;78;p10"/>
          <p:cNvSpPr txBox="1"/>
          <p:nvPr/>
        </p:nvSpPr>
        <p:spPr>
          <a:xfrm>
            <a:off x="0" y="4866362"/>
            <a:ext cx="488515"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fld id="{00000000-1234-1234-1234-123412341234}" type="slidenum">
              <a:rPr lang="en" sz="11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
        <p:nvSpPr>
          <p:cNvPr id="79" name="Google Shape;79;p10"/>
          <p:cNvSpPr/>
          <p:nvPr/>
        </p:nvSpPr>
        <p:spPr>
          <a:xfrm>
            <a:off x="7871011" y="4922294"/>
            <a:ext cx="1281267" cy="227470"/>
          </a:xfrm>
          <a:custGeom>
            <a:avLst/>
            <a:gdLst/>
            <a:ahLst/>
            <a:cxnLst/>
            <a:rect l="l" t="t" r="r" b="b"/>
            <a:pathLst>
              <a:path w="1411193" h="268372" extrusionOk="0">
                <a:moveTo>
                  <a:pt x="0" y="262109"/>
                </a:moveTo>
                <a:lnTo>
                  <a:pt x="102818" y="5976"/>
                </a:lnTo>
                <a:lnTo>
                  <a:pt x="1401564" y="0"/>
                </a:lnTo>
                <a:lnTo>
                  <a:pt x="1411193" y="268372"/>
                </a:lnTo>
                <a:lnTo>
                  <a:pt x="0" y="262109"/>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0"/>
          <p:cNvSpPr txBox="1"/>
          <p:nvPr/>
        </p:nvSpPr>
        <p:spPr>
          <a:xfrm>
            <a:off x="7972612" y="4943292"/>
            <a:ext cx="1171368" cy="18468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 sz="1050" b="1" i="0" u="none" strike="noStrike" cap="none">
                <a:solidFill>
                  <a:srgbClr val="FFFFFF"/>
                </a:solidFill>
                <a:latin typeface="Calibri"/>
                <a:ea typeface="Calibri"/>
                <a:cs typeface="Calibri"/>
                <a:sym typeface="Calibri"/>
              </a:rPr>
              <a:t>Dept of CSE, MIST</a:t>
            </a:r>
            <a:endParaRPr sz="1050" b="1"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1"/>
        <p:cNvGrpSpPr/>
        <p:nvPr/>
      </p:nvGrpSpPr>
      <p:grpSpPr>
        <a:xfrm>
          <a:off x="0" y="0"/>
          <a:ext cx="0" cy="0"/>
          <a:chOff x="0" y="0"/>
          <a:chExt cx="0" cy="0"/>
        </a:xfrm>
      </p:grpSpPr>
      <p:sp>
        <p:nvSpPr>
          <p:cNvPr id="82" name="Google Shape;82;p11"/>
          <p:cNvSpPr/>
          <p:nvPr/>
        </p:nvSpPr>
        <p:spPr>
          <a:xfrm>
            <a:off x="0" y="3714750"/>
            <a:ext cx="9141600" cy="1428600"/>
          </a:xfrm>
          <a:prstGeom prst="rect">
            <a:avLst/>
          </a:prstGeom>
          <a:solidFill>
            <a:schemeClr val="accent2"/>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1"/>
          <p:cNvSpPr/>
          <p:nvPr/>
        </p:nvSpPr>
        <p:spPr>
          <a:xfrm>
            <a:off x="11" y="3686307"/>
            <a:ext cx="9141600" cy="48000"/>
          </a:xfrm>
          <a:prstGeom prst="rect">
            <a:avLst/>
          </a:prstGeom>
          <a:solidFill>
            <a:schemeClr val="accent1"/>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1"/>
          <p:cNvSpPr txBox="1">
            <a:spLocks noGrp="1"/>
          </p:cNvSpPr>
          <p:nvPr>
            <p:ph type="title"/>
          </p:nvPr>
        </p:nvSpPr>
        <p:spPr>
          <a:xfrm>
            <a:off x="822960" y="3806190"/>
            <a:ext cx="7585200" cy="617100"/>
          </a:xfrm>
          <a:prstGeom prst="rect">
            <a:avLst/>
          </a:prstGeom>
          <a:noFill/>
          <a:ln>
            <a:noFill/>
          </a:ln>
        </p:spPr>
        <p:txBody>
          <a:bodyPr spcFirstLastPara="1" wrap="square" lIns="68575" tIns="0" rIns="68575" bIns="0" anchor="b" anchorCtr="0">
            <a:noAutofit/>
          </a:bodyPr>
          <a:lstStyle>
            <a:lvl1pPr marR="0" lvl="0" algn="l" rtl="0">
              <a:lnSpc>
                <a:spcPct val="85000"/>
              </a:lnSpc>
              <a:spcBef>
                <a:spcPts val="0"/>
              </a:spcBef>
              <a:spcAft>
                <a:spcPts val="0"/>
              </a:spcAft>
              <a:buClr>
                <a:srgbClr val="FFFFFF"/>
              </a:buClr>
              <a:buSzPts val="2700"/>
              <a:buFont typeface="Calibri"/>
              <a:buNone/>
              <a:defRPr sz="27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85" name="Google Shape;85;p11"/>
          <p:cNvSpPr>
            <a:spLocks noGrp="1"/>
          </p:cNvSpPr>
          <p:nvPr>
            <p:ph type="pic" idx="2"/>
          </p:nvPr>
        </p:nvSpPr>
        <p:spPr>
          <a:xfrm>
            <a:off x="11" y="0"/>
            <a:ext cx="9144000" cy="3686400"/>
          </a:xfrm>
          <a:prstGeom prst="rect">
            <a:avLst/>
          </a:prstGeom>
          <a:solidFill>
            <a:srgbClr val="BECAD4"/>
          </a:solidFill>
          <a:ln>
            <a:noFill/>
          </a:ln>
        </p:spPr>
      </p:sp>
      <p:sp>
        <p:nvSpPr>
          <p:cNvPr id="86" name="Google Shape;86;p11"/>
          <p:cNvSpPr txBox="1">
            <a:spLocks noGrp="1"/>
          </p:cNvSpPr>
          <p:nvPr>
            <p:ph type="body" idx="1"/>
          </p:nvPr>
        </p:nvSpPr>
        <p:spPr>
          <a:xfrm>
            <a:off x="822960" y="4430268"/>
            <a:ext cx="7584900" cy="445800"/>
          </a:xfrm>
          <a:prstGeom prst="rect">
            <a:avLst/>
          </a:prstGeom>
          <a:noFill/>
          <a:ln>
            <a:noFill/>
          </a:ln>
        </p:spPr>
        <p:txBody>
          <a:bodyPr spcFirstLastPara="1" wrap="square" lIns="68575" tIns="0" rIns="68575" bIns="0" anchor="t" anchorCtr="0">
            <a:noAutofit/>
          </a:bodyPr>
          <a:lstStyle>
            <a:lvl1pPr marL="457200" lvl="0" indent="-228600" algn="l">
              <a:lnSpc>
                <a:spcPct val="90000"/>
              </a:lnSpc>
              <a:spcBef>
                <a:spcPts val="0"/>
              </a:spcBef>
              <a:spcAft>
                <a:spcPts val="0"/>
              </a:spcAft>
              <a:buSzPts val="1100"/>
              <a:buNone/>
              <a:defRPr sz="1100">
                <a:solidFill>
                  <a:srgbClr val="FFFFFF"/>
                </a:solidFill>
              </a:defRPr>
            </a:lvl1pPr>
            <a:lvl2pPr marL="914400" lvl="1" indent="-228600" algn="l">
              <a:lnSpc>
                <a:spcPct val="90000"/>
              </a:lnSpc>
              <a:spcBef>
                <a:spcPts val="500"/>
              </a:spcBef>
              <a:spcAft>
                <a:spcPts val="0"/>
              </a:spcAft>
              <a:buSzPts val="900"/>
              <a:buNone/>
              <a:defRPr sz="900"/>
            </a:lvl2pPr>
            <a:lvl3pPr marL="1371600" lvl="2" indent="-228600" algn="l">
              <a:lnSpc>
                <a:spcPct val="90000"/>
              </a:lnSpc>
              <a:spcBef>
                <a:spcPts val="300"/>
              </a:spcBef>
              <a:spcAft>
                <a:spcPts val="0"/>
              </a:spcAft>
              <a:buSzPts val="800"/>
              <a:buNone/>
              <a:defRPr sz="800"/>
            </a:lvl3pPr>
            <a:lvl4pPr marL="1828800" lvl="3" indent="-228600" algn="l">
              <a:lnSpc>
                <a:spcPct val="90000"/>
              </a:lnSpc>
              <a:spcBef>
                <a:spcPts val="300"/>
              </a:spcBef>
              <a:spcAft>
                <a:spcPts val="0"/>
              </a:spcAft>
              <a:buSzPts val="700"/>
              <a:buNone/>
              <a:defRPr sz="700"/>
            </a:lvl4pPr>
            <a:lvl5pPr marL="2286000" lvl="4" indent="-228600" algn="l">
              <a:lnSpc>
                <a:spcPct val="90000"/>
              </a:lnSpc>
              <a:spcBef>
                <a:spcPts val="300"/>
              </a:spcBef>
              <a:spcAft>
                <a:spcPts val="0"/>
              </a:spcAft>
              <a:buSzPts val="700"/>
              <a:buNone/>
              <a:defRPr sz="700"/>
            </a:lvl5pPr>
            <a:lvl6pPr marL="2743200" lvl="5" indent="-228600" algn="l">
              <a:lnSpc>
                <a:spcPct val="90000"/>
              </a:lnSpc>
              <a:spcBef>
                <a:spcPts val="300"/>
              </a:spcBef>
              <a:spcAft>
                <a:spcPts val="0"/>
              </a:spcAft>
              <a:buSzPts val="700"/>
              <a:buNone/>
              <a:defRPr sz="700"/>
            </a:lvl6pPr>
            <a:lvl7pPr marL="3200400" lvl="6" indent="-228600" algn="l">
              <a:lnSpc>
                <a:spcPct val="90000"/>
              </a:lnSpc>
              <a:spcBef>
                <a:spcPts val="300"/>
              </a:spcBef>
              <a:spcAft>
                <a:spcPts val="0"/>
              </a:spcAft>
              <a:buSzPts val="700"/>
              <a:buNone/>
              <a:defRPr sz="700"/>
            </a:lvl7pPr>
            <a:lvl8pPr marL="3657600" lvl="7" indent="-228600" algn="l">
              <a:lnSpc>
                <a:spcPct val="90000"/>
              </a:lnSpc>
              <a:spcBef>
                <a:spcPts val="300"/>
              </a:spcBef>
              <a:spcAft>
                <a:spcPts val="0"/>
              </a:spcAft>
              <a:buSzPts val="700"/>
              <a:buNone/>
              <a:defRPr sz="700"/>
            </a:lvl8pPr>
            <a:lvl9pPr marL="4114800" lvl="8" indent="-228600" algn="l">
              <a:lnSpc>
                <a:spcPct val="90000"/>
              </a:lnSpc>
              <a:spcBef>
                <a:spcPts val="300"/>
              </a:spcBef>
              <a:spcAft>
                <a:spcPts val="300"/>
              </a:spcAft>
              <a:buSzPts val="700"/>
              <a:buNone/>
              <a:defRPr sz="700"/>
            </a:lvl9pPr>
          </a:lstStyle>
          <a:p>
            <a:endParaRPr/>
          </a:p>
        </p:txBody>
      </p:sp>
      <p:sp>
        <p:nvSpPr>
          <p:cNvPr id="87" name="Google Shape;87;p11"/>
          <p:cNvSpPr txBox="1"/>
          <p:nvPr/>
        </p:nvSpPr>
        <p:spPr>
          <a:xfrm>
            <a:off x="0" y="4866362"/>
            <a:ext cx="488515"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fld id="{00000000-1234-1234-1234-123412341234}" type="slidenum">
              <a:rPr lang="en" sz="11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
        <p:nvSpPr>
          <p:cNvPr id="88" name="Google Shape;88;p11"/>
          <p:cNvSpPr/>
          <p:nvPr/>
        </p:nvSpPr>
        <p:spPr>
          <a:xfrm>
            <a:off x="7871011" y="4922294"/>
            <a:ext cx="1281267" cy="227470"/>
          </a:xfrm>
          <a:custGeom>
            <a:avLst/>
            <a:gdLst/>
            <a:ahLst/>
            <a:cxnLst/>
            <a:rect l="l" t="t" r="r" b="b"/>
            <a:pathLst>
              <a:path w="1411193" h="268372" extrusionOk="0">
                <a:moveTo>
                  <a:pt x="0" y="262109"/>
                </a:moveTo>
                <a:lnTo>
                  <a:pt x="102818" y="5976"/>
                </a:lnTo>
                <a:lnTo>
                  <a:pt x="1401564" y="0"/>
                </a:lnTo>
                <a:lnTo>
                  <a:pt x="1411193" y="268372"/>
                </a:lnTo>
                <a:lnTo>
                  <a:pt x="0" y="262109"/>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1"/>
          <p:cNvSpPr txBox="1"/>
          <p:nvPr/>
        </p:nvSpPr>
        <p:spPr>
          <a:xfrm>
            <a:off x="7972612" y="4943292"/>
            <a:ext cx="1171368" cy="18468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 sz="1050" b="1" i="0" u="none" strike="noStrike" cap="none">
                <a:solidFill>
                  <a:srgbClr val="FFFFFF"/>
                </a:solidFill>
                <a:latin typeface="Calibri"/>
                <a:ea typeface="Calibri"/>
                <a:cs typeface="Calibri"/>
                <a:sym typeface="Calibri"/>
              </a:rPr>
              <a:t>Dept of CSE, MIST</a:t>
            </a:r>
            <a:endParaRPr sz="1050" b="1"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12"/>
          <p:cNvSpPr txBox="1">
            <a:spLocks noGrp="1"/>
          </p:cNvSpPr>
          <p:nvPr>
            <p:ph type="body" idx="1"/>
          </p:nvPr>
        </p:nvSpPr>
        <p:spPr>
          <a:xfrm rot="5400000">
            <a:off x="3086160" y="-878900"/>
            <a:ext cx="3017400" cy="7543800"/>
          </a:xfrm>
          <a:prstGeom prst="rect">
            <a:avLst/>
          </a:prstGeom>
          <a:noFill/>
          <a:ln>
            <a:noFill/>
          </a:ln>
        </p:spPr>
        <p:txBody>
          <a:bodyPr spcFirstLastPara="1" wrap="square" lIns="34275" tIns="0" rIns="34275" bIns="0" anchor="t" anchorCtr="0">
            <a:noAutofit/>
          </a:bodyPr>
          <a:lstStyle>
            <a:lvl1pPr marL="457200" lvl="0" indent="-317500" algn="l">
              <a:lnSpc>
                <a:spcPct val="90000"/>
              </a:lnSpc>
              <a:spcBef>
                <a:spcPts val="900"/>
              </a:spcBef>
              <a:spcAft>
                <a:spcPts val="0"/>
              </a:spcAft>
              <a:buSzPts val="1400"/>
              <a:buChar char=" "/>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92" name="Google Shape;92;p12"/>
          <p:cNvSpPr txBox="1">
            <a:spLocks noGrp="1"/>
          </p:cNvSpPr>
          <p:nvPr>
            <p:ph type="title"/>
          </p:nvPr>
        </p:nvSpPr>
        <p:spPr>
          <a:xfrm>
            <a:off x="899150" y="27029"/>
            <a:ext cx="7543800" cy="590400"/>
          </a:xfrm>
          <a:prstGeom prst="rect">
            <a:avLst/>
          </a:prstGeom>
          <a:noFill/>
          <a:ln>
            <a:noFill/>
          </a:ln>
        </p:spPr>
        <p:txBody>
          <a:bodyPr spcFirstLastPara="1" wrap="square" lIns="68575" tIns="34275" rIns="68575" bIns="34275" anchor="b" anchorCtr="0">
            <a:noAutofit/>
          </a:bodyPr>
          <a:lstStyle>
            <a:lvl1pPr marR="0" lvl="0" algn="ctr" rtl="0">
              <a:lnSpc>
                <a:spcPct val="85000"/>
              </a:lnSpc>
              <a:spcBef>
                <a:spcPts val="0"/>
              </a:spcBef>
              <a:spcAft>
                <a:spcPts val="0"/>
              </a:spcAft>
              <a:buClr>
                <a:srgbClr val="3F3F3F"/>
              </a:buClr>
              <a:buSzPts val="3200"/>
              <a:buFont typeface="Calibri"/>
              <a:buNone/>
              <a:defRPr sz="3200" b="0" i="0" u="none" strike="noStrike" cap="none">
                <a:solidFill>
                  <a:srgbClr val="3F3F3F"/>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93" name="Google Shape;93;p12"/>
          <p:cNvSpPr txBox="1"/>
          <p:nvPr/>
        </p:nvSpPr>
        <p:spPr>
          <a:xfrm>
            <a:off x="0" y="4866362"/>
            <a:ext cx="488515"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fld id="{00000000-1234-1234-1234-123412341234}" type="slidenum">
              <a:rPr lang="en" sz="11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
        <p:nvSpPr>
          <p:cNvPr id="94" name="Google Shape;94;p12"/>
          <p:cNvSpPr/>
          <p:nvPr/>
        </p:nvSpPr>
        <p:spPr>
          <a:xfrm>
            <a:off x="7871011" y="4922294"/>
            <a:ext cx="1281267" cy="227470"/>
          </a:xfrm>
          <a:custGeom>
            <a:avLst/>
            <a:gdLst/>
            <a:ahLst/>
            <a:cxnLst/>
            <a:rect l="l" t="t" r="r" b="b"/>
            <a:pathLst>
              <a:path w="1411193" h="268372" extrusionOk="0">
                <a:moveTo>
                  <a:pt x="0" y="262109"/>
                </a:moveTo>
                <a:lnTo>
                  <a:pt x="102818" y="5976"/>
                </a:lnTo>
                <a:lnTo>
                  <a:pt x="1401564" y="0"/>
                </a:lnTo>
                <a:lnTo>
                  <a:pt x="1411193" y="268372"/>
                </a:lnTo>
                <a:lnTo>
                  <a:pt x="0" y="262109"/>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2"/>
          <p:cNvSpPr txBox="1"/>
          <p:nvPr/>
        </p:nvSpPr>
        <p:spPr>
          <a:xfrm>
            <a:off x="7972612" y="4943292"/>
            <a:ext cx="1171368" cy="18468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 sz="1050" b="1" i="0" u="none" strike="noStrike" cap="none">
                <a:solidFill>
                  <a:srgbClr val="FFFFFF"/>
                </a:solidFill>
                <a:latin typeface="Calibri"/>
                <a:ea typeface="Calibri"/>
                <a:cs typeface="Calibri"/>
                <a:sym typeface="Calibri"/>
              </a:rPr>
              <a:t>Dept of CSE, MIST</a:t>
            </a:r>
            <a:endParaRPr sz="1050" b="1"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13"/>
          <p:cNvSpPr txBox="1">
            <a:spLocks noGrp="1"/>
          </p:cNvSpPr>
          <p:nvPr>
            <p:ph type="title"/>
          </p:nvPr>
        </p:nvSpPr>
        <p:spPr>
          <a:xfrm rot="5400000">
            <a:off x="5369550" y="1483427"/>
            <a:ext cx="4320000" cy="1971600"/>
          </a:xfrm>
          <a:prstGeom prst="rect">
            <a:avLst/>
          </a:prstGeom>
          <a:noFill/>
          <a:ln>
            <a:noFill/>
          </a:ln>
        </p:spPr>
        <p:txBody>
          <a:bodyPr spcFirstLastPara="1" wrap="square" lIns="68575" tIns="34275" rIns="68575" bIns="34275" anchor="b" anchorCtr="0">
            <a:noAutofit/>
          </a:bodyPr>
          <a:lstStyle>
            <a:lvl1pPr marR="0" lvl="0" algn="l" rtl="0">
              <a:lnSpc>
                <a:spcPct val="85000"/>
              </a:lnSpc>
              <a:spcBef>
                <a:spcPts val="0"/>
              </a:spcBef>
              <a:spcAft>
                <a:spcPts val="0"/>
              </a:spcAft>
              <a:buClr>
                <a:srgbClr val="3F3F3F"/>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98" name="Google Shape;98;p13"/>
          <p:cNvSpPr txBox="1">
            <a:spLocks noGrp="1"/>
          </p:cNvSpPr>
          <p:nvPr>
            <p:ph type="body" idx="1"/>
          </p:nvPr>
        </p:nvSpPr>
        <p:spPr>
          <a:xfrm rot="5400000">
            <a:off x="1368975" y="-431173"/>
            <a:ext cx="4320000" cy="5800800"/>
          </a:xfrm>
          <a:prstGeom prst="rect">
            <a:avLst/>
          </a:prstGeom>
          <a:noFill/>
          <a:ln>
            <a:noFill/>
          </a:ln>
        </p:spPr>
        <p:txBody>
          <a:bodyPr spcFirstLastPara="1" wrap="square" lIns="34275" tIns="0" rIns="34275" bIns="0" anchor="t" anchorCtr="0">
            <a:noAutofit/>
          </a:bodyPr>
          <a:lstStyle>
            <a:lvl1pPr marL="457200" lvl="0" indent="-317500" algn="l">
              <a:lnSpc>
                <a:spcPct val="90000"/>
              </a:lnSpc>
              <a:spcBef>
                <a:spcPts val="900"/>
              </a:spcBef>
              <a:spcAft>
                <a:spcPts val="0"/>
              </a:spcAft>
              <a:buSzPts val="1400"/>
              <a:buChar char=" "/>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99" name="Google Shape;99;p13"/>
          <p:cNvSpPr txBox="1"/>
          <p:nvPr/>
        </p:nvSpPr>
        <p:spPr>
          <a:xfrm>
            <a:off x="0" y="4866362"/>
            <a:ext cx="488515"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fld id="{00000000-1234-1234-1234-123412341234}" type="slidenum">
              <a:rPr lang="en" sz="11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
        <p:nvSpPr>
          <p:cNvPr id="100" name="Google Shape;100;p13"/>
          <p:cNvSpPr/>
          <p:nvPr/>
        </p:nvSpPr>
        <p:spPr>
          <a:xfrm>
            <a:off x="7871011" y="4922294"/>
            <a:ext cx="1281267" cy="227470"/>
          </a:xfrm>
          <a:custGeom>
            <a:avLst/>
            <a:gdLst/>
            <a:ahLst/>
            <a:cxnLst/>
            <a:rect l="l" t="t" r="r" b="b"/>
            <a:pathLst>
              <a:path w="1411193" h="268372" extrusionOk="0">
                <a:moveTo>
                  <a:pt x="0" y="262109"/>
                </a:moveTo>
                <a:lnTo>
                  <a:pt x="102818" y="5976"/>
                </a:lnTo>
                <a:lnTo>
                  <a:pt x="1401564" y="0"/>
                </a:lnTo>
                <a:lnTo>
                  <a:pt x="1411193" y="268372"/>
                </a:lnTo>
                <a:lnTo>
                  <a:pt x="0" y="262109"/>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3"/>
          <p:cNvSpPr txBox="1"/>
          <p:nvPr/>
        </p:nvSpPr>
        <p:spPr>
          <a:xfrm>
            <a:off x="7972612" y="4943292"/>
            <a:ext cx="1171368" cy="18468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 sz="1050" b="1" i="0" u="none" strike="noStrike" cap="none">
                <a:solidFill>
                  <a:srgbClr val="FFFFFF"/>
                </a:solidFill>
                <a:latin typeface="Calibri"/>
                <a:ea typeface="Calibri"/>
                <a:cs typeface="Calibri"/>
                <a:sym typeface="Calibri"/>
              </a:rPr>
              <a:t>Dept of CSE, MIST</a:t>
            </a:r>
            <a:endParaRPr sz="1050" b="1"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102"/>
        <p:cNvGrpSpPr/>
        <p:nvPr/>
      </p:nvGrpSpPr>
      <p:grpSpPr>
        <a:xfrm>
          <a:off x="0" y="0"/>
          <a:ext cx="0" cy="0"/>
          <a:chOff x="0" y="0"/>
          <a:chExt cx="0" cy="0"/>
        </a:xfrm>
      </p:grpSpPr>
      <p:sp>
        <p:nvSpPr>
          <p:cNvPr id="103" name="Google Shape;103;p14"/>
          <p:cNvSpPr txBox="1">
            <a:spLocks noGrp="1"/>
          </p:cNvSpPr>
          <p:nvPr>
            <p:ph type="ctrTitle"/>
          </p:nvPr>
        </p:nvSpPr>
        <p:spPr>
          <a:xfrm>
            <a:off x="685800" y="1597827"/>
            <a:ext cx="7772400" cy="1102500"/>
          </a:xfrm>
          <a:prstGeom prst="rect">
            <a:avLst/>
          </a:prstGeom>
          <a:noFill/>
          <a:ln>
            <a:noFill/>
          </a:ln>
        </p:spPr>
        <p:txBody>
          <a:bodyPr spcFirstLastPara="1" wrap="square" lIns="68575" tIns="34275" rIns="68575" bIns="34275" anchor="ctr" anchorCtr="0">
            <a:normAutofit/>
          </a:bodyPr>
          <a:lstStyle>
            <a:lvl1pPr marR="0" lvl="0" algn="ctr" rtl="0">
              <a:lnSpc>
                <a:spcPct val="100000"/>
              </a:lnSpc>
              <a:spcBef>
                <a:spcPts val="0"/>
              </a:spcBef>
              <a:spcAft>
                <a:spcPts val="0"/>
              </a:spcAft>
              <a:buClr>
                <a:schemeClr val="dk1"/>
              </a:buClr>
              <a:buSzPts val="1400"/>
              <a:buFont typeface="Arial"/>
              <a:buChar char="●"/>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04" name="Google Shape;104;p14"/>
          <p:cNvSpPr txBox="1">
            <a:spLocks noGrp="1"/>
          </p:cNvSpPr>
          <p:nvPr>
            <p:ph type="subTitle" idx="1"/>
          </p:nvPr>
        </p:nvSpPr>
        <p:spPr>
          <a:xfrm>
            <a:off x="1371600" y="2914650"/>
            <a:ext cx="6400800" cy="13146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500"/>
              </a:spcBef>
              <a:spcAft>
                <a:spcPts val="0"/>
              </a:spcAft>
              <a:buClr>
                <a:srgbClr val="888888"/>
              </a:buClr>
              <a:buSzPts val="2400"/>
              <a:buNone/>
              <a:defRPr>
                <a:solidFill>
                  <a:srgbClr val="888888"/>
                </a:solidFill>
              </a:defRPr>
            </a:lvl1pPr>
            <a:lvl2pPr lvl="1" algn="ctr">
              <a:lnSpc>
                <a:spcPct val="90000"/>
              </a:lnSpc>
              <a:spcBef>
                <a:spcPts val="400"/>
              </a:spcBef>
              <a:spcAft>
                <a:spcPts val="0"/>
              </a:spcAft>
              <a:buClr>
                <a:srgbClr val="888888"/>
              </a:buClr>
              <a:buSzPts val="2100"/>
              <a:buNone/>
              <a:defRPr>
                <a:solidFill>
                  <a:srgbClr val="888888"/>
                </a:solidFill>
              </a:defRPr>
            </a:lvl2pPr>
            <a:lvl3pPr lvl="2" algn="ctr">
              <a:lnSpc>
                <a:spcPct val="90000"/>
              </a:lnSpc>
              <a:spcBef>
                <a:spcPts val="400"/>
              </a:spcBef>
              <a:spcAft>
                <a:spcPts val="0"/>
              </a:spcAft>
              <a:buClr>
                <a:srgbClr val="888888"/>
              </a:buClr>
              <a:buSzPts val="1800"/>
              <a:buNone/>
              <a:defRPr>
                <a:solidFill>
                  <a:srgbClr val="888888"/>
                </a:solidFill>
              </a:defRPr>
            </a:lvl3pPr>
            <a:lvl4pPr lvl="3" algn="ctr">
              <a:lnSpc>
                <a:spcPct val="90000"/>
              </a:lnSpc>
              <a:spcBef>
                <a:spcPts val="300"/>
              </a:spcBef>
              <a:spcAft>
                <a:spcPts val="0"/>
              </a:spcAft>
              <a:buClr>
                <a:srgbClr val="888888"/>
              </a:buClr>
              <a:buSzPts val="1500"/>
              <a:buNone/>
              <a:defRPr>
                <a:solidFill>
                  <a:srgbClr val="888888"/>
                </a:solidFill>
              </a:defRPr>
            </a:lvl4pPr>
            <a:lvl5pPr lvl="4" algn="ctr">
              <a:lnSpc>
                <a:spcPct val="90000"/>
              </a:lnSpc>
              <a:spcBef>
                <a:spcPts val="300"/>
              </a:spcBef>
              <a:spcAft>
                <a:spcPts val="0"/>
              </a:spcAft>
              <a:buClr>
                <a:srgbClr val="888888"/>
              </a:buClr>
              <a:buSzPts val="1500"/>
              <a:buNone/>
              <a:defRPr>
                <a:solidFill>
                  <a:srgbClr val="888888"/>
                </a:solidFill>
              </a:defRPr>
            </a:lvl5pPr>
            <a:lvl6pPr lvl="5" algn="ctr">
              <a:lnSpc>
                <a:spcPct val="90000"/>
              </a:lnSpc>
              <a:spcBef>
                <a:spcPts val="300"/>
              </a:spcBef>
              <a:spcAft>
                <a:spcPts val="0"/>
              </a:spcAft>
              <a:buClr>
                <a:srgbClr val="888888"/>
              </a:buClr>
              <a:buSzPts val="1500"/>
              <a:buNone/>
              <a:defRPr>
                <a:solidFill>
                  <a:srgbClr val="888888"/>
                </a:solidFill>
              </a:defRPr>
            </a:lvl6pPr>
            <a:lvl7pPr lvl="6" algn="ctr">
              <a:lnSpc>
                <a:spcPct val="90000"/>
              </a:lnSpc>
              <a:spcBef>
                <a:spcPts val="300"/>
              </a:spcBef>
              <a:spcAft>
                <a:spcPts val="0"/>
              </a:spcAft>
              <a:buClr>
                <a:srgbClr val="888888"/>
              </a:buClr>
              <a:buSzPts val="1500"/>
              <a:buNone/>
              <a:defRPr>
                <a:solidFill>
                  <a:srgbClr val="888888"/>
                </a:solidFill>
              </a:defRPr>
            </a:lvl7pPr>
            <a:lvl8pPr lvl="7" algn="ctr">
              <a:lnSpc>
                <a:spcPct val="90000"/>
              </a:lnSpc>
              <a:spcBef>
                <a:spcPts val="300"/>
              </a:spcBef>
              <a:spcAft>
                <a:spcPts val="0"/>
              </a:spcAft>
              <a:buClr>
                <a:srgbClr val="888888"/>
              </a:buClr>
              <a:buSzPts val="1500"/>
              <a:buNone/>
              <a:defRPr>
                <a:solidFill>
                  <a:srgbClr val="888888"/>
                </a:solidFill>
              </a:defRPr>
            </a:lvl8pPr>
            <a:lvl9pPr lvl="8" algn="ctr">
              <a:lnSpc>
                <a:spcPct val="90000"/>
              </a:lnSpc>
              <a:spcBef>
                <a:spcPts val="300"/>
              </a:spcBef>
              <a:spcAft>
                <a:spcPts val="300"/>
              </a:spcAft>
              <a:buClr>
                <a:srgbClr val="888888"/>
              </a:buClr>
              <a:buSzPts val="1500"/>
              <a:buNone/>
              <a:defRPr>
                <a:solidFill>
                  <a:srgbClr val="888888"/>
                </a:solidFill>
              </a:defRPr>
            </a:lvl9pPr>
          </a:lstStyle>
          <a:p>
            <a:endParaRPr/>
          </a:p>
        </p:txBody>
      </p:sp>
      <p:sp>
        <p:nvSpPr>
          <p:cNvPr id="105" name="Google Shape;105;p14"/>
          <p:cNvSpPr txBox="1">
            <a:spLocks noGrp="1"/>
          </p:cNvSpPr>
          <p:nvPr>
            <p:ph type="dt" idx="10"/>
          </p:nvPr>
        </p:nvSpPr>
        <p:spPr>
          <a:xfrm>
            <a:off x="457200" y="4767271"/>
            <a:ext cx="21336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06" name="Google Shape;106;p14"/>
          <p:cNvSpPr txBox="1">
            <a:spLocks noGrp="1"/>
          </p:cNvSpPr>
          <p:nvPr>
            <p:ph type="ftr" idx="11"/>
          </p:nvPr>
        </p:nvSpPr>
        <p:spPr>
          <a:xfrm>
            <a:off x="3124200" y="4767271"/>
            <a:ext cx="28956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07" name="Google Shape;107;p14"/>
          <p:cNvSpPr txBox="1">
            <a:spLocks noGrp="1"/>
          </p:cNvSpPr>
          <p:nvPr>
            <p:ph type="sldNum" idx="12"/>
          </p:nvPr>
        </p:nvSpPr>
        <p:spPr>
          <a:xfrm>
            <a:off x="6553200" y="4767271"/>
            <a:ext cx="21336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108"/>
        <p:cNvGrpSpPr/>
        <p:nvPr/>
      </p:nvGrpSpPr>
      <p:grpSpPr>
        <a:xfrm>
          <a:off x="0" y="0"/>
          <a:ext cx="0" cy="0"/>
          <a:chOff x="0" y="0"/>
          <a:chExt cx="0" cy="0"/>
        </a:xfrm>
      </p:grpSpPr>
      <p:sp>
        <p:nvSpPr>
          <p:cNvPr id="109" name="Google Shape;109;p15"/>
          <p:cNvSpPr txBox="1">
            <a:spLocks noGrp="1"/>
          </p:cNvSpPr>
          <p:nvPr>
            <p:ph type="ctrTitle"/>
          </p:nvPr>
        </p:nvSpPr>
        <p:spPr>
          <a:xfrm>
            <a:off x="685800" y="1597827"/>
            <a:ext cx="7772400" cy="1102500"/>
          </a:xfrm>
          <a:prstGeom prst="rect">
            <a:avLst/>
          </a:prstGeom>
          <a:noFill/>
          <a:ln>
            <a:noFill/>
          </a:ln>
        </p:spPr>
        <p:txBody>
          <a:bodyPr spcFirstLastPara="1" wrap="square" lIns="68575" tIns="34275" rIns="68575" bIns="34275" anchor="ctr" anchorCtr="0">
            <a:normAutofit/>
          </a:bodyPr>
          <a:lstStyle>
            <a:lvl1pPr marR="0" lvl="0" algn="ctr" rtl="0">
              <a:lnSpc>
                <a:spcPct val="100000"/>
              </a:lnSpc>
              <a:spcBef>
                <a:spcPts val="0"/>
              </a:spcBef>
              <a:spcAft>
                <a:spcPts val="0"/>
              </a:spcAft>
              <a:buClr>
                <a:schemeClr val="dk1"/>
              </a:buClr>
              <a:buSzPts val="1400"/>
              <a:buFont typeface="Arial"/>
              <a:buChar char="●"/>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10" name="Google Shape;110;p15"/>
          <p:cNvSpPr txBox="1">
            <a:spLocks noGrp="1"/>
          </p:cNvSpPr>
          <p:nvPr>
            <p:ph type="subTitle" idx="1"/>
          </p:nvPr>
        </p:nvSpPr>
        <p:spPr>
          <a:xfrm>
            <a:off x="1371600" y="2914650"/>
            <a:ext cx="6400800" cy="13146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500"/>
              </a:spcBef>
              <a:spcAft>
                <a:spcPts val="0"/>
              </a:spcAft>
              <a:buClr>
                <a:srgbClr val="888888"/>
              </a:buClr>
              <a:buSzPts val="2400"/>
              <a:buNone/>
              <a:defRPr>
                <a:solidFill>
                  <a:srgbClr val="888888"/>
                </a:solidFill>
              </a:defRPr>
            </a:lvl1pPr>
            <a:lvl2pPr lvl="1" algn="ctr">
              <a:lnSpc>
                <a:spcPct val="90000"/>
              </a:lnSpc>
              <a:spcBef>
                <a:spcPts val="400"/>
              </a:spcBef>
              <a:spcAft>
                <a:spcPts val="0"/>
              </a:spcAft>
              <a:buClr>
                <a:srgbClr val="888888"/>
              </a:buClr>
              <a:buSzPts val="2100"/>
              <a:buNone/>
              <a:defRPr>
                <a:solidFill>
                  <a:srgbClr val="888888"/>
                </a:solidFill>
              </a:defRPr>
            </a:lvl2pPr>
            <a:lvl3pPr lvl="2" algn="ctr">
              <a:lnSpc>
                <a:spcPct val="90000"/>
              </a:lnSpc>
              <a:spcBef>
                <a:spcPts val="400"/>
              </a:spcBef>
              <a:spcAft>
                <a:spcPts val="0"/>
              </a:spcAft>
              <a:buClr>
                <a:srgbClr val="888888"/>
              </a:buClr>
              <a:buSzPts val="1800"/>
              <a:buNone/>
              <a:defRPr>
                <a:solidFill>
                  <a:srgbClr val="888888"/>
                </a:solidFill>
              </a:defRPr>
            </a:lvl3pPr>
            <a:lvl4pPr lvl="3" algn="ctr">
              <a:lnSpc>
                <a:spcPct val="90000"/>
              </a:lnSpc>
              <a:spcBef>
                <a:spcPts val="300"/>
              </a:spcBef>
              <a:spcAft>
                <a:spcPts val="0"/>
              </a:spcAft>
              <a:buClr>
                <a:srgbClr val="888888"/>
              </a:buClr>
              <a:buSzPts val="1500"/>
              <a:buNone/>
              <a:defRPr>
                <a:solidFill>
                  <a:srgbClr val="888888"/>
                </a:solidFill>
              </a:defRPr>
            </a:lvl4pPr>
            <a:lvl5pPr lvl="4" algn="ctr">
              <a:lnSpc>
                <a:spcPct val="90000"/>
              </a:lnSpc>
              <a:spcBef>
                <a:spcPts val="300"/>
              </a:spcBef>
              <a:spcAft>
                <a:spcPts val="0"/>
              </a:spcAft>
              <a:buClr>
                <a:srgbClr val="888888"/>
              </a:buClr>
              <a:buSzPts val="1500"/>
              <a:buNone/>
              <a:defRPr>
                <a:solidFill>
                  <a:srgbClr val="888888"/>
                </a:solidFill>
              </a:defRPr>
            </a:lvl5pPr>
            <a:lvl6pPr lvl="5" algn="ctr">
              <a:lnSpc>
                <a:spcPct val="90000"/>
              </a:lnSpc>
              <a:spcBef>
                <a:spcPts val="300"/>
              </a:spcBef>
              <a:spcAft>
                <a:spcPts val="0"/>
              </a:spcAft>
              <a:buClr>
                <a:srgbClr val="888888"/>
              </a:buClr>
              <a:buSzPts val="1500"/>
              <a:buNone/>
              <a:defRPr>
                <a:solidFill>
                  <a:srgbClr val="888888"/>
                </a:solidFill>
              </a:defRPr>
            </a:lvl6pPr>
            <a:lvl7pPr lvl="6" algn="ctr">
              <a:lnSpc>
                <a:spcPct val="90000"/>
              </a:lnSpc>
              <a:spcBef>
                <a:spcPts val="300"/>
              </a:spcBef>
              <a:spcAft>
                <a:spcPts val="0"/>
              </a:spcAft>
              <a:buClr>
                <a:srgbClr val="888888"/>
              </a:buClr>
              <a:buSzPts val="1500"/>
              <a:buNone/>
              <a:defRPr>
                <a:solidFill>
                  <a:srgbClr val="888888"/>
                </a:solidFill>
              </a:defRPr>
            </a:lvl7pPr>
            <a:lvl8pPr lvl="7" algn="ctr">
              <a:lnSpc>
                <a:spcPct val="90000"/>
              </a:lnSpc>
              <a:spcBef>
                <a:spcPts val="300"/>
              </a:spcBef>
              <a:spcAft>
                <a:spcPts val="0"/>
              </a:spcAft>
              <a:buClr>
                <a:srgbClr val="888888"/>
              </a:buClr>
              <a:buSzPts val="1500"/>
              <a:buNone/>
              <a:defRPr>
                <a:solidFill>
                  <a:srgbClr val="888888"/>
                </a:solidFill>
              </a:defRPr>
            </a:lvl8pPr>
            <a:lvl9pPr lvl="8" algn="ctr">
              <a:lnSpc>
                <a:spcPct val="90000"/>
              </a:lnSpc>
              <a:spcBef>
                <a:spcPts val="300"/>
              </a:spcBef>
              <a:spcAft>
                <a:spcPts val="300"/>
              </a:spcAft>
              <a:buClr>
                <a:srgbClr val="888888"/>
              </a:buClr>
              <a:buSzPts val="1500"/>
              <a:buNone/>
              <a:defRPr>
                <a:solidFill>
                  <a:srgbClr val="888888"/>
                </a:solidFill>
              </a:defRPr>
            </a:lvl9pPr>
          </a:lstStyle>
          <a:p>
            <a:endParaRPr/>
          </a:p>
        </p:txBody>
      </p:sp>
      <p:sp>
        <p:nvSpPr>
          <p:cNvPr id="111" name="Google Shape;111;p15"/>
          <p:cNvSpPr txBox="1">
            <a:spLocks noGrp="1"/>
          </p:cNvSpPr>
          <p:nvPr>
            <p:ph type="dt" idx="10"/>
          </p:nvPr>
        </p:nvSpPr>
        <p:spPr>
          <a:xfrm>
            <a:off x="457200" y="4767271"/>
            <a:ext cx="21336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12" name="Google Shape;112;p15"/>
          <p:cNvSpPr txBox="1">
            <a:spLocks noGrp="1"/>
          </p:cNvSpPr>
          <p:nvPr>
            <p:ph type="ftr" idx="11"/>
          </p:nvPr>
        </p:nvSpPr>
        <p:spPr>
          <a:xfrm>
            <a:off x="3124200" y="4767271"/>
            <a:ext cx="28956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13" name="Google Shape;113;p15"/>
          <p:cNvSpPr txBox="1">
            <a:spLocks noGrp="1"/>
          </p:cNvSpPr>
          <p:nvPr>
            <p:ph type="sldNum" idx="12"/>
          </p:nvPr>
        </p:nvSpPr>
        <p:spPr>
          <a:xfrm>
            <a:off x="6553200" y="4767271"/>
            <a:ext cx="21336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4"/>
        <p:cNvGrpSpPr/>
        <p:nvPr/>
      </p:nvGrpSpPr>
      <p:grpSpPr>
        <a:xfrm>
          <a:off x="0" y="0"/>
          <a:ext cx="0" cy="0"/>
          <a:chOff x="0" y="0"/>
          <a:chExt cx="0" cy="0"/>
        </a:xfrm>
      </p:grpSpPr>
      <p:sp>
        <p:nvSpPr>
          <p:cNvPr id="115" name="Google Shape;115;p16"/>
          <p:cNvSpPr txBox="1">
            <a:spLocks noGrp="1"/>
          </p:cNvSpPr>
          <p:nvPr>
            <p:ph type="body" idx="1"/>
          </p:nvPr>
        </p:nvSpPr>
        <p:spPr>
          <a:xfrm>
            <a:off x="311700" y="882600"/>
            <a:ext cx="8520600" cy="4067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16" name="Google Shape;116;p16"/>
          <p:cNvSpPr txBox="1">
            <a:spLocks noGrp="1"/>
          </p:cNvSpPr>
          <p:nvPr>
            <p:ph type="sldNum" idx="12"/>
          </p:nvPr>
        </p:nvSpPr>
        <p:spPr>
          <a:xfrm>
            <a:off x="82583"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16"/>
          <p:cNvSpPr/>
          <p:nvPr/>
        </p:nvSpPr>
        <p:spPr>
          <a:xfrm>
            <a:off x="2184177" y="119625"/>
            <a:ext cx="5014200" cy="461700"/>
          </a:xfrm>
          <a:prstGeom prst="rect">
            <a:avLst/>
          </a:prstGeom>
          <a:solidFill>
            <a:srgbClr val="00B0F0"/>
          </a:solidFill>
          <a:ln>
            <a:noFill/>
          </a:ln>
          <a:effectLst>
            <a:outerShdw blurRad="50800" dist="38100" dir="8100000" algn="tr" rotWithShape="0">
              <a:srgbClr val="000000">
                <a:alpha val="40000"/>
              </a:srgbClr>
            </a:outerShdw>
            <a:reflection stA="52000" endA="300" endPos="35000" fadeDir="5400012" sy="-100000" algn="bl" rotWithShape="0"/>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000000"/>
                </a:solidFill>
                <a:latin typeface="Calibri"/>
                <a:ea typeface="Calibri"/>
                <a:cs typeface="Calibri"/>
                <a:sym typeface="Calibri"/>
              </a:rPr>
              <a:t>Slide/Topic Title</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5_Blank">
  <p:cSld name="5_Blank">
    <p:spTree>
      <p:nvGrpSpPr>
        <p:cNvPr id="1" name="Shape 118"/>
        <p:cNvGrpSpPr/>
        <p:nvPr/>
      </p:nvGrpSpPr>
      <p:grpSpPr>
        <a:xfrm>
          <a:off x="0" y="0"/>
          <a:ext cx="0" cy="0"/>
          <a:chOff x="0" y="0"/>
          <a:chExt cx="0" cy="0"/>
        </a:xfrm>
      </p:grpSpPr>
      <p:sp>
        <p:nvSpPr>
          <p:cNvPr id="119" name="Google Shape;119;p17"/>
          <p:cNvSpPr txBox="1">
            <a:spLocks noGrp="1"/>
          </p:cNvSpPr>
          <p:nvPr>
            <p:ph type="sldNum" idx="12"/>
          </p:nvPr>
        </p:nvSpPr>
        <p:spPr>
          <a:xfrm>
            <a:off x="6934200" y="4781550"/>
            <a:ext cx="21336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600" b="1" i="0" u="none" strike="noStrike" cap="none">
                <a:solidFill>
                  <a:schemeClr val="dk2"/>
                </a:solidFill>
                <a:latin typeface="Arial"/>
                <a:ea typeface="Arial"/>
                <a:cs typeface="Arial"/>
                <a:sym typeface="Arial"/>
              </a:defRPr>
            </a:lvl1pPr>
            <a:lvl2pPr marL="0" marR="0" lvl="1" indent="0" algn="r" rtl="0">
              <a:spcBef>
                <a:spcPts val="0"/>
              </a:spcBef>
              <a:buNone/>
              <a:defRPr sz="1600" b="1" i="0" u="none" strike="noStrike" cap="none">
                <a:solidFill>
                  <a:schemeClr val="dk2"/>
                </a:solidFill>
                <a:latin typeface="Arial"/>
                <a:ea typeface="Arial"/>
                <a:cs typeface="Arial"/>
                <a:sym typeface="Arial"/>
              </a:defRPr>
            </a:lvl2pPr>
            <a:lvl3pPr marL="0" marR="0" lvl="2" indent="0" algn="r" rtl="0">
              <a:spcBef>
                <a:spcPts val="0"/>
              </a:spcBef>
              <a:buNone/>
              <a:defRPr sz="1600" b="1" i="0" u="none" strike="noStrike" cap="none">
                <a:solidFill>
                  <a:schemeClr val="dk2"/>
                </a:solidFill>
                <a:latin typeface="Arial"/>
                <a:ea typeface="Arial"/>
                <a:cs typeface="Arial"/>
                <a:sym typeface="Arial"/>
              </a:defRPr>
            </a:lvl3pPr>
            <a:lvl4pPr marL="0" marR="0" lvl="3" indent="0" algn="r" rtl="0">
              <a:spcBef>
                <a:spcPts val="0"/>
              </a:spcBef>
              <a:buNone/>
              <a:defRPr sz="1600" b="1" i="0" u="none" strike="noStrike" cap="none">
                <a:solidFill>
                  <a:schemeClr val="dk2"/>
                </a:solidFill>
                <a:latin typeface="Arial"/>
                <a:ea typeface="Arial"/>
                <a:cs typeface="Arial"/>
                <a:sym typeface="Arial"/>
              </a:defRPr>
            </a:lvl4pPr>
            <a:lvl5pPr marL="0" marR="0" lvl="4" indent="0" algn="r" rtl="0">
              <a:spcBef>
                <a:spcPts val="0"/>
              </a:spcBef>
              <a:buNone/>
              <a:defRPr sz="1600" b="1" i="0" u="none" strike="noStrike" cap="none">
                <a:solidFill>
                  <a:schemeClr val="dk2"/>
                </a:solidFill>
                <a:latin typeface="Arial"/>
                <a:ea typeface="Arial"/>
                <a:cs typeface="Arial"/>
                <a:sym typeface="Arial"/>
              </a:defRPr>
            </a:lvl5pPr>
            <a:lvl6pPr marL="0" marR="0" lvl="5" indent="0" algn="r" rtl="0">
              <a:spcBef>
                <a:spcPts val="0"/>
              </a:spcBef>
              <a:buNone/>
              <a:defRPr sz="1600" b="1" i="0" u="none" strike="noStrike" cap="none">
                <a:solidFill>
                  <a:schemeClr val="dk2"/>
                </a:solidFill>
                <a:latin typeface="Arial"/>
                <a:ea typeface="Arial"/>
                <a:cs typeface="Arial"/>
                <a:sym typeface="Arial"/>
              </a:defRPr>
            </a:lvl6pPr>
            <a:lvl7pPr marL="0" marR="0" lvl="6" indent="0" algn="r" rtl="0">
              <a:spcBef>
                <a:spcPts val="0"/>
              </a:spcBef>
              <a:buNone/>
              <a:defRPr sz="1600" b="1" i="0" u="none" strike="noStrike" cap="none">
                <a:solidFill>
                  <a:schemeClr val="dk2"/>
                </a:solidFill>
                <a:latin typeface="Arial"/>
                <a:ea typeface="Arial"/>
                <a:cs typeface="Arial"/>
                <a:sym typeface="Arial"/>
              </a:defRPr>
            </a:lvl7pPr>
            <a:lvl8pPr marL="0" marR="0" lvl="7" indent="0" algn="r" rtl="0">
              <a:spcBef>
                <a:spcPts val="0"/>
              </a:spcBef>
              <a:buNone/>
              <a:defRPr sz="1600" b="1" i="0" u="none" strike="noStrike" cap="none">
                <a:solidFill>
                  <a:schemeClr val="dk2"/>
                </a:solidFill>
                <a:latin typeface="Arial"/>
                <a:ea typeface="Arial"/>
                <a:cs typeface="Arial"/>
                <a:sym typeface="Arial"/>
              </a:defRPr>
            </a:lvl8pPr>
            <a:lvl9pPr marL="0" marR="0" lvl="8" indent="0" algn="r" rtl="0">
              <a:spcBef>
                <a:spcPts val="0"/>
              </a:spcBef>
              <a:buNone/>
              <a:defRPr sz="1600" b="1"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20" name="Google Shape;120;p17"/>
          <p:cNvSpPr txBox="1">
            <a:spLocks noGrp="1"/>
          </p:cNvSpPr>
          <p:nvPr>
            <p:ph type="title"/>
          </p:nvPr>
        </p:nvSpPr>
        <p:spPr>
          <a:xfrm>
            <a:off x="762000" y="0"/>
            <a:ext cx="7696200" cy="9717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2"/>
              </a:buClr>
              <a:buSzPts val="3200"/>
              <a:buFont typeface="Arial"/>
              <a:buChar char="●"/>
              <a:defRPr sz="3200" b="1">
                <a:solidFill>
                  <a:schemeClr val="dk2"/>
                </a:solidFill>
                <a:latin typeface="Arial"/>
                <a:ea typeface="Arial"/>
                <a:cs typeface="Arial"/>
                <a:sym typeface="Arial"/>
              </a:defRPr>
            </a:lvl1pPr>
            <a:lvl2pPr lvl="1" rtl="0">
              <a:spcBef>
                <a:spcPts val="0"/>
              </a:spcBef>
              <a:spcAft>
                <a:spcPts val="0"/>
              </a:spcAft>
              <a:buSzPts val="1100"/>
              <a:buNone/>
              <a:defRPr sz="1100"/>
            </a:lvl2pPr>
            <a:lvl3pPr lvl="2" rtl="0">
              <a:spcBef>
                <a:spcPts val="0"/>
              </a:spcBef>
              <a:spcAft>
                <a:spcPts val="0"/>
              </a:spcAft>
              <a:buSzPts val="1100"/>
              <a:buNone/>
              <a:defRPr sz="1100"/>
            </a:lvl3pPr>
            <a:lvl4pPr lvl="3" rtl="0">
              <a:spcBef>
                <a:spcPts val="0"/>
              </a:spcBef>
              <a:spcAft>
                <a:spcPts val="0"/>
              </a:spcAft>
              <a:buSzPts val="1100"/>
              <a:buNone/>
              <a:defRPr sz="1100"/>
            </a:lvl4pPr>
            <a:lvl5pPr lvl="4" rtl="0">
              <a:spcBef>
                <a:spcPts val="0"/>
              </a:spcBef>
              <a:spcAft>
                <a:spcPts val="0"/>
              </a:spcAft>
              <a:buSzPts val="1100"/>
              <a:buNone/>
              <a:defRPr sz="1100"/>
            </a:lvl5pPr>
            <a:lvl6pPr lvl="5" rtl="0">
              <a:spcBef>
                <a:spcPts val="0"/>
              </a:spcBef>
              <a:spcAft>
                <a:spcPts val="0"/>
              </a:spcAft>
              <a:buSzPts val="1100"/>
              <a:buNone/>
              <a:defRPr sz="1100"/>
            </a:lvl6pPr>
            <a:lvl7pPr lvl="6" rtl="0">
              <a:spcBef>
                <a:spcPts val="0"/>
              </a:spcBef>
              <a:spcAft>
                <a:spcPts val="0"/>
              </a:spcAft>
              <a:buSzPts val="1100"/>
              <a:buNone/>
              <a:defRPr sz="1100"/>
            </a:lvl7pPr>
            <a:lvl8pPr lvl="7" rtl="0">
              <a:spcBef>
                <a:spcPts val="0"/>
              </a:spcBef>
              <a:spcAft>
                <a:spcPts val="0"/>
              </a:spcAft>
              <a:buSzPts val="1100"/>
              <a:buNone/>
              <a:defRPr sz="1100"/>
            </a:lvl8pPr>
            <a:lvl9pPr lvl="8" rtl="0">
              <a:spcBef>
                <a:spcPts val="0"/>
              </a:spcBef>
              <a:spcAft>
                <a:spcPts val="0"/>
              </a:spcAft>
              <a:buSzPts val="1100"/>
              <a:buNone/>
              <a:defRPr sz="1100"/>
            </a:lvl9pPr>
          </a:lstStyle>
          <a:p>
            <a:endParaRPr/>
          </a:p>
        </p:txBody>
      </p:sp>
      <p:cxnSp>
        <p:nvCxnSpPr>
          <p:cNvPr id="121" name="Google Shape;121;p17"/>
          <p:cNvCxnSpPr/>
          <p:nvPr/>
        </p:nvCxnSpPr>
        <p:spPr>
          <a:xfrm>
            <a:off x="0" y="895350"/>
            <a:ext cx="9144000" cy="0"/>
          </a:xfrm>
          <a:prstGeom prst="straightConnector1">
            <a:avLst/>
          </a:prstGeom>
          <a:noFill/>
          <a:ln w="9525" cap="flat" cmpd="sng">
            <a:solidFill>
              <a:schemeClr val="accent2"/>
            </a:solidFill>
            <a:prstDash val="solid"/>
            <a:miter lim="800000"/>
            <a:headEnd type="none" w="sm" len="sm"/>
            <a:tailEnd type="none" w="sm" len="sm"/>
          </a:ln>
        </p:spPr>
      </p:cxnSp>
      <p:cxnSp>
        <p:nvCxnSpPr>
          <p:cNvPr id="122" name="Google Shape;122;p17"/>
          <p:cNvCxnSpPr/>
          <p:nvPr/>
        </p:nvCxnSpPr>
        <p:spPr>
          <a:xfrm>
            <a:off x="182880" y="920750"/>
            <a:ext cx="8961000" cy="0"/>
          </a:xfrm>
          <a:prstGeom prst="straightConnector1">
            <a:avLst/>
          </a:prstGeom>
          <a:noFill/>
          <a:ln w="9525" cap="flat" cmpd="sng">
            <a:solidFill>
              <a:srgbClr val="222A35"/>
            </a:solidFill>
            <a:prstDash val="solid"/>
            <a:miter lim="800000"/>
            <a:headEnd type="none" w="sm" len="sm"/>
            <a:tailEnd type="none" w="sm" len="sm"/>
          </a:ln>
        </p:spPr>
      </p:cxnSp>
      <p:cxnSp>
        <p:nvCxnSpPr>
          <p:cNvPr id="123" name="Google Shape;123;p17"/>
          <p:cNvCxnSpPr/>
          <p:nvPr/>
        </p:nvCxnSpPr>
        <p:spPr>
          <a:xfrm>
            <a:off x="365760" y="946150"/>
            <a:ext cx="8778300" cy="0"/>
          </a:xfrm>
          <a:prstGeom prst="straightConnector1">
            <a:avLst/>
          </a:prstGeom>
          <a:noFill/>
          <a:ln w="9525" cap="flat" cmpd="sng">
            <a:solidFill>
              <a:schemeClr val="accent3"/>
            </a:solidFill>
            <a:prstDash val="solid"/>
            <a:miter lim="800000"/>
            <a:headEnd type="none" w="sm" len="sm"/>
            <a:tailEnd type="none" w="sm" len="sm"/>
          </a:ln>
        </p:spPr>
      </p:cxn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822960" y="1384300"/>
            <a:ext cx="7543800" cy="3017400"/>
          </a:xfrm>
          <a:prstGeom prst="rect">
            <a:avLst/>
          </a:prstGeom>
          <a:noFill/>
          <a:ln>
            <a:noFill/>
          </a:ln>
        </p:spPr>
        <p:txBody>
          <a:bodyPr spcFirstLastPara="1" wrap="square" lIns="0" tIns="34275" rIns="0" bIns="34275" anchor="t" anchorCtr="0">
            <a:noAutofit/>
          </a:bodyPr>
          <a:lstStyle>
            <a:lvl1pPr marL="457200" marR="0" lvl="0" indent="-323850" algn="l" rtl="0">
              <a:lnSpc>
                <a:spcPct val="90000"/>
              </a:lnSpc>
              <a:spcBef>
                <a:spcPts val="900"/>
              </a:spcBef>
              <a:spcAft>
                <a:spcPts val="0"/>
              </a:spcAft>
              <a:buClr>
                <a:schemeClr val="accent1"/>
              </a:buClr>
              <a:buSzPts val="1500"/>
              <a:buFont typeface="Calibri"/>
              <a:buChar char=" "/>
              <a:defRPr sz="1500" b="0" i="0" u="none" strike="noStrike" cap="none">
                <a:solidFill>
                  <a:srgbClr val="3F3F3F"/>
                </a:solidFill>
                <a:latin typeface="Calibri"/>
                <a:ea typeface="Calibri"/>
                <a:cs typeface="Calibri"/>
                <a:sym typeface="Calibri"/>
              </a:defRPr>
            </a:lvl1pPr>
            <a:lvl2pPr marL="914400" marR="0" lvl="1" indent="-317500" algn="l" rtl="0">
              <a:lnSpc>
                <a:spcPct val="90000"/>
              </a:lnSpc>
              <a:spcBef>
                <a:spcPts val="2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2pPr>
            <a:lvl3pPr marL="1371600" marR="0" lvl="2" indent="-298450" algn="l" rtl="0">
              <a:lnSpc>
                <a:spcPct val="90000"/>
              </a:lnSpc>
              <a:spcBef>
                <a:spcPts val="300"/>
              </a:spcBef>
              <a:spcAft>
                <a:spcPts val="0"/>
              </a:spcAft>
              <a:buClr>
                <a:schemeClr val="accent1"/>
              </a:buClr>
              <a:buSzPts val="1100"/>
              <a:buFont typeface="Calibri"/>
              <a:buChar char="◦"/>
              <a:defRPr sz="1100" b="0" i="0" u="none" strike="noStrike" cap="none">
                <a:solidFill>
                  <a:srgbClr val="3F3F3F"/>
                </a:solidFill>
                <a:latin typeface="Calibri"/>
                <a:ea typeface="Calibri"/>
                <a:cs typeface="Calibri"/>
                <a:sym typeface="Calibri"/>
              </a:defRPr>
            </a:lvl3pPr>
            <a:lvl4pPr marL="1828800" marR="0" lvl="3" indent="-298450" algn="l" rtl="0">
              <a:lnSpc>
                <a:spcPct val="90000"/>
              </a:lnSpc>
              <a:spcBef>
                <a:spcPts val="300"/>
              </a:spcBef>
              <a:spcAft>
                <a:spcPts val="0"/>
              </a:spcAft>
              <a:buClr>
                <a:schemeClr val="accent1"/>
              </a:buClr>
              <a:buSzPts val="1100"/>
              <a:buFont typeface="Calibri"/>
              <a:buChar char="◦"/>
              <a:defRPr sz="1100" b="0" i="0" u="none" strike="noStrike" cap="none">
                <a:solidFill>
                  <a:srgbClr val="3F3F3F"/>
                </a:solidFill>
                <a:latin typeface="Calibri"/>
                <a:ea typeface="Calibri"/>
                <a:cs typeface="Calibri"/>
                <a:sym typeface="Calibri"/>
              </a:defRPr>
            </a:lvl4pPr>
            <a:lvl5pPr marL="2286000" marR="0" lvl="4" indent="-298450" algn="l" rtl="0">
              <a:lnSpc>
                <a:spcPct val="90000"/>
              </a:lnSpc>
              <a:spcBef>
                <a:spcPts val="300"/>
              </a:spcBef>
              <a:spcAft>
                <a:spcPts val="0"/>
              </a:spcAft>
              <a:buClr>
                <a:schemeClr val="accent1"/>
              </a:buClr>
              <a:buSzPts val="1100"/>
              <a:buFont typeface="Calibri"/>
              <a:buChar char="◦"/>
              <a:defRPr sz="1100" b="0" i="0" u="none" strike="noStrike" cap="none">
                <a:solidFill>
                  <a:srgbClr val="3F3F3F"/>
                </a:solidFill>
                <a:latin typeface="Calibri"/>
                <a:ea typeface="Calibri"/>
                <a:cs typeface="Calibri"/>
                <a:sym typeface="Calibri"/>
              </a:defRPr>
            </a:lvl5pPr>
            <a:lvl6pPr marL="2743200" marR="0" lvl="5" indent="-298450" algn="l" rtl="0">
              <a:lnSpc>
                <a:spcPct val="90000"/>
              </a:lnSpc>
              <a:spcBef>
                <a:spcPts val="300"/>
              </a:spcBef>
              <a:spcAft>
                <a:spcPts val="0"/>
              </a:spcAft>
              <a:buClr>
                <a:schemeClr val="accent1"/>
              </a:buClr>
              <a:buSzPts val="1100"/>
              <a:buFont typeface="Calibri"/>
              <a:buChar char="◦"/>
              <a:defRPr sz="1100" b="0" i="0" u="none" strike="noStrike" cap="none">
                <a:solidFill>
                  <a:srgbClr val="3F3F3F"/>
                </a:solidFill>
                <a:latin typeface="Calibri"/>
                <a:ea typeface="Calibri"/>
                <a:cs typeface="Calibri"/>
                <a:sym typeface="Calibri"/>
              </a:defRPr>
            </a:lvl6pPr>
            <a:lvl7pPr marL="3200400" marR="0" lvl="6" indent="-298450" algn="l" rtl="0">
              <a:lnSpc>
                <a:spcPct val="90000"/>
              </a:lnSpc>
              <a:spcBef>
                <a:spcPts val="300"/>
              </a:spcBef>
              <a:spcAft>
                <a:spcPts val="0"/>
              </a:spcAft>
              <a:buClr>
                <a:schemeClr val="accent1"/>
              </a:buClr>
              <a:buSzPts val="1100"/>
              <a:buFont typeface="Calibri"/>
              <a:buChar char="◦"/>
              <a:defRPr sz="1100" b="0" i="0" u="none" strike="noStrike" cap="none">
                <a:solidFill>
                  <a:srgbClr val="3F3F3F"/>
                </a:solidFill>
                <a:latin typeface="Calibri"/>
                <a:ea typeface="Calibri"/>
                <a:cs typeface="Calibri"/>
                <a:sym typeface="Calibri"/>
              </a:defRPr>
            </a:lvl7pPr>
            <a:lvl8pPr marL="3657600" marR="0" lvl="7" indent="-298450" algn="l" rtl="0">
              <a:lnSpc>
                <a:spcPct val="90000"/>
              </a:lnSpc>
              <a:spcBef>
                <a:spcPts val="300"/>
              </a:spcBef>
              <a:spcAft>
                <a:spcPts val="0"/>
              </a:spcAft>
              <a:buClr>
                <a:schemeClr val="accent1"/>
              </a:buClr>
              <a:buSzPts val="1100"/>
              <a:buFont typeface="Calibri"/>
              <a:buChar char="◦"/>
              <a:defRPr sz="1100" b="0" i="0" u="none" strike="noStrike" cap="none">
                <a:solidFill>
                  <a:srgbClr val="3F3F3F"/>
                </a:solidFill>
                <a:latin typeface="Calibri"/>
                <a:ea typeface="Calibri"/>
                <a:cs typeface="Calibri"/>
                <a:sym typeface="Calibri"/>
              </a:defRPr>
            </a:lvl8pPr>
            <a:lvl9pPr marL="4114800" marR="0" lvl="8" indent="-298450" algn="l" rtl="0">
              <a:lnSpc>
                <a:spcPct val="90000"/>
              </a:lnSpc>
              <a:spcBef>
                <a:spcPts val="300"/>
              </a:spcBef>
              <a:spcAft>
                <a:spcPts val="300"/>
              </a:spcAft>
              <a:buClr>
                <a:schemeClr val="accent1"/>
              </a:buClr>
              <a:buSzPts val="1100"/>
              <a:buFont typeface="Calibri"/>
              <a:buChar char="◦"/>
              <a:defRPr sz="1100" b="0" i="0" u="none" strike="noStrike" cap="none">
                <a:solidFill>
                  <a:srgbClr val="3F3F3F"/>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jpeg"/><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3.jpe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8"/>
          <p:cNvSpPr txBox="1"/>
          <p:nvPr/>
        </p:nvSpPr>
        <p:spPr>
          <a:xfrm>
            <a:off x="1341201" y="1556216"/>
            <a:ext cx="7078200" cy="146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500" dirty="0">
              <a:solidFill>
                <a:srgbClr val="3F3F3F"/>
              </a:solidFill>
              <a:latin typeface="Calibri"/>
              <a:ea typeface="Calibri"/>
              <a:cs typeface="Calibri"/>
              <a:sym typeface="Calibri"/>
            </a:endParaRPr>
          </a:p>
        </p:txBody>
      </p:sp>
      <p:sp>
        <p:nvSpPr>
          <p:cNvPr id="129" name="Google Shape;129;p18"/>
          <p:cNvSpPr txBox="1"/>
          <p:nvPr/>
        </p:nvSpPr>
        <p:spPr>
          <a:xfrm>
            <a:off x="1180475" y="1779805"/>
            <a:ext cx="6783049"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2400" b="1" dirty="0">
                <a:solidFill>
                  <a:srgbClr val="1C4587"/>
                </a:solidFill>
                <a:latin typeface="Times New Roman"/>
                <a:ea typeface="Times New Roman"/>
                <a:cs typeface="Times New Roman"/>
                <a:sym typeface="Times New Roman"/>
              </a:rPr>
              <a:t>Project Title</a:t>
            </a:r>
          </a:p>
          <a:p>
            <a:pPr marL="0" marR="0" lvl="0" indent="0" algn="ctr" rtl="0">
              <a:lnSpc>
                <a:spcPct val="100000"/>
              </a:lnSpc>
              <a:spcBef>
                <a:spcPts val="0"/>
              </a:spcBef>
              <a:spcAft>
                <a:spcPts val="0"/>
              </a:spcAft>
              <a:buClr>
                <a:srgbClr val="000000"/>
              </a:buClr>
              <a:buSzPts val="1800"/>
              <a:buFont typeface="Arial"/>
              <a:buNone/>
            </a:pPr>
            <a:r>
              <a:rPr lang="en-US" sz="1800" b="1" i="0" u="none" strike="noStrike" dirty="0">
                <a:solidFill>
                  <a:srgbClr val="000000"/>
                </a:solidFill>
                <a:effectLst/>
                <a:latin typeface="Times New Roman" panose="02020603050405020304" pitchFamily="18" charset="0"/>
              </a:rPr>
              <a:t>Multisensory Line-Following Robot for Surface Cleaning and Disinfection in Indoor Environments</a:t>
            </a:r>
            <a:endParaRPr sz="2400" b="1" i="0" u="none" strike="noStrike" cap="none" dirty="0">
              <a:solidFill>
                <a:srgbClr val="1C4587"/>
              </a:solidFill>
              <a:latin typeface="Times New Roman"/>
              <a:ea typeface="Times New Roman"/>
              <a:cs typeface="Times New Roman"/>
              <a:sym typeface="Times New Roman"/>
            </a:endParaRPr>
          </a:p>
        </p:txBody>
      </p:sp>
      <p:sp>
        <p:nvSpPr>
          <p:cNvPr id="130" name="Google Shape;130;p18"/>
          <p:cNvSpPr txBox="1"/>
          <p:nvPr/>
        </p:nvSpPr>
        <p:spPr>
          <a:xfrm>
            <a:off x="458725" y="3417600"/>
            <a:ext cx="3788810" cy="174198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dirty="0">
                <a:solidFill>
                  <a:schemeClr val="dk1"/>
                </a:solidFill>
              </a:rPr>
              <a:t>Presented By</a:t>
            </a:r>
            <a:endParaRPr sz="2000" b="1" dirty="0">
              <a:solidFill>
                <a:schemeClr val="dk1"/>
              </a:solidFill>
            </a:endParaRPr>
          </a:p>
          <a:p>
            <a:pPr marL="0" lvl="0" indent="0" algn="l" rtl="0">
              <a:lnSpc>
                <a:spcPct val="115000"/>
              </a:lnSpc>
              <a:spcBef>
                <a:spcPts val="0"/>
              </a:spcBef>
              <a:spcAft>
                <a:spcPts val="0"/>
              </a:spcAft>
              <a:buNone/>
            </a:pPr>
            <a:r>
              <a:rPr lang="en" sz="2000" dirty="0">
                <a:solidFill>
                  <a:schemeClr val="dk1"/>
                </a:solidFill>
              </a:rPr>
              <a:t>Group No: B8</a:t>
            </a:r>
            <a:endParaRPr sz="2000" dirty="0">
              <a:solidFill>
                <a:schemeClr val="dk1"/>
              </a:solidFill>
            </a:endParaRPr>
          </a:p>
          <a:p>
            <a:pPr marL="0" lvl="0" indent="0" algn="l" rtl="0">
              <a:lnSpc>
                <a:spcPct val="115000"/>
              </a:lnSpc>
              <a:spcBef>
                <a:spcPts val="0"/>
              </a:spcBef>
              <a:spcAft>
                <a:spcPts val="0"/>
              </a:spcAft>
              <a:buNone/>
            </a:pPr>
            <a:r>
              <a:rPr lang="en" sz="1200" dirty="0">
                <a:solidFill>
                  <a:schemeClr val="dk1"/>
                </a:solidFill>
              </a:rPr>
              <a:t>ID: 202114041 – Mayesha Tasnim</a:t>
            </a:r>
            <a:br>
              <a:rPr lang="en" sz="1200" dirty="0">
                <a:solidFill>
                  <a:schemeClr val="dk1"/>
                </a:solidFill>
              </a:rPr>
            </a:br>
            <a:r>
              <a:rPr lang="en" sz="1200" dirty="0">
                <a:solidFill>
                  <a:schemeClr val="dk1"/>
                </a:solidFill>
              </a:rPr>
              <a:t>     202114081 – S. M. Nafis Ahmed</a:t>
            </a:r>
          </a:p>
          <a:p>
            <a:pPr marL="0" lvl="0" indent="0" algn="l" rtl="0">
              <a:lnSpc>
                <a:spcPct val="115000"/>
              </a:lnSpc>
              <a:spcBef>
                <a:spcPts val="0"/>
              </a:spcBef>
              <a:spcAft>
                <a:spcPts val="0"/>
              </a:spcAft>
              <a:buNone/>
            </a:pPr>
            <a:r>
              <a:rPr lang="en" sz="1200" dirty="0">
                <a:solidFill>
                  <a:schemeClr val="dk1"/>
                </a:solidFill>
              </a:rPr>
              <a:t>     202114084 – Sadia Bintay Mostafiz</a:t>
            </a:r>
          </a:p>
          <a:p>
            <a:pPr marL="0" lvl="0" indent="0" algn="l" rtl="0">
              <a:lnSpc>
                <a:spcPct val="115000"/>
              </a:lnSpc>
              <a:spcBef>
                <a:spcPts val="0"/>
              </a:spcBef>
              <a:spcAft>
                <a:spcPts val="0"/>
              </a:spcAft>
              <a:buNone/>
            </a:pPr>
            <a:r>
              <a:rPr lang="en" sz="1200" dirty="0">
                <a:solidFill>
                  <a:schemeClr val="dk1"/>
                </a:solidFill>
              </a:rPr>
              <a:t>     202114094 – Shohanur Rahman Shovo</a:t>
            </a:r>
          </a:p>
        </p:txBody>
      </p:sp>
      <p:sp>
        <p:nvSpPr>
          <p:cNvPr id="131" name="Google Shape;131;p18"/>
          <p:cNvSpPr txBox="1"/>
          <p:nvPr/>
        </p:nvSpPr>
        <p:spPr>
          <a:xfrm>
            <a:off x="5340275" y="3478875"/>
            <a:ext cx="2966700" cy="184816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dirty="0">
                <a:solidFill>
                  <a:schemeClr val="dk1"/>
                </a:solidFill>
              </a:rPr>
              <a:t>Presented To</a:t>
            </a:r>
          </a:p>
          <a:p>
            <a:pPr marL="0" lvl="0" indent="0" algn="l" rtl="0">
              <a:lnSpc>
                <a:spcPct val="115000"/>
              </a:lnSpc>
              <a:spcBef>
                <a:spcPts val="0"/>
              </a:spcBef>
              <a:spcAft>
                <a:spcPts val="0"/>
              </a:spcAft>
              <a:buNone/>
            </a:pPr>
            <a:r>
              <a:rPr lang="en-US" sz="1800" b="0" i="0" u="none" strike="noStrike" dirty="0">
                <a:solidFill>
                  <a:srgbClr val="000000"/>
                </a:solidFill>
                <a:effectLst/>
                <a:latin typeface="Times New Roman" panose="02020603050405020304" pitchFamily="18" charset="0"/>
              </a:rPr>
              <a:t>Dr. Md </a:t>
            </a:r>
            <a:r>
              <a:rPr lang="en-US" sz="1800" b="0" i="0" u="none" strike="noStrike" dirty="0" err="1">
                <a:solidFill>
                  <a:srgbClr val="000000"/>
                </a:solidFill>
                <a:effectLst/>
                <a:latin typeface="Times New Roman" panose="02020603050405020304" pitchFamily="18" charset="0"/>
              </a:rPr>
              <a:t>Akhtaruzzaman</a:t>
            </a:r>
            <a:br>
              <a:rPr lang="en-US" sz="1800" dirty="0">
                <a:latin typeface="Times New Roman" panose="02020603050405020304" pitchFamily="18" charset="0"/>
              </a:rPr>
            </a:br>
            <a:r>
              <a:rPr lang="en-US" sz="1800" b="0" i="0" u="none" strike="noStrike" dirty="0">
                <a:solidFill>
                  <a:srgbClr val="000000"/>
                </a:solidFill>
                <a:effectLst/>
                <a:latin typeface="Times New Roman" panose="02020603050405020304" pitchFamily="18" charset="0"/>
              </a:rPr>
              <a:t>Dr. Nusrat </a:t>
            </a:r>
            <a:r>
              <a:rPr lang="en-US" sz="1800" b="0" i="0" u="none" strike="noStrike" dirty="0" err="1">
                <a:solidFill>
                  <a:srgbClr val="000000"/>
                </a:solidFill>
                <a:effectLst/>
                <a:latin typeface="Times New Roman" panose="02020603050405020304" pitchFamily="18" charset="0"/>
              </a:rPr>
              <a:t>Sharmin</a:t>
            </a:r>
            <a:br>
              <a:rPr lang="en-US" sz="1800" dirty="0">
                <a:latin typeface="Times New Roman" panose="02020603050405020304" pitchFamily="18" charset="0"/>
              </a:rPr>
            </a:br>
            <a:r>
              <a:rPr lang="en-US" sz="1800" b="0" i="0" u="none" strike="noStrike" dirty="0" err="1">
                <a:solidFill>
                  <a:srgbClr val="000000"/>
                </a:solidFill>
                <a:effectLst/>
                <a:latin typeface="Times New Roman" panose="02020603050405020304" pitchFamily="18" charset="0"/>
              </a:rPr>
              <a:t>Fairooz</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Tasnia</a:t>
            </a:r>
            <a:endParaRPr sz="2000" b="1" dirty="0">
              <a:solidFill>
                <a:schemeClr val="dk1"/>
              </a:solidFill>
            </a:endParaRPr>
          </a:p>
          <a:p>
            <a:pPr marL="0" lvl="0" indent="0" algn="l" rtl="0">
              <a:lnSpc>
                <a:spcPct val="115000"/>
              </a:lnSpc>
              <a:spcBef>
                <a:spcPts val="0"/>
              </a:spcBef>
              <a:spcAft>
                <a:spcPts val="0"/>
              </a:spcAft>
              <a:buNone/>
            </a:pPr>
            <a:endParaRPr sz="2000" dirty="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9"/>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a:solidFill>
                  <a:srgbClr val="002060"/>
                </a:solidFill>
                <a:latin typeface="Calibri"/>
                <a:ea typeface="Calibri"/>
                <a:cs typeface="Calibri"/>
                <a:sym typeface="Calibri"/>
              </a:rPr>
              <a:t>Outline of Presentation</a:t>
            </a:r>
            <a:endParaRPr/>
          </a:p>
        </p:txBody>
      </p:sp>
      <p:sp>
        <p:nvSpPr>
          <p:cNvPr id="137" name="Google Shape;137;p19"/>
          <p:cNvSpPr txBox="1"/>
          <p:nvPr/>
        </p:nvSpPr>
        <p:spPr>
          <a:xfrm>
            <a:off x="130475" y="789000"/>
            <a:ext cx="9144000" cy="3922582"/>
          </a:xfrm>
          <a:prstGeom prst="rect">
            <a:avLst/>
          </a:prstGeom>
          <a:noFill/>
          <a:ln>
            <a:noFill/>
          </a:ln>
        </p:spPr>
        <p:txBody>
          <a:bodyPr spcFirstLastPara="1" wrap="square" lIns="91425" tIns="91425" rIns="91425" bIns="91425" anchor="t" anchorCtr="0">
            <a:spAutoFit/>
          </a:bodyPr>
          <a:lstStyle/>
          <a:p>
            <a:pPr marL="457200" lvl="0" indent="-457200" algn="l" rtl="0">
              <a:lnSpc>
                <a:spcPct val="115000"/>
              </a:lnSpc>
              <a:spcBef>
                <a:spcPts val="300"/>
              </a:spcBef>
              <a:spcAft>
                <a:spcPts val="0"/>
              </a:spcAft>
              <a:buFont typeface="Arial" panose="020B0604020202020204" pitchFamily="34" charset="0"/>
              <a:buChar char="•"/>
            </a:pPr>
            <a:r>
              <a:rPr lang="en" sz="2800" dirty="0">
                <a:solidFill>
                  <a:schemeClr val="dk1"/>
                </a:solidFill>
                <a:latin typeface="Calibri"/>
                <a:ea typeface="Calibri"/>
                <a:cs typeface="Calibri"/>
                <a:sym typeface="Calibri"/>
              </a:rPr>
              <a:t>Introduction</a:t>
            </a:r>
            <a:endParaRPr sz="2800" dirty="0">
              <a:solidFill>
                <a:schemeClr val="dk1"/>
              </a:solidFill>
              <a:latin typeface="Calibri"/>
              <a:ea typeface="Calibri"/>
              <a:cs typeface="Calibri"/>
              <a:sym typeface="Calibri"/>
            </a:endParaRPr>
          </a:p>
          <a:p>
            <a:pPr marL="457200" lvl="0" indent="-457200" algn="l" rtl="0">
              <a:lnSpc>
                <a:spcPct val="115000"/>
              </a:lnSpc>
              <a:spcBef>
                <a:spcPts val="300"/>
              </a:spcBef>
              <a:spcAft>
                <a:spcPts val="0"/>
              </a:spcAft>
              <a:buFont typeface="Arial" panose="020B0604020202020204" pitchFamily="34" charset="0"/>
              <a:buChar char="•"/>
            </a:pPr>
            <a:r>
              <a:rPr lang="en" sz="2800" dirty="0">
                <a:solidFill>
                  <a:schemeClr val="dk1"/>
                </a:solidFill>
                <a:latin typeface="Calibri"/>
                <a:ea typeface="Calibri"/>
                <a:cs typeface="Calibri"/>
                <a:sym typeface="Calibri"/>
              </a:rPr>
              <a:t>Literature Review</a:t>
            </a:r>
            <a:endParaRPr sz="2800" dirty="0">
              <a:solidFill>
                <a:schemeClr val="dk1"/>
              </a:solidFill>
              <a:latin typeface="Calibri"/>
              <a:ea typeface="Calibri"/>
              <a:cs typeface="Calibri"/>
              <a:sym typeface="Calibri"/>
            </a:endParaRPr>
          </a:p>
          <a:p>
            <a:pPr marL="457200" lvl="0" indent="-457200" algn="l" rtl="0">
              <a:lnSpc>
                <a:spcPct val="115000"/>
              </a:lnSpc>
              <a:spcBef>
                <a:spcPts val="300"/>
              </a:spcBef>
              <a:spcAft>
                <a:spcPts val="0"/>
              </a:spcAft>
              <a:buFont typeface="Arial" panose="020B0604020202020204" pitchFamily="34" charset="0"/>
              <a:buChar char="•"/>
            </a:pPr>
            <a:r>
              <a:rPr lang="en" sz="2800" dirty="0">
                <a:solidFill>
                  <a:schemeClr val="dk1"/>
                </a:solidFill>
                <a:latin typeface="Calibri"/>
                <a:ea typeface="Calibri"/>
                <a:cs typeface="Calibri"/>
                <a:sym typeface="Calibri"/>
              </a:rPr>
              <a:t>Methodology</a:t>
            </a:r>
            <a:endParaRPr sz="2800" dirty="0">
              <a:solidFill>
                <a:schemeClr val="dk1"/>
              </a:solidFill>
              <a:latin typeface="Calibri"/>
              <a:ea typeface="Calibri"/>
              <a:cs typeface="Calibri"/>
              <a:sym typeface="Calibri"/>
            </a:endParaRPr>
          </a:p>
          <a:p>
            <a:pPr marL="457200" lvl="0" indent="-457200" algn="l" rtl="0">
              <a:lnSpc>
                <a:spcPct val="115000"/>
              </a:lnSpc>
              <a:spcBef>
                <a:spcPts val="300"/>
              </a:spcBef>
              <a:spcAft>
                <a:spcPts val="0"/>
              </a:spcAft>
              <a:buFont typeface="Arial" panose="020B0604020202020204" pitchFamily="34" charset="0"/>
              <a:buChar char="•"/>
            </a:pPr>
            <a:r>
              <a:rPr lang="en" sz="2800" dirty="0">
                <a:solidFill>
                  <a:schemeClr val="dk1"/>
                </a:solidFill>
                <a:latin typeface="Calibri"/>
                <a:ea typeface="Calibri"/>
                <a:cs typeface="Calibri"/>
                <a:sym typeface="Calibri"/>
              </a:rPr>
              <a:t>Result and Discussion</a:t>
            </a:r>
          </a:p>
          <a:p>
            <a:pPr marL="457200" lvl="0" indent="-457200" algn="l" rtl="0">
              <a:lnSpc>
                <a:spcPct val="115000"/>
              </a:lnSpc>
              <a:spcBef>
                <a:spcPts val="300"/>
              </a:spcBef>
              <a:spcAft>
                <a:spcPts val="0"/>
              </a:spcAft>
              <a:buFont typeface="Arial" panose="020B0604020202020204" pitchFamily="34" charset="0"/>
              <a:buChar char="•"/>
            </a:pPr>
            <a:r>
              <a:rPr lang="en" sz="2800" dirty="0">
                <a:solidFill>
                  <a:schemeClr val="dk1"/>
                </a:solidFill>
                <a:latin typeface="Calibri"/>
                <a:ea typeface="Calibri"/>
                <a:cs typeface="Calibri"/>
                <a:sym typeface="Calibri"/>
              </a:rPr>
              <a:t>Limitations and Future Work</a:t>
            </a:r>
            <a:endParaRPr sz="2800" dirty="0">
              <a:solidFill>
                <a:schemeClr val="dk1"/>
              </a:solidFill>
              <a:latin typeface="Calibri"/>
              <a:ea typeface="Calibri"/>
              <a:cs typeface="Calibri"/>
              <a:sym typeface="Calibri"/>
            </a:endParaRPr>
          </a:p>
          <a:p>
            <a:pPr marL="457200" lvl="0" indent="-457200" algn="l" rtl="0">
              <a:lnSpc>
                <a:spcPct val="115000"/>
              </a:lnSpc>
              <a:spcBef>
                <a:spcPts val="300"/>
              </a:spcBef>
              <a:spcAft>
                <a:spcPts val="0"/>
              </a:spcAft>
              <a:buFont typeface="Arial" panose="020B0604020202020204" pitchFamily="34" charset="0"/>
              <a:buChar char="•"/>
            </a:pPr>
            <a:r>
              <a:rPr lang="en" sz="2800" dirty="0">
                <a:solidFill>
                  <a:schemeClr val="dk1"/>
                </a:solidFill>
                <a:latin typeface="Calibri"/>
                <a:ea typeface="Calibri"/>
                <a:cs typeface="Calibri"/>
                <a:sym typeface="Calibri"/>
              </a:rPr>
              <a:t>Conclusion</a:t>
            </a:r>
            <a:endParaRPr sz="2800" dirty="0">
              <a:solidFill>
                <a:schemeClr val="dk1"/>
              </a:solidFill>
              <a:latin typeface="Calibri"/>
              <a:ea typeface="Calibri"/>
              <a:cs typeface="Calibri"/>
              <a:sym typeface="Calibri"/>
            </a:endParaRPr>
          </a:p>
          <a:p>
            <a:pPr marL="457200" lvl="0" indent="-457200" algn="l" rtl="0">
              <a:lnSpc>
                <a:spcPct val="115000"/>
              </a:lnSpc>
              <a:spcBef>
                <a:spcPts val="300"/>
              </a:spcBef>
              <a:spcAft>
                <a:spcPts val="0"/>
              </a:spcAft>
              <a:buFont typeface="Arial" panose="020B0604020202020204" pitchFamily="34" charset="0"/>
              <a:buChar char="•"/>
            </a:pPr>
            <a:r>
              <a:rPr lang="en" sz="2800" dirty="0">
                <a:solidFill>
                  <a:schemeClr val="dk1"/>
                </a:solidFill>
                <a:latin typeface="Calibri"/>
                <a:ea typeface="Calibri"/>
                <a:cs typeface="Calibri"/>
                <a:sym typeface="Calibri"/>
              </a:rPr>
              <a:t>Reference</a:t>
            </a:r>
            <a:endParaRPr sz="2800" dirty="0">
              <a:solidFill>
                <a:srgbClr val="297D53"/>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0"/>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dirty="0">
                <a:solidFill>
                  <a:srgbClr val="002060"/>
                </a:solidFill>
                <a:latin typeface="Calibri"/>
                <a:ea typeface="Calibri"/>
                <a:cs typeface="Calibri"/>
                <a:sym typeface="Calibri"/>
              </a:rPr>
              <a:t>Introduction and Objectives</a:t>
            </a:r>
            <a:endParaRPr dirty="0"/>
          </a:p>
        </p:txBody>
      </p:sp>
      <p:sp>
        <p:nvSpPr>
          <p:cNvPr id="143" name="Google Shape;143;p20"/>
          <p:cNvSpPr txBox="1"/>
          <p:nvPr/>
        </p:nvSpPr>
        <p:spPr>
          <a:xfrm>
            <a:off x="292307" y="864314"/>
            <a:ext cx="8650218" cy="3570178"/>
          </a:xfrm>
          <a:prstGeom prst="rect">
            <a:avLst/>
          </a:prstGeom>
          <a:noFill/>
          <a:ln>
            <a:noFill/>
          </a:ln>
        </p:spPr>
        <p:txBody>
          <a:bodyPr spcFirstLastPara="1" wrap="square" lIns="91425" tIns="91425" rIns="91425" bIns="91425" anchor="t" anchorCtr="0">
            <a:spAutoFit/>
          </a:bodyPr>
          <a:lstStyle/>
          <a:p>
            <a:pPr algn="just" rtl="0" fontAlgn="base">
              <a:spcBef>
                <a:spcPts val="0"/>
              </a:spcBef>
              <a:spcAft>
                <a:spcPts val="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Surface-disinfecting robots are autonomous devices designed to sterilize or disinfect floors using UV-C light or chemical sprays. The objectives of our robot are given below:</a:t>
            </a:r>
          </a:p>
          <a:p>
            <a:pPr algn="just" rtl="0" fontAlgn="base">
              <a:spcBef>
                <a:spcPts val="0"/>
              </a:spcBef>
              <a:spcAft>
                <a:spcPts val="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lgn="just"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To develop an indoor line-following mobile robot with obstacle avoidance for safe and efficient navigation. </a:t>
            </a:r>
          </a:p>
          <a:p>
            <a:pPr algn="just"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To integrate safe UV sterilization and vacuum cleaning mechanisms to reduce the spread of infectious microbes. </a:t>
            </a:r>
          </a:p>
          <a:p>
            <a:pPr algn="just"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To integrate an AI-based object detection surveillance system for enhanced monitoring and real-time alerts. </a:t>
            </a:r>
          </a:p>
          <a:p>
            <a:pPr algn="just"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To set up a wireless charging system to charge the robot automatically. </a:t>
            </a:r>
          </a:p>
          <a:p>
            <a:pPr algn="just" rtl="0">
              <a:spcBef>
                <a:spcPts val="1200"/>
              </a:spcBef>
              <a:spcAft>
                <a:spcPts val="0"/>
              </a:spcAft>
            </a:pPr>
            <a:endParaRPr lang="en-US" sz="1200" b="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1"/>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a:solidFill>
                  <a:srgbClr val="002060"/>
                </a:solidFill>
                <a:latin typeface="Calibri"/>
                <a:ea typeface="Calibri"/>
                <a:cs typeface="Calibri"/>
                <a:sym typeface="Calibri"/>
              </a:rPr>
              <a:t>Literature Review </a:t>
            </a:r>
            <a:endParaRPr/>
          </a:p>
        </p:txBody>
      </p:sp>
      <p:graphicFrame>
        <p:nvGraphicFramePr>
          <p:cNvPr id="2" name="Table 1">
            <a:extLst>
              <a:ext uri="{FF2B5EF4-FFF2-40B4-BE49-F238E27FC236}">
                <a16:creationId xmlns:a16="http://schemas.microsoft.com/office/drawing/2014/main" id="{55BD0D86-0697-EC33-9073-FA2CB8943FFC}"/>
              </a:ext>
            </a:extLst>
          </p:cNvPr>
          <p:cNvGraphicFramePr>
            <a:graphicFrameLocks noGrp="1"/>
          </p:cNvGraphicFramePr>
          <p:nvPr>
            <p:extLst>
              <p:ext uri="{D42A27DB-BD31-4B8C-83A1-F6EECF244321}">
                <p14:modId xmlns:p14="http://schemas.microsoft.com/office/powerpoint/2010/main" val="1867901600"/>
              </p:ext>
            </p:extLst>
          </p:nvPr>
        </p:nvGraphicFramePr>
        <p:xfrm>
          <a:off x="389743" y="929390"/>
          <a:ext cx="8552782" cy="3529038"/>
        </p:xfrm>
        <a:graphic>
          <a:graphicData uri="http://schemas.openxmlformats.org/drawingml/2006/table">
            <a:tbl>
              <a:tblPr firstRow="1" bandRow="1">
                <a:tableStyleId>{5C22544A-7EE6-4342-B048-85BDC9FD1C3A}</a:tableStyleId>
              </a:tblPr>
              <a:tblGrid>
                <a:gridCol w="630317">
                  <a:extLst>
                    <a:ext uri="{9D8B030D-6E8A-4147-A177-3AD203B41FA5}">
                      <a16:colId xmlns:a16="http://schemas.microsoft.com/office/drawing/2014/main" val="900921965"/>
                    </a:ext>
                  </a:extLst>
                </a:gridCol>
                <a:gridCol w="1584493">
                  <a:extLst>
                    <a:ext uri="{9D8B030D-6E8A-4147-A177-3AD203B41FA5}">
                      <a16:colId xmlns:a16="http://schemas.microsoft.com/office/drawing/2014/main" val="968046841"/>
                    </a:ext>
                  </a:extLst>
                </a:gridCol>
                <a:gridCol w="1584493">
                  <a:extLst>
                    <a:ext uri="{9D8B030D-6E8A-4147-A177-3AD203B41FA5}">
                      <a16:colId xmlns:a16="http://schemas.microsoft.com/office/drawing/2014/main" val="439557461"/>
                    </a:ext>
                  </a:extLst>
                </a:gridCol>
                <a:gridCol w="1584493">
                  <a:extLst>
                    <a:ext uri="{9D8B030D-6E8A-4147-A177-3AD203B41FA5}">
                      <a16:colId xmlns:a16="http://schemas.microsoft.com/office/drawing/2014/main" val="2011918604"/>
                    </a:ext>
                  </a:extLst>
                </a:gridCol>
                <a:gridCol w="1584493">
                  <a:extLst>
                    <a:ext uri="{9D8B030D-6E8A-4147-A177-3AD203B41FA5}">
                      <a16:colId xmlns:a16="http://schemas.microsoft.com/office/drawing/2014/main" val="2426058369"/>
                    </a:ext>
                  </a:extLst>
                </a:gridCol>
                <a:gridCol w="1584493">
                  <a:extLst>
                    <a:ext uri="{9D8B030D-6E8A-4147-A177-3AD203B41FA5}">
                      <a16:colId xmlns:a16="http://schemas.microsoft.com/office/drawing/2014/main" val="973956415"/>
                    </a:ext>
                  </a:extLst>
                </a:gridCol>
              </a:tblGrid>
              <a:tr h="653758">
                <a:tc>
                  <a:txBody>
                    <a:bodyPr/>
                    <a:lstStyle/>
                    <a:p>
                      <a:pPr rtl="0"/>
                      <a:r>
                        <a:rPr lang="en-US" sz="1400" b="1" i="0" u="none" strike="noStrike" cap="none" dirty="0">
                          <a:solidFill>
                            <a:schemeClr val="lt1"/>
                          </a:solidFill>
                          <a:effectLst/>
                          <a:latin typeface="+mn-lt"/>
                          <a:ea typeface="+mn-ea"/>
                          <a:cs typeface="+mn-cs"/>
                          <a:sym typeface="Arial"/>
                        </a:rPr>
                        <a:t>Ref.</a:t>
                      </a:r>
                      <a:endParaRPr lang="en-US" b="0" dirty="0">
                        <a:effectLst/>
                      </a:endParaRPr>
                    </a:p>
                  </a:txBody>
                  <a:tcPr/>
                </a:tc>
                <a:tc>
                  <a:txBody>
                    <a:bodyPr/>
                    <a:lstStyle/>
                    <a:p>
                      <a:r>
                        <a:rPr lang="en-US" sz="1400" b="1" i="0" u="none" strike="noStrike" cap="none" dirty="0">
                          <a:solidFill>
                            <a:schemeClr val="lt1"/>
                          </a:solidFill>
                          <a:effectLst/>
                          <a:latin typeface="+mn-lt"/>
                          <a:ea typeface="+mn-ea"/>
                          <a:cs typeface="+mn-cs"/>
                          <a:sym typeface="Arial"/>
                        </a:rPr>
                        <a:t>Paper Name</a:t>
                      </a:r>
                      <a:endParaRPr lang="en-US" dirty="0"/>
                    </a:p>
                  </a:txBody>
                  <a:tcPr/>
                </a:tc>
                <a:tc>
                  <a:txBody>
                    <a:bodyPr/>
                    <a:lstStyle/>
                    <a:p>
                      <a:r>
                        <a:rPr lang="en-US" sz="1400" b="1" i="0" u="none" strike="noStrike" cap="none" dirty="0">
                          <a:solidFill>
                            <a:schemeClr val="lt1"/>
                          </a:solidFill>
                          <a:effectLst/>
                          <a:latin typeface="+mn-lt"/>
                          <a:ea typeface="+mn-ea"/>
                          <a:cs typeface="+mn-cs"/>
                          <a:sym typeface="Arial"/>
                        </a:rPr>
                        <a:t>Contributions</a:t>
                      </a:r>
                      <a:endParaRPr lang="en-US" dirty="0"/>
                    </a:p>
                  </a:txBody>
                  <a:tcPr/>
                </a:tc>
                <a:tc>
                  <a:txBody>
                    <a:bodyPr/>
                    <a:lstStyle/>
                    <a:p>
                      <a:r>
                        <a:rPr lang="en-US" sz="1400" b="1" i="0" u="none" strike="noStrike" cap="none" dirty="0">
                          <a:solidFill>
                            <a:schemeClr val="lt1"/>
                          </a:solidFill>
                          <a:effectLst/>
                          <a:latin typeface="+mn-lt"/>
                          <a:ea typeface="+mn-ea"/>
                          <a:cs typeface="+mn-cs"/>
                          <a:sym typeface="Arial"/>
                        </a:rPr>
                        <a:t>Methodology</a:t>
                      </a:r>
                      <a:endParaRPr lang="en-US" dirty="0"/>
                    </a:p>
                  </a:txBody>
                  <a:tcPr/>
                </a:tc>
                <a:tc>
                  <a:txBody>
                    <a:bodyPr/>
                    <a:lstStyle/>
                    <a:p>
                      <a:r>
                        <a:rPr lang="en-US" sz="1400" b="1" i="0" u="none" strike="noStrike" cap="none" dirty="0">
                          <a:solidFill>
                            <a:schemeClr val="lt1"/>
                          </a:solidFill>
                          <a:effectLst/>
                          <a:latin typeface="+mn-lt"/>
                          <a:ea typeface="+mn-ea"/>
                          <a:cs typeface="+mn-cs"/>
                          <a:sym typeface="Arial"/>
                        </a:rPr>
                        <a:t>Experimental Result</a:t>
                      </a:r>
                      <a:endParaRPr lang="en-US" dirty="0"/>
                    </a:p>
                  </a:txBody>
                  <a:tcPr/>
                </a:tc>
                <a:tc>
                  <a:txBody>
                    <a:bodyPr/>
                    <a:lstStyle/>
                    <a:p>
                      <a:r>
                        <a:rPr lang="en-US" sz="1400" b="1" i="0" u="none" strike="noStrike" cap="none" dirty="0">
                          <a:solidFill>
                            <a:schemeClr val="lt1"/>
                          </a:solidFill>
                          <a:effectLst/>
                          <a:latin typeface="+mn-lt"/>
                          <a:ea typeface="+mn-ea"/>
                          <a:cs typeface="+mn-cs"/>
                          <a:sym typeface="Arial"/>
                        </a:rPr>
                        <a:t>Limitation</a:t>
                      </a:r>
                      <a:endParaRPr lang="en-US" dirty="0"/>
                    </a:p>
                  </a:txBody>
                  <a:tcPr/>
                </a:tc>
                <a:extLst>
                  <a:ext uri="{0D108BD9-81ED-4DB2-BD59-A6C34878D82A}">
                    <a16:rowId xmlns:a16="http://schemas.microsoft.com/office/drawing/2014/main" val="71704877"/>
                  </a:ext>
                </a:extLst>
              </a:tr>
              <a:tr h="1442198">
                <a:tc>
                  <a:txBody>
                    <a:bodyPr/>
                    <a:lstStyle/>
                    <a:p>
                      <a:pPr algn="ctr" rtl="0" fontAlgn="t">
                        <a:spcBef>
                          <a:spcPts val="0"/>
                        </a:spcBef>
                        <a:spcAft>
                          <a:spcPts val="0"/>
                        </a:spcAft>
                      </a:pPr>
                      <a:r>
                        <a:rPr lang="en-US" sz="1200" b="0" i="0" u="none" strike="noStrike" dirty="0">
                          <a:solidFill>
                            <a:srgbClr val="000000"/>
                          </a:solidFill>
                          <a:effectLst/>
                          <a:latin typeface="Times New Roman" panose="02020603050405020304" pitchFamily="18" charset="0"/>
                        </a:rPr>
                        <a:t>[1]</a:t>
                      </a:r>
                      <a:endParaRPr lang="en-US" dirty="0">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Exploring the Applicability of</a:t>
                      </a:r>
                      <a:endParaRPr lang="en-US">
                        <a:effectLst/>
                      </a:endParaRPr>
                    </a:p>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Robot-Assisted UV Disinfection in</a:t>
                      </a:r>
                      <a:endParaRPr lang="en-US">
                        <a:effectLst/>
                      </a:endParaRPr>
                    </a:p>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Radiology.</a:t>
                      </a:r>
                      <a:endParaRPr lang="en-US">
                        <a:effectLst/>
                      </a:endParaRPr>
                    </a:p>
                    <a:p>
                      <a:pPr algn="just" rtl="0" fontAlgn="t">
                        <a:spcBef>
                          <a:spcPts val="0"/>
                        </a:spcBef>
                        <a:spcAft>
                          <a:spcPts val="1700"/>
                        </a:spcAft>
                      </a:pPr>
                      <a:br>
                        <a:rPr lang="en-US">
                          <a:effectLst/>
                        </a:rPr>
                      </a:b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Evaluated germicidal effectiveness of a UVGI robot in hospital settings.</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The germicidal effectiveness was examined at two hospital sites, with surfaces divided into eight 1 × 1 cm squares for sampling.</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On the 2 surfaces, UVGI reduced microbial load by 84\% and 95\%. </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dirty="0">
                          <a:solidFill>
                            <a:srgbClr val="000000"/>
                          </a:solidFill>
                          <a:effectLst/>
                          <a:latin typeface="Times New Roman" panose="02020603050405020304" pitchFamily="18" charset="0"/>
                        </a:rPr>
                        <a:t>No precautions were taken to protect against UV exposure while it is in proximity to human activity.</a:t>
                      </a:r>
                      <a:endParaRPr lang="en-US" dirty="0">
                        <a:effectLst/>
                      </a:endParaRPr>
                    </a:p>
                  </a:txBody>
                  <a:tcPr marL="63500" marR="63500" marT="63500" marB="63500"/>
                </a:tc>
                <a:extLst>
                  <a:ext uri="{0D108BD9-81ED-4DB2-BD59-A6C34878D82A}">
                    <a16:rowId xmlns:a16="http://schemas.microsoft.com/office/drawing/2014/main" val="4176276513"/>
                  </a:ext>
                </a:extLst>
              </a:tr>
              <a:tr h="331418">
                <a:tc>
                  <a:txBody>
                    <a:bodyPr/>
                    <a:lstStyle/>
                    <a:p>
                      <a:pPr algn="ctr" rtl="0" fontAlgn="t">
                        <a:spcBef>
                          <a:spcPts val="0"/>
                        </a:spcBef>
                        <a:spcAft>
                          <a:spcPts val="0"/>
                        </a:spcAft>
                      </a:pPr>
                      <a:r>
                        <a:rPr lang="en-US" sz="1200" b="0" i="0" u="none" strike="noStrike" dirty="0">
                          <a:solidFill>
                            <a:srgbClr val="000000"/>
                          </a:solidFill>
                          <a:effectLst/>
                          <a:latin typeface="Times New Roman" panose="02020603050405020304" pitchFamily="18" charset="0"/>
                        </a:rPr>
                        <a:t>[2]</a:t>
                      </a:r>
                      <a:endParaRPr lang="en-US" dirty="0">
                        <a:effectLst/>
                      </a:endParaRPr>
                    </a:p>
                  </a:txBody>
                  <a:tcPr marL="63500" marR="63500" marT="63500" marB="63500"/>
                </a:tc>
                <a:tc>
                  <a:txBody>
                    <a:bodyPr/>
                    <a:lstStyle/>
                    <a:p>
                      <a:pPr algn="just" rtl="0" fontAlgn="t">
                        <a:spcBef>
                          <a:spcPts val="0"/>
                        </a:spcBef>
                        <a:spcAft>
                          <a:spcPts val="0"/>
                        </a:spcAft>
                      </a:pPr>
                      <a:r>
                        <a:rPr lang="en-US" sz="1200" b="0" i="0" u="none" strike="noStrike" dirty="0">
                          <a:solidFill>
                            <a:srgbClr val="000000"/>
                          </a:solidFill>
                          <a:effectLst/>
                          <a:latin typeface="Times New Roman" panose="02020603050405020304" pitchFamily="18" charset="0"/>
                        </a:rPr>
                        <a:t>UVC-PURGE: A Novel Cost-Effective Disinfection Robot for Combating COVID-19 Pandemic.</a:t>
                      </a:r>
                      <a:endParaRPr lang="en-US" dirty="0">
                        <a:effectLst/>
                      </a:endParaRPr>
                    </a:p>
                  </a:txBody>
                  <a:tcPr marL="63500" marR="63500" marT="63500" marB="63500"/>
                </a:tc>
                <a:tc>
                  <a:txBody>
                    <a:bodyPr/>
                    <a:lstStyle/>
                    <a:p>
                      <a:pPr algn="just" rtl="0" fontAlgn="t">
                        <a:spcBef>
                          <a:spcPts val="0"/>
                        </a:spcBef>
                        <a:spcAft>
                          <a:spcPts val="0"/>
                        </a:spcAft>
                      </a:pPr>
                      <a:r>
                        <a:rPr lang="en-US" sz="1200" b="0" i="0" u="none" strike="noStrike" dirty="0">
                          <a:solidFill>
                            <a:srgbClr val="000000"/>
                          </a:solidFill>
                          <a:effectLst/>
                          <a:latin typeface="Times New Roman" panose="02020603050405020304" pitchFamily="18" charset="0"/>
                        </a:rPr>
                        <a:t>Semi-autonomous UVC disinfection robot, focusing on cost-effectiveness and SARS-CoV-2 inactivation during covid.</a:t>
                      </a:r>
                      <a:endParaRPr lang="en-US" dirty="0">
                        <a:effectLst/>
                      </a:endParaRPr>
                    </a:p>
                  </a:txBody>
                  <a:tcPr marL="63500" marR="63500" marT="63500" marB="63500"/>
                </a:tc>
                <a:tc>
                  <a:txBody>
                    <a:bodyPr/>
                    <a:lstStyle/>
                    <a:p>
                      <a:pPr algn="just" rtl="0" fontAlgn="t">
                        <a:spcBef>
                          <a:spcPts val="0"/>
                        </a:spcBef>
                        <a:spcAft>
                          <a:spcPts val="0"/>
                        </a:spcAft>
                      </a:pPr>
                      <a:r>
                        <a:rPr lang="en-US" sz="1200" b="0" i="0" u="none" strike="noStrike" dirty="0">
                          <a:solidFill>
                            <a:srgbClr val="000000"/>
                          </a:solidFill>
                          <a:effectLst/>
                          <a:latin typeface="Times New Roman" panose="02020603050405020304" pitchFamily="18" charset="0"/>
                        </a:rPr>
                        <a:t>Evaluated in a two-phase study:</a:t>
                      </a:r>
                      <a:endParaRPr lang="en-US" dirty="0">
                        <a:effectLst/>
                      </a:endParaRPr>
                    </a:p>
                    <a:p>
                      <a:pPr algn="just" rtl="0" fontAlgn="t">
                        <a:spcBef>
                          <a:spcPts val="0"/>
                        </a:spcBef>
                        <a:spcAft>
                          <a:spcPts val="0"/>
                        </a:spcAft>
                      </a:pPr>
                      <a:r>
                        <a:rPr lang="en-US" sz="1200" b="1" i="0" u="none" strike="noStrike" dirty="0">
                          <a:solidFill>
                            <a:srgbClr val="000000"/>
                          </a:solidFill>
                          <a:effectLst/>
                          <a:latin typeface="Times New Roman" panose="02020603050405020304" pitchFamily="18" charset="0"/>
                        </a:rPr>
                        <a:t>e</a:t>
                      </a:r>
                      <a:r>
                        <a:rPr lang="en-US" sz="1200" b="0" i="0" u="none" strike="noStrike" dirty="0">
                          <a:solidFill>
                            <a:srgbClr val="000000"/>
                          </a:solidFill>
                          <a:effectLst/>
                          <a:latin typeface="Times New Roman" panose="02020603050405020304" pitchFamily="18" charset="0"/>
                        </a:rPr>
                        <a:t>ffectiveness in inactivating the SARS-CoV-2 virus and robot's usability through user feedback.</a:t>
                      </a:r>
                      <a:endParaRPr lang="en-US" dirty="0">
                        <a:effectLst/>
                      </a:endParaRPr>
                    </a:p>
                  </a:txBody>
                  <a:tcPr marL="63500" marR="63500" marT="63500" marB="63500"/>
                </a:tc>
                <a:tc>
                  <a:txBody>
                    <a:bodyPr/>
                    <a:lstStyle/>
                    <a:p>
                      <a:pPr algn="just" rtl="0" fontAlgn="t">
                        <a:spcBef>
                          <a:spcPts val="0"/>
                        </a:spcBef>
                        <a:spcAft>
                          <a:spcPts val="0"/>
                        </a:spcAft>
                      </a:pPr>
                      <a:r>
                        <a:rPr lang="en-US" sz="1200" b="0" i="0" u="none" strike="noStrike" dirty="0">
                          <a:solidFill>
                            <a:srgbClr val="000000"/>
                          </a:solidFill>
                          <a:effectLst/>
                          <a:latin typeface="Times New Roman" panose="02020603050405020304" pitchFamily="18" charset="0"/>
                        </a:rPr>
                        <a:t>The above-average score of 81.91\% is based on user feedback.</a:t>
                      </a:r>
                      <a:endParaRPr lang="en-US" dirty="0">
                        <a:effectLst/>
                      </a:endParaRPr>
                    </a:p>
                  </a:txBody>
                  <a:tcPr marL="63500" marR="63500" marT="63500" marB="63500"/>
                </a:tc>
                <a:tc>
                  <a:txBody>
                    <a:bodyPr/>
                    <a:lstStyle/>
                    <a:p>
                      <a:pPr algn="just" rtl="0" fontAlgn="t">
                        <a:spcBef>
                          <a:spcPts val="0"/>
                        </a:spcBef>
                        <a:spcAft>
                          <a:spcPts val="0"/>
                        </a:spcAft>
                      </a:pPr>
                      <a:r>
                        <a:rPr lang="en-US" sz="1200" b="0" i="0" u="none" strike="noStrike" dirty="0">
                          <a:solidFill>
                            <a:srgbClr val="000000"/>
                          </a:solidFill>
                          <a:effectLst/>
                          <a:latin typeface="Times New Roman" panose="02020603050405020304" pitchFamily="18" charset="0"/>
                        </a:rPr>
                        <a:t>No measures were taken to shield against UV exposure while it was near humans.</a:t>
                      </a:r>
                      <a:endParaRPr lang="en-US" dirty="0">
                        <a:effectLst/>
                      </a:endParaRPr>
                    </a:p>
                  </a:txBody>
                  <a:tcPr marL="63500" marR="63500" marT="63500" marB="63500"/>
                </a:tc>
                <a:extLst>
                  <a:ext uri="{0D108BD9-81ED-4DB2-BD59-A6C34878D82A}">
                    <a16:rowId xmlns:a16="http://schemas.microsoft.com/office/drawing/2014/main" val="126774450"/>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1"/>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a:solidFill>
                  <a:srgbClr val="002060"/>
                </a:solidFill>
                <a:latin typeface="Calibri"/>
                <a:ea typeface="Calibri"/>
                <a:cs typeface="Calibri"/>
                <a:sym typeface="Calibri"/>
              </a:rPr>
              <a:t>Literature Review </a:t>
            </a:r>
            <a:endParaRPr/>
          </a:p>
        </p:txBody>
      </p:sp>
      <p:graphicFrame>
        <p:nvGraphicFramePr>
          <p:cNvPr id="2" name="Table 1">
            <a:extLst>
              <a:ext uri="{FF2B5EF4-FFF2-40B4-BE49-F238E27FC236}">
                <a16:creationId xmlns:a16="http://schemas.microsoft.com/office/drawing/2014/main" id="{55BD0D86-0697-EC33-9073-FA2CB8943FFC}"/>
              </a:ext>
            </a:extLst>
          </p:cNvPr>
          <p:cNvGraphicFramePr>
            <a:graphicFrameLocks noGrp="1"/>
          </p:cNvGraphicFramePr>
          <p:nvPr>
            <p:extLst>
              <p:ext uri="{D42A27DB-BD31-4B8C-83A1-F6EECF244321}">
                <p14:modId xmlns:p14="http://schemas.microsoft.com/office/powerpoint/2010/main" val="3100035480"/>
              </p:ext>
            </p:extLst>
          </p:nvPr>
        </p:nvGraphicFramePr>
        <p:xfrm>
          <a:off x="389743" y="929390"/>
          <a:ext cx="8552782" cy="3960316"/>
        </p:xfrm>
        <a:graphic>
          <a:graphicData uri="http://schemas.openxmlformats.org/drawingml/2006/table">
            <a:tbl>
              <a:tblPr firstRow="1" bandRow="1">
                <a:tableStyleId>{5C22544A-7EE6-4342-B048-85BDC9FD1C3A}</a:tableStyleId>
              </a:tblPr>
              <a:tblGrid>
                <a:gridCol w="630317">
                  <a:extLst>
                    <a:ext uri="{9D8B030D-6E8A-4147-A177-3AD203B41FA5}">
                      <a16:colId xmlns:a16="http://schemas.microsoft.com/office/drawing/2014/main" val="900921965"/>
                    </a:ext>
                  </a:extLst>
                </a:gridCol>
                <a:gridCol w="1584493">
                  <a:extLst>
                    <a:ext uri="{9D8B030D-6E8A-4147-A177-3AD203B41FA5}">
                      <a16:colId xmlns:a16="http://schemas.microsoft.com/office/drawing/2014/main" val="968046841"/>
                    </a:ext>
                  </a:extLst>
                </a:gridCol>
                <a:gridCol w="1584493">
                  <a:extLst>
                    <a:ext uri="{9D8B030D-6E8A-4147-A177-3AD203B41FA5}">
                      <a16:colId xmlns:a16="http://schemas.microsoft.com/office/drawing/2014/main" val="439557461"/>
                    </a:ext>
                  </a:extLst>
                </a:gridCol>
                <a:gridCol w="1584493">
                  <a:extLst>
                    <a:ext uri="{9D8B030D-6E8A-4147-A177-3AD203B41FA5}">
                      <a16:colId xmlns:a16="http://schemas.microsoft.com/office/drawing/2014/main" val="2011918604"/>
                    </a:ext>
                  </a:extLst>
                </a:gridCol>
                <a:gridCol w="1584493">
                  <a:extLst>
                    <a:ext uri="{9D8B030D-6E8A-4147-A177-3AD203B41FA5}">
                      <a16:colId xmlns:a16="http://schemas.microsoft.com/office/drawing/2014/main" val="2426058369"/>
                    </a:ext>
                  </a:extLst>
                </a:gridCol>
                <a:gridCol w="1584493">
                  <a:extLst>
                    <a:ext uri="{9D8B030D-6E8A-4147-A177-3AD203B41FA5}">
                      <a16:colId xmlns:a16="http://schemas.microsoft.com/office/drawing/2014/main" val="973956415"/>
                    </a:ext>
                  </a:extLst>
                </a:gridCol>
              </a:tblGrid>
              <a:tr h="653758">
                <a:tc>
                  <a:txBody>
                    <a:bodyPr/>
                    <a:lstStyle/>
                    <a:p>
                      <a:pPr rtl="0"/>
                      <a:r>
                        <a:rPr lang="en-US" sz="1400" b="1" i="0" u="none" strike="noStrike" cap="none" dirty="0">
                          <a:solidFill>
                            <a:schemeClr val="lt1"/>
                          </a:solidFill>
                          <a:effectLst/>
                          <a:latin typeface="+mn-lt"/>
                          <a:ea typeface="+mn-ea"/>
                          <a:cs typeface="+mn-cs"/>
                          <a:sym typeface="Arial"/>
                        </a:rPr>
                        <a:t>Ref.</a:t>
                      </a:r>
                      <a:endParaRPr lang="en-US" b="0" dirty="0">
                        <a:effectLst/>
                      </a:endParaRPr>
                    </a:p>
                  </a:txBody>
                  <a:tcPr/>
                </a:tc>
                <a:tc>
                  <a:txBody>
                    <a:bodyPr/>
                    <a:lstStyle/>
                    <a:p>
                      <a:r>
                        <a:rPr lang="en-US" sz="1400" b="1" i="0" u="none" strike="noStrike" cap="none" dirty="0">
                          <a:solidFill>
                            <a:schemeClr val="lt1"/>
                          </a:solidFill>
                          <a:effectLst/>
                          <a:latin typeface="+mn-lt"/>
                          <a:ea typeface="+mn-ea"/>
                          <a:cs typeface="+mn-cs"/>
                          <a:sym typeface="Arial"/>
                        </a:rPr>
                        <a:t>Paper Name</a:t>
                      </a:r>
                      <a:endParaRPr lang="en-US" dirty="0"/>
                    </a:p>
                  </a:txBody>
                  <a:tcPr/>
                </a:tc>
                <a:tc>
                  <a:txBody>
                    <a:bodyPr/>
                    <a:lstStyle/>
                    <a:p>
                      <a:r>
                        <a:rPr lang="en-US" sz="1400" b="1" i="0" u="none" strike="noStrike" cap="none" dirty="0">
                          <a:solidFill>
                            <a:schemeClr val="lt1"/>
                          </a:solidFill>
                          <a:effectLst/>
                          <a:latin typeface="+mn-lt"/>
                          <a:ea typeface="+mn-ea"/>
                          <a:cs typeface="+mn-cs"/>
                          <a:sym typeface="Arial"/>
                        </a:rPr>
                        <a:t>Contributions</a:t>
                      </a:r>
                      <a:endParaRPr lang="en-US" dirty="0"/>
                    </a:p>
                  </a:txBody>
                  <a:tcPr/>
                </a:tc>
                <a:tc>
                  <a:txBody>
                    <a:bodyPr/>
                    <a:lstStyle/>
                    <a:p>
                      <a:r>
                        <a:rPr lang="en-US" sz="1400" b="1" i="0" u="none" strike="noStrike" cap="none" dirty="0">
                          <a:solidFill>
                            <a:schemeClr val="lt1"/>
                          </a:solidFill>
                          <a:effectLst/>
                          <a:latin typeface="+mn-lt"/>
                          <a:ea typeface="+mn-ea"/>
                          <a:cs typeface="+mn-cs"/>
                          <a:sym typeface="Arial"/>
                        </a:rPr>
                        <a:t>Methodology</a:t>
                      </a:r>
                      <a:endParaRPr lang="en-US" dirty="0"/>
                    </a:p>
                  </a:txBody>
                  <a:tcPr/>
                </a:tc>
                <a:tc>
                  <a:txBody>
                    <a:bodyPr/>
                    <a:lstStyle/>
                    <a:p>
                      <a:r>
                        <a:rPr lang="en-US" sz="1400" b="1" i="0" u="none" strike="noStrike" cap="none" dirty="0">
                          <a:solidFill>
                            <a:schemeClr val="lt1"/>
                          </a:solidFill>
                          <a:effectLst/>
                          <a:latin typeface="+mn-lt"/>
                          <a:ea typeface="+mn-ea"/>
                          <a:cs typeface="+mn-cs"/>
                          <a:sym typeface="Arial"/>
                        </a:rPr>
                        <a:t>Experimental Result</a:t>
                      </a:r>
                      <a:endParaRPr lang="en-US" dirty="0"/>
                    </a:p>
                  </a:txBody>
                  <a:tcPr/>
                </a:tc>
                <a:tc>
                  <a:txBody>
                    <a:bodyPr/>
                    <a:lstStyle/>
                    <a:p>
                      <a:r>
                        <a:rPr lang="en-US" sz="1400" b="1" i="0" u="none" strike="noStrike" cap="none" dirty="0">
                          <a:solidFill>
                            <a:schemeClr val="lt1"/>
                          </a:solidFill>
                          <a:effectLst/>
                          <a:latin typeface="+mn-lt"/>
                          <a:ea typeface="+mn-ea"/>
                          <a:cs typeface="+mn-cs"/>
                          <a:sym typeface="Arial"/>
                        </a:rPr>
                        <a:t>Limitation</a:t>
                      </a:r>
                      <a:endParaRPr lang="en-US" dirty="0"/>
                    </a:p>
                  </a:txBody>
                  <a:tcPr/>
                </a:tc>
                <a:extLst>
                  <a:ext uri="{0D108BD9-81ED-4DB2-BD59-A6C34878D82A}">
                    <a16:rowId xmlns:a16="http://schemas.microsoft.com/office/drawing/2014/main" val="71704877"/>
                  </a:ext>
                </a:extLst>
              </a:tr>
              <a:tr h="1442198">
                <a:tc>
                  <a:txBody>
                    <a:bodyPr/>
                    <a:lstStyle/>
                    <a:p>
                      <a:pPr algn="ctr" rtl="0" fontAlgn="t">
                        <a:spcBef>
                          <a:spcPts val="0"/>
                        </a:spcBef>
                        <a:spcAft>
                          <a:spcPts val="0"/>
                        </a:spcAft>
                      </a:pPr>
                      <a:r>
                        <a:rPr lang="en-US" sz="1200" b="0" i="0" u="none" strike="noStrike" dirty="0">
                          <a:solidFill>
                            <a:srgbClr val="000000"/>
                          </a:solidFill>
                          <a:effectLst/>
                          <a:latin typeface="Times New Roman" panose="02020603050405020304" pitchFamily="18" charset="0"/>
                        </a:rPr>
                        <a:t>[3]</a:t>
                      </a:r>
                      <a:endParaRPr lang="en-US" dirty="0">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Shuchi 1.0: Robotic System For Automatic Segregation of Waste &amp; Floor Cleaning.</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A domestic cleaning robot with waste segregation and floor cleaning, operating in both manual and automatic modes.</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Operated through an Android application using wireless technology with an ultrasonic sensor and Arduino board to control the movement.</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Based on wet and dry segregation, accuracy was 85%.</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dirty="0">
                          <a:solidFill>
                            <a:srgbClr val="000000"/>
                          </a:solidFill>
                          <a:effectLst/>
                          <a:latin typeface="Times New Roman" panose="02020603050405020304" pitchFamily="18" charset="0"/>
                        </a:rPr>
                        <a:t>No integration of IoT or AI technologies.</a:t>
                      </a:r>
                      <a:endParaRPr lang="en-US" dirty="0">
                        <a:effectLst/>
                      </a:endParaRPr>
                    </a:p>
                    <a:p>
                      <a:pPr fontAlgn="t"/>
                      <a:br>
                        <a:rPr lang="en-US" dirty="0">
                          <a:effectLst/>
                        </a:rPr>
                      </a:br>
                      <a:br>
                        <a:rPr lang="en-US" dirty="0">
                          <a:effectLst/>
                        </a:rPr>
                      </a:br>
                      <a:endParaRPr lang="en-US" dirty="0">
                        <a:effectLst/>
                      </a:endParaRPr>
                    </a:p>
                  </a:txBody>
                  <a:tcPr marL="63500" marR="63500" marT="63500" marB="63500"/>
                </a:tc>
                <a:extLst>
                  <a:ext uri="{0D108BD9-81ED-4DB2-BD59-A6C34878D82A}">
                    <a16:rowId xmlns:a16="http://schemas.microsoft.com/office/drawing/2014/main" val="4176276513"/>
                  </a:ext>
                </a:extLst>
              </a:tr>
              <a:tr h="331418">
                <a:tc>
                  <a:txBody>
                    <a:bodyPr/>
                    <a:lstStyle/>
                    <a:p>
                      <a:pPr algn="ctr" rtl="0" fontAlgn="t">
                        <a:spcBef>
                          <a:spcPts val="0"/>
                        </a:spcBef>
                        <a:spcAft>
                          <a:spcPts val="0"/>
                        </a:spcAft>
                      </a:pPr>
                      <a:r>
                        <a:rPr lang="en-US" sz="1200" b="0" i="0" u="none" strike="noStrike" dirty="0">
                          <a:solidFill>
                            <a:srgbClr val="000000"/>
                          </a:solidFill>
                          <a:effectLst/>
                          <a:latin typeface="Times New Roman" panose="02020603050405020304" pitchFamily="18" charset="0"/>
                        </a:rPr>
                        <a:t>[4]</a:t>
                      </a:r>
                      <a:endParaRPr lang="en-US" dirty="0">
                        <a:effectLst/>
                      </a:endParaRPr>
                    </a:p>
                  </a:txBody>
                  <a:tcPr marL="63500" marR="63500" marT="63500" marB="63500"/>
                </a:tc>
                <a:tc>
                  <a:txBody>
                    <a:bodyPr/>
                    <a:lstStyle/>
                    <a:p>
                      <a:pPr algn="just" rtl="0" fontAlgn="t">
                        <a:spcBef>
                          <a:spcPts val="0"/>
                        </a:spcBef>
                        <a:spcAft>
                          <a:spcPts val="1700"/>
                        </a:spcAft>
                      </a:pPr>
                      <a:r>
                        <a:rPr lang="en-US" sz="1200" b="0" i="0" u="none" strike="noStrike">
                          <a:solidFill>
                            <a:srgbClr val="000000"/>
                          </a:solidFill>
                          <a:effectLst/>
                          <a:latin typeface="Times New Roman" panose="02020603050405020304" pitchFamily="18" charset="0"/>
                        </a:rPr>
                        <a:t>RoboCoV Cleaner: An Indoor Autonomous UV-C Disinfection Robot with Advanced Dual-Safety Systems.</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A UV-C disinfection robot with dual-redundant safety systems (PIR sensors and AI-based cameras)</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Utilized UV-C light for pathogen elimination and included PIR sensors and a 360-degree AI-based object detection camera.</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Dual-redundant safety systems prevented UV-C light exposure, achieved over 90% accuracy.</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dirty="0">
                          <a:solidFill>
                            <a:srgbClr val="000000"/>
                          </a:solidFill>
                          <a:effectLst/>
                          <a:latin typeface="Times New Roman" panose="02020603050405020304" pitchFamily="18" charset="0"/>
                        </a:rPr>
                        <a:t>Autonomous operation is constrained by battery life, necessitating regular recharging or battery replacement.</a:t>
                      </a:r>
                      <a:endParaRPr lang="en-US" dirty="0">
                        <a:effectLst/>
                      </a:endParaRPr>
                    </a:p>
                    <a:p>
                      <a:pPr fontAlgn="t"/>
                      <a:br>
                        <a:rPr lang="en-US" dirty="0">
                          <a:effectLst/>
                        </a:rPr>
                      </a:br>
                      <a:br>
                        <a:rPr lang="en-US" dirty="0">
                          <a:effectLst/>
                        </a:rPr>
                      </a:br>
                      <a:endParaRPr lang="en-US" dirty="0">
                        <a:effectLst/>
                      </a:endParaRPr>
                    </a:p>
                  </a:txBody>
                  <a:tcPr marL="63500" marR="63500" marT="63500" marB="63500"/>
                </a:tc>
                <a:extLst>
                  <a:ext uri="{0D108BD9-81ED-4DB2-BD59-A6C34878D82A}">
                    <a16:rowId xmlns:a16="http://schemas.microsoft.com/office/drawing/2014/main" val="126774450"/>
                  </a:ext>
                </a:extLst>
              </a:tr>
            </a:tbl>
          </a:graphicData>
        </a:graphic>
      </p:graphicFrame>
    </p:spTree>
    <p:extLst>
      <p:ext uri="{BB962C8B-B14F-4D97-AF65-F5344CB8AC3E}">
        <p14:creationId xmlns:p14="http://schemas.microsoft.com/office/powerpoint/2010/main" val="4152124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1"/>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a:solidFill>
                  <a:srgbClr val="002060"/>
                </a:solidFill>
                <a:latin typeface="Calibri"/>
                <a:ea typeface="Calibri"/>
                <a:cs typeface="Calibri"/>
                <a:sym typeface="Calibri"/>
              </a:rPr>
              <a:t>Literature Review </a:t>
            </a:r>
            <a:endParaRPr/>
          </a:p>
        </p:txBody>
      </p:sp>
      <p:graphicFrame>
        <p:nvGraphicFramePr>
          <p:cNvPr id="2" name="Table 1">
            <a:extLst>
              <a:ext uri="{FF2B5EF4-FFF2-40B4-BE49-F238E27FC236}">
                <a16:creationId xmlns:a16="http://schemas.microsoft.com/office/drawing/2014/main" id="{55BD0D86-0697-EC33-9073-FA2CB8943FFC}"/>
              </a:ext>
            </a:extLst>
          </p:cNvPr>
          <p:cNvGraphicFramePr>
            <a:graphicFrameLocks noGrp="1"/>
          </p:cNvGraphicFramePr>
          <p:nvPr>
            <p:extLst>
              <p:ext uri="{D42A27DB-BD31-4B8C-83A1-F6EECF244321}">
                <p14:modId xmlns:p14="http://schemas.microsoft.com/office/powerpoint/2010/main" val="2246767104"/>
              </p:ext>
            </p:extLst>
          </p:nvPr>
        </p:nvGraphicFramePr>
        <p:xfrm>
          <a:off x="389743" y="929390"/>
          <a:ext cx="8552782" cy="3716476"/>
        </p:xfrm>
        <a:graphic>
          <a:graphicData uri="http://schemas.openxmlformats.org/drawingml/2006/table">
            <a:tbl>
              <a:tblPr firstRow="1" bandRow="1">
                <a:tableStyleId>{5C22544A-7EE6-4342-B048-85BDC9FD1C3A}</a:tableStyleId>
              </a:tblPr>
              <a:tblGrid>
                <a:gridCol w="630317">
                  <a:extLst>
                    <a:ext uri="{9D8B030D-6E8A-4147-A177-3AD203B41FA5}">
                      <a16:colId xmlns:a16="http://schemas.microsoft.com/office/drawing/2014/main" val="900921965"/>
                    </a:ext>
                  </a:extLst>
                </a:gridCol>
                <a:gridCol w="1584493">
                  <a:extLst>
                    <a:ext uri="{9D8B030D-6E8A-4147-A177-3AD203B41FA5}">
                      <a16:colId xmlns:a16="http://schemas.microsoft.com/office/drawing/2014/main" val="968046841"/>
                    </a:ext>
                  </a:extLst>
                </a:gridCol>
                <a:gridCol w="1584493">
                  <a:extLst>
                    <a:ext uri="{9D8B030D-6E8A-4147-A177-3AD203B41FA5}">
                      <a16:colId xmlns:a16="http://schemas.microsoft.com/office/drawing/2014/main" val="439557461"/>
                    </a:ext>
                  </a:extLst>
                </a:gridCol>
                <a:gridCol w="1584493">
                  <a:extLst>
                    <a:ext uri="{9D8B030D-6E8A-4147-A177-3AD203B41FA5}">
                      <a16:colId xmlns:a16="http://schemas.microsoft.com/office/drawing/2014/main" val="2011918604"/>
                    </a:ext>
                  </a:extLst>
                </a:gridCol>
                <a:gridCol w="1584493">
                  <a:extLst>
                    <a:ext uri="{9D8B030D-6E8A-4147-A177-3AD203B41FA5}">
                      <a16:colId xmlns:a16="http://schemas.microsoft.com/office/drawing/2014/main" val="2426058369"/>
                    </a:ext>
                  </a:extLst>
                </a:gridCol>
                <a:gridCol w="1584493">
                  <a:extLst>
                    <a:ext uri="{9D8B030D-6E8A-4147-A177-3AD203B41FA5}">
                      <a16:colId xmlns:a16="http://schemas.microsoft.com/office/drawing/2014/main" val="973956415"/>
                    </a:ext>
                  </a:extLst>
                </a:gridCol>
              </a:tblGrid>
              <a:tr h="653758">
                <a:tc>
                  <a:txBody>
                    <a:bodyPr/>
                    <a:lstStyle/>
                    <a:p>
                      <a:pPr rtl="0"/>
                      <a:r>
                        <a:rPr lang="en-US" sz="1400" b="1" i="0" u="none" strike="noStrike" cap="none" dirty="0">
                          <a:solidFill>
                            <a:schemeClr val="lt1"/>
                          </a:solidFill>
                          <a:effectLst/>
                          <a:latin typeface="+mn-lt"/>
                          <a:ea typeface="+mn-ea"/>
                          <a:cs typeface="+mn-cs"/>
                          <a:sym typeface="Arial"/>
                        </a:rPr>
                        <a:t>Ref.</a:t>
                      </a:r>
                      <a:endParaRPr lang="en-US" b="0" dirty="0">
                        <a:effectLst/>
                      </a:endParaRPr>
                    </a:p>
                  </a:txBody>
                  <a:tcPr/>
                </a:tc>
                <a:tc>
                  <a:txBody>
                    <a:bodyPr/>
                    <a:lstStyle/>
                    <a:p>
                      <a:r>
                        <a:rPr lang="en-US" sz="1400" b="1" i="0" u="none" strike="noStrike" cap="none" dirty="0">
                          <a:solidFill>
                            <a:schemeClr val="lt1"/>
                          </a:solidFill>
                          <a:effectLst/>
                          <a:latin typeface="+mn-lt"/>
                          <a:ea typeface="+mn-ea"/>
                          <a:cs typeface="+mn-cs"/>
                          <a:sym typeface="Arial"/>
                        </a:rPr>
                        <a:t>Paper Name</a:t>
                      </a:r>
                      <a:endParaRPr lang="en-US" dirty="0"/>
                    </a:p>
                  </a:txBody>
                  <a:tcPr/>
                </a:tc>
                <a:tc>
                  <a:txBody>
                    <a:bodyPr/>
                    <a:lstStyle/>
                    <a:p>
                      <a:r>
                        <a:rPr lang="en-US" sz="1400" b="1" i="0" u="none" strike="noStrike" cap="none" dirty="0">
                          <a:solidFill>
                            <a:schemeClr val="lt1"/>
                          </a:solidFill>
                          <a:effectLst/>
                          <a:latin typeface="+mn-lt"/>
                          <a:ea typeface="+mn-ea"/>
                          <a:cs typeface="+mn-cs"/>
                          <a:sym typeface="Arial"/>
                        </a:rPr>
                        <a:t>Contributions</a:t>
                      </a:r>
                      <a:endParaRPr lang="en-US" dirty="0"/>
                    </a:p>
                  </a:txBody>
                  <a:tcPr/>
                </a:tc>
                <a:tc>
                  <a:txBody>
                    <a:bodyPr/>
                    <a:lstStyle/>
                    <a:p>
                      <a:r>
                        <a:rPr lang="en-US" sz="1400" b="1" i="0" u="none" strike="noStrike" cap="none" dirty="0">
                          <a:solidFill>
                            <a:schemeClr val="lt1"/>
                          </a:solidFill>
                          <a:effectLst/>
                          <a:latin typeface="+mn-lt"/>
                          <a:ea typeface="+mn-ea"/>
                          <a:cs typeface="+mn-cs"/>
                          <a:sym typeface="Arial"/>
                        </a:rPr>
                        <a:t>Methodology</a:t>
                      </a:r>
                      <a:endParaRPr lang="en-US" dirty="0"/>
                    </a:p>
                  </a:txBody>
                  <a:tcPr/>
                </a:tc>
                <a:tc>
                  <a:txBody>
                    <a:bodyPr/>
                    <a:lstStyle/>
                    <a:p>
                      <a:r>
                        <a:rPr lang="en-US" sz="1400" b="1" i="0" u="none" strike="noStrike" cap="none" dirty="0">
                          <a:solidFill>
                            <a:schemeClr val="lt1"/>
                          </a:solidFill>
                          <a:effectLst/>
                          <a:latin typeface="+mn-lt"/>
                          <a:ea typeface="+mn-ea"/>
                          <a:cs typeface="+mn-cs"/>
                          <a:sym typeface="Arial"/>
                        </a:rPr>
                        <a:t>Experimental Result</a:t>
                      </a:r>
                      <a:endParaRPr lang="en-US" dirty="0"/>
                    </a:p>
                  </a:txBody>
                  <a:tcPr/>
                </a:tc>
                <a:tc>
                  <a:txBody>
                    <a:bodyPr/>
                    <a:lstStyle/>
                    <a:p>
                      <a:r>
                        <a:rPr lang="en-US" sz="1400" b="1" i="0" u="none" strike="noStrike" cap="none" dirty="0">
                          <a:solidFill>
                            <a:schemeClr val="lt1"/>
                          </a:solidFill>
                          <a:effectLst/>
                          <a:latin typeface="+mn-lt"/>
                          <a:ea typeface="+mn-ea"/>
                          <a:cs typeface="+mn-cs"/>
                          <a:sym typeface="Arial"/>
                        </a:rPr>
                        <a:t>Limitation</a:t>
                      </a:r>
                      <a:endParaRPr lang="en-US" dirty="0"/>
                    </a:p>
                  </a:txBody>
                  <a:tcPr/>
                </a:tc>
                <a:extLst>
                  <a:ext uri="{0D108BD9-81ED-4DB2-BD59-A6C34878D82A}">
                    <a16:rowId xmlns:a16="http://schemas.microsoft.com/office/drawing/2014/main" val="71704877"/>
                  </a:ext>
                </a:extLst>
              </a:tr>
              <a:tr h="1442198">
                <a:tc>
                  <a:txBody>
                    <a:bodyPr/>
                    <a:lstStyle/>
                    <a:p>
                      <a:pPr algn="ctr" rtl="0" fontAlgn="t">
                        <a:spcBef>
                          <a:spcPts val="0"/>
                        </a:spcBef>
                        <a:spcAft>
                          <a:spcPts val="0"/>
                        </a:spcAft>
                      </a:pPr>
                      <a:r>
                        <a:rPr lang="en-US" sz="1200" b="0" i="0" u="none" strike="noStrike" dirty="0">
                          <a:solidFill>
                            <a:srgbClr val="000000"/>
                          </a:solidFill>
                          <a:effectLst/>
                          <a:latin typeface="Times New Roman" panose="02020603050405020304" pitchFamily="18" charset="0"/>
                        </a:rPr>
                        <a:t>[5]</a:t>
                      </a:r>
                      <a:endParaRPr lang="en-US" dirty="0">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Design and Construction of an Obstacle Avoiding Robot Based on Arduino Platform and Programming Tools.</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Created an obstacle-avoiding robot focusing on movement and obstacle avoidance</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Based on electronic devices, wireless communication transmitters and sensors to operate the robot.</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A robot prototype that solves the problem of obstacle avoidance.</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dirty="0">
                          <a:solidFill>
                            <a:srgbClr val="000000"/>
                          </a:solidFill>
                          <a:effectLst/>
                          <a:latin typeface="Times New Roman" panose="02020603050405020304" pitchFamily="18" charset="0"/>
                        </a:rPr>
                        <a:t>Limits potential for additional applications like surface disinfecting or vacuum cleaning.</a:t>
                      </a:r>
                      <a:endParaRPr lang="en-US" dirty="0">
                        <a:effectLst/>
                      </a:endParaRPr>
                    </a:p>
                  </a:txBody>
                  <a:tcPr marL="63500" marR="63500" marT="63500" marB="63500"/>
                </a:tc>
                <a:extLst>
                  <a:ext uri="{0D108BD9-81ED-4DB2-BD59-A6C34878D82A}">
                    <a16:rowId xmlns:a16="http://schemas.microsoft.com/office/drawing/2014/main" val="4176276513"/>
                  </a:ext>
                </a:extLst>
              </a:tr>
              <a:tr h="331418">
                <a:tc>
                  <a:txBody>
                    <a:bodyPr/>
                    <a:lstStyle/>
                    <a:p>
                      <a:pPr algn="ctr" rtl="0" fontAlgn="t">
                        <a:spcBef>
                          <a:spcPts val="0"/>
                        </a:spcBef>
                        <a:spcAft>
                          <a:spcPts val="0"/>
                        </a:spcAft>
                      </a:pPr>
                      <a:r>
                        <a:rPr lang="en-US" sz="1200" b="0" i="0" u="none" strike="noStrike" dirty="0">
                          <a:solidFill>
                            <a:srgbClr val="000000"/>
                          </a:solidFill>
                          <a:effectLst/>
                          <a:latin typeface="Times New Roman" panose="02020603050405020304" pitchFamily="18" charset="0"/>
                        </a:rPr>
                        <a:t>[6]</a:t>
                      </a:r>
                      <a:endParaRPr lang="en-US" dirty="0">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Autonomous vacuum cleaner.</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An intelligent household cleaning robot for trash collection.</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Designed with a four-wheeled TT DC motor, a detachable plastic bottle, and a coreless DC motor with high suction for cleaning.</a:t>
                      </a:r>
                      <a:br>
                        <a:rPr lang="en-US" sz="1200" b="0" i="0" u="none" strike="noStrike">
                          <a:solidFill>
                            <a:srgbClr val="000000"/>
                          </a:solidFill>
                          <a:effectLst/>
                          <a:latin typeface="Times New Roman" panose="02020603050405020304" pitchFamily="18" charset="0"/>
                        </a:rPr>
                      </a:br>
                      <a:br>
                        <a:rPr lang="en-US" sz="1200" b="0" i="0" u="none" strike="noStrike">
                          <a:solidFill>
                            <a:srgbClr val="000000"/>
                          </a:solidFill>
                          <a:effectLst/>
                          <a:latin typeface="Times New Roman" panose="02020603050405020304" pitchFamily="18" charset="0"/>
                        </a:rPr>
                      </a:b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a:solidFill>
                            <a:srgbClr val="000000"/>
                          </a:solidFill>
                          <a:effectLst/>
                          <a:latin typeface="Times New Roman" panose="02020603050405020304" pitchFamily="18" charset="0"/>
                        </a:rPr>
                        <a:t>Ensured reliable movement with high suction from the coreless DC motor.</a:t>
                      </a:r>
                      <a:endParaRPr lang="en-US">
                        <a:effectLst/>
                      </a:endParaRPr>
                    </a:p>
                  </a:txBody>
                  <a:tcPr marL="63500" marR="63500" marT="63500" marB="63500"/>
                </a:tc>
                <a:tc>
                  <a:txBody>
                    <a:bodyPr/>
                    <a:lstStyle/>
                    <a:p>
                      <a:pPr algn="just" rtl="0" fontAlgn="t">
                        <a:spcBef>
                          <a:spcPts val="0"/>
                        </a:spcBef>
                        <a:spcAft>
                          <a:spcPts val="0"/>
                        </a:spcAft>
                      </a:pPr>
                      <a:r>
                        <a:rPr lang="en-US" sz="1200" b="0" i="0" u="none" strike="noStrike" dirty="0">
                          <a:solidFill>
                            <a:srgbClr val="000000"/>
                          </a:solidFill>
                          <a:effectLst/>
                          <a:latin typeface="Times New Roman" panose="02020603050405020304" pitchFamily="18" charset="0"/>
                        </a:rPr>
                        <a:t>Lack of intelligent decision-making and adaptation power.</a:t>
                      </a:r>
                      <a:endParaRPr lang="en-US" dirty="0">
                        <a:effectLst/>
                      </a:endParaRPr>
                    </a:p>
                    <a:p>
                      <a:pPr fontAlgn="t"/>
                      <a:br>
                        <a:rPr lang="en-US" dirty="0">
                          <a:effectLst/>
                        </a:rPr>
                      </a:br>
                      <a:br>
                        <a:rPr lang="en-US" dirty="0">
                          <a:effectLst/>
                        </a:rPr>
                      </a:br>
                      <a:endParaRPr lang="en-US" dirty="0">
                        <a:effectLst/>
                      </a:endParaRPr>
                    </a:p>
                  </a:txBody>
                  <a:tcPr marL="63500" marR="63500" marT="63500" marB="63500"/>
                </a:tc>
                <a:extLst>
                  <a:ext uri="{0D108BD9-81ED-4DB2-BD59-A6C34878D82A}">
                    <a16:rowId xmlns:a16="http://schemas.microsoft.com/office/drawing/2014/main" val="126774450"/>
                  </a:ext>
                </a:extLst>
              </a:tr>
            </a:tbl>
          </a:graphicData>
        </a:graphic>
      </p:graphicFrame>
    </p:spTree>
    <p:extLst>
      <p:ext uri="{BB962C8B-B14F-4D97-AF65-F5344CB8AC3E}">
        <p14:creationId xmlns:p14="http://schemas.microsoft.com/office/powerpoint/2010/main" val="2289977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1E76E9-C867-46E9-AF63-F77067E2C2BC}"/>
              </a:ext>
            </a:extLst>
          </p:cNvPr>
          <p:cNvSpPr txBox="1"/>
          <p:nvPr/>
        </p:nvSpPr>
        <p:spPr>
          <a:xfrm>
            <a:off x="733731" y="0"/>
            <a:ext cx="6559345" cy="646331"/>
          </a:xfrm>
          <a:prstGeom prst="rect">
            <a:avLst/>
          </a:prstGeom>
          <a:noFill/>
        </p:spPr>
        <p:txBody>
          <a:bodyPr wrap="square">
            <a:spAutoFit/>
          </a:bodyPr>
          <a:lstStyle/>
          <a:p>
            <a:pPr marL="0" lvl="0" indent="0" algn="l" rtl="0">
              <a:spcBef>
                <a:spcPts val="0"/>
              </a:spcBef>
              <a:spcAft>
                <a:spcPts val="0"/>
              </a:spcAft>
              <a:buNone/>
            </a:pPr>
            <a:r>
              <a:rPr lang="en-US" sz="3600" b="1" dirty="0">
                <a:solidFill>
                  <a:srgbClr val="002060"/>
                </a:solidFill>
                <a:latin typeface="Calibri"/>
                <a:ea typeface="Calibri"/>
                <a:cs typeface="Calibri"/>
                <a:sym typeface="Calibri"/>
              </a:rPr>
              <a:t>Methodology(Components)</a:t>
            </a:r>
            <a:endParaRPr lang="en-US" sz="3600" dirty="0"/>
          </a:p>
        </p:txBody>
      </p:sp>
      <p:sp>
        <p:nvSpPr>
          <p:cNvPr id="5" name="TextBox 4">
            <a:extLst>
              <a:ext uri="{FF2B5EF4-FFF2-40B4-BE49-F238E27FC236}">
                <a16:creationId xmlns:a16="http://schemas.microsoft.com/office/drawing/2014/main" id="{FFA6734D-6AD7-45D0-8DE2-99EC6F311045}"/>
              </a:ext>
            </a:extLst>
          </p:cNvPr>
          <p:cNvSpPr txBox="1"/>
          <p:nvPr/>
        </p:nvSpPr>
        <p:spPr>
          <a:xfrm>
            <a:off x="733731" y="1384737"/>
            <a:ext cx="2445935" cy="2462213"/>
          </a:xfrm>
          <a:prstGeom prst="rect">
            <a:avLst/>
          </a:prstGeom>
          <a:noFill/>
        </p:spPr>
        <p:txBody>
          <a:bodyPr wrap="square" rtlCol="0">
            <a:spAutoFit/>
          </a:bodyPr>
          <a:lstStyle/>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4 Wheel Robot Car Chassis</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 BO Motors and Wheels</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 Arduino Uno R3 </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Motor Shield L293D</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 HC-SR501 PIR Motion Sensor </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Servo Motor </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Ultrasonic Sensor HC-SR04</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 UV LED Short Shaft 180 DC Motor </a:t>
            </a:r>
          </a:p>
        </p:txBody>
      </p:sp>
      <p:sp>
        <p:nvSpPr>
          <p:cNvPr id="3" name="TextBox 2">
            <a:extLst>
              <a:ext uri="{FF2B5EF4-FFF2-40B4-BE49-F238E27FC236}">
                <a16:creationId xmlns:a16="http://schemas.microsoft.com/office/drawing/2014/main" id="{388FBE45-A11E-4EF1-89A9-2CD91C475637}"/>
              </a:ext>
            </a:extLst>
          </p:cNvPr>
          <p:cNvSpPr txBox="1"/>
          <p:nvPr/>
        </p:nvSpPr>
        <p:spPr>
          <a:xfrm>
            <a:off x="4013403" y="1384736"/>
            <a:ext cx="4583242" cy="2246769"/>
          </a:xfrm>
          <a:prstGeom prst="rect">
            <a:avLst/>
          </a:prstGeom>
          <a:noFill/>
        </p:spPr>
        <p:txBody>
          <a:bodyPr wrap="square">
            <a:spAutoFit/>
          </a:bodyPr>
          <a:lstStyle/>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IR Sensor </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5V Relay Module </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Wireless Charging Module</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20A Battery Management System </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MT3608 DC-DC Step-Up Converter Module</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LM2596 STEP DOWN DC-DC Buck Converter</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ESP-32 Cam Module </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QC 3.0 2.0 USB Charging Module </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Bluetooth Module</a:t>
            </a: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 Vacuum Cleaner’s Fan</a:t>
            </a:r>
            <a:endParaRPr lang="en-US" dirty="0">
              <a:solidFill>
                <a:schemeClr val="tx1"/>
              </a:solidFill>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568928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2"/>
          <p:cNvSpPr txBox="1"/>
          <p:nvPr/>
        </p:nvSpPr>
        <p:spPr>
          <a:xfrm>
            <a:off x="622325" y="-70275"/>
            <a:ext cx="8320200"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dirty="0">
                <a:solidFill>
                  <a:srgbClr val="002060"/>
                </a:solidFill>
                <a:latin typeface="Calibri"/>
                <a:ea typeface="Calibri"/>
                <a:cs typeface="Calibri"/>
                <a:sym typeface="Calibri"/>
              </a:rPr>
              <a:t>Methodology(Workflow Diagram)</a:t>
            </a:r>
            <a:endParaRPr sz="3600" dirty="0"/>
          </a:p>
        </p:txBody>
      </p:sp>
      <p:pic>
        <p:nvPicPr>
          <p:cNvPr id="1026" name="Picture 2">
            <a:extLst>
              <a:ext uri="{FF2B5EF4-FFF2-40B4-BE49-F238E27FC236}">
                <a16:creationId xmlns:a16="http://schemas.microsoft.com/office/drawing/2014/main" id="{88879865-1DB7-C50A-CB63-DA5DCB203C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8446" y="1371600"/>
            <a:ext cx="4407108" cy="22849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F2235E0-C622-B4A1-BD39-3E591F5BDB25}"/>
              </a:ext>
            </a:extLst>
          </p:cNvPr>
          <p:cNvSpPr txBox="1"/>
          <p:nvPr/>
        </p:nvSpPr>
        <p:spPr>
          <a:xfrm>
            <a:off x="2368446" y="3662804"/>
            <a:ext cx="4583242" cy="523220"/>
          </a:xfrm>
          <a:prstGeom prst="rect">
            <a:avLst/>
          </a:prstGeom>
          <a:noFill/>
        </p:spPr>
        <p:txBody>
          <a:bodyPr wrap="square">
            <a:spAutoFit/>
          </a:bodyPr>
          <a:lstStyle/>
          <a:p>
            <a:endParaRPr lang="en-US" sz="1400" b="0" i="0" u="none" strike="noStrike" dirty="0">
              <a:solidFill>
                <a:srgbClr val="000000"/>
              </a:solidFill>
              <a:effectLst/>
              <a:latin typeface="Times New Roman" panose="02020603050405020304" pitchFamily="18" charset="0"/>
            </a:endParaRPr>
          </a:p>
          <a:p>
            <a:r>
              <a:rPr lang="en-US" sz="1400" b="0" i="0" u="none" strike="noStrike" dirty="0">
                <a:solidFill>
                  <a:srgbClr val="000000"/>
                </a:solidFill>
                <a:effectLst/>
                <a:latin typeface="Times New Roman" panose="02020603050405020304" pitchFamily="18" charset="0"/>
              </a:rPr>
              <a:t>Fig: Workflow Diagram of the Presented System</a:t>
            </a:r>
            <a:endParaRPr lang="en-US" dirty="0"/>
          </a:p>
        </p:txBody>
      </p:sp>
      <p:sp>
        <p:nvSpPr>
          <p:cNvPr id="5" name="TextBox 4">
            <a:extLst>
              <a:ext uri="{FF2B5EF4-FFF2-40B4-BE49-F238E27FC236}">
                <a16:creationId xmlns:a16="http://schemas.microsoft.com/office/drawing/2014/main" id="{CD44CDDE-E3BE-4D94-84B0-80D88120018E}"/>
              </a:ext>
            </a:extLst>
          </p:cNvPr>
          <p:cNvSpPr txBox="1"/>
          <p:nvPr/>
        </p:nvSpPr>
        <p:spPr>
          <a:xfrm>
            <a:off x="622325" y="877529"/>
            <a:ext cx="4903907" cy="800219"/>
          </a:xfrm>
          <a:prstGeom prst="rect">
            <a:avLst/>
          </a:prstGeom>
          <a:noFill/>
        </p:spPr>
        <p:txBody>
          <a:bodyPr wrap="none" rtlCol="0">
            <a:spAutoFit/>
          </a:bodyPr>
          <a:lstStyle/>
          <a:p>
            <a:pPr algn="just" rtl="0">
              <a:spcBef>
                <a:spcPts val="0"/>
              </a:spcBef>
              <a:spcAft>
                <a:spcPts val="0"/>
              </a:spcAft>
            </a:pPr>
            <a:r>
              <a:rPr lang="en-US" sz="1800" b="0" i="0" u="none" strike="noStrike" dirty="0">
                <a:solidFill>
                  <a:srgbClr val="000000"/>
                </a:solidFill>
                <a:effectLst/>
                <a:latin typeface="Times New Roman" panose="02020603050405020304" pitchFamily="18" charset="0"/>
              </a:rPr>
              <a:t>The whole method is divided into four major parts:</a:t>
            </a:r>
            <a:endParaRPr lang="en-US" b="0" dirty="0">
              <a:effectLst/>
            </a:endParaRPr>
          </a:p>
          <a:p>
            <a:br>
              <a:rPr lang="en-US" dirty="0"/>
            </a:br>
            <a:endParaRPr lang="en-US" dirty="0"/>
          </a:p>
        </p:txBody>
      </p:sp>
    </p:spTree>
    <p:extLst>
      <p:ext uri="{BB962C8B-B14F-4D97-AF65-F5344CB8AC3E}">
        <p14:creationId xmlns:p14="http://schemas.microsoft.com/office/powerpoint/2010/main" val="3560596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A4CCD3-3422-4870-A392-BCD2514DE3AA}"/>
              </a:ext>
            </a:extLst>
          </p:cNvPr>
          <p:cNvSpPr txBox="1"/>
          <p:nvPr/>
        </p:nvSpPr>
        <p:spPr>
          <a:xfrm>
            <a:off x="648930" y="0"/>
            <a:ext cx="6691255" cy="861774"/>
          </a:xfrm>
          <a:prstGeom prst="rect">
            <a:avLst/>
          </a:prstGeom>
          <a:noFill/>
        </p:spPr>
        <p:txBody>
          <a:bodyPr wrap="none" rtlCol="0">
            <a:spAutoFit/>
          </a:bodyPr>
          <a:lstStyle/>
          <a:p>
            <a:r>
              <a:rPr lang="en-US" sz="3600" b="1" dirty="0">
                <a:solidFill>
                  <a:srgbClr val="002060"/>
                </a:solidFill>
                <a:latin typeface="Calibri"/>
                <a:ea typeface="Calibri"/>
                <a:cs typeface="Calibri"/>
                <a:sym typeface="Calibri"/>
              </a:rPr>
              <a:t>Methodology(Workflow Diagram)</a:t>
            </a:r>
            <a:endParaRPr lang="en-US" sz="3600" dirty="0"/>
          </a:p>
          <a:p>
            <a:endParaRPr lang="en-US" dirty="0"/>
          </a:p>
        </p:txBody>
      </p:sp>
      <p:pic>
        <p:nvPicPr>
          <p:cNvPr id="4" name="Picture 3">
            <a:extLst>
              <a:ext uri="{FF2B5EF4-FFF2-40B4-BE49-F238E27FC236}">
                <a16:creationId xmlns:a16="http://schemas.microsoft.com/office/drawing/2014/main" id="{66B45B24-8D54-45E6-B220-750AEF7B35E8}"/>
              </a:ext>
            </a:extLst>
          </p:cNvPr>
          <p:cNvPicPr>
            <a:picLocks noChangeAspect="1"/>
          </p:cNvPicPr>
          <p:nvPr/>
        </p:nvPicPr>
        <p:blipFill>
          <a:blip r:embed="rId2"/>
          <a:stretch>
            <a:fillRect/>
          </a:stretch>
        </p:blipFill>
        <p:spPr>
          <a:xfrm>
            <a:off x="257145" y="824247"/>
            <a:ext cx="2065726" cy="3495005"/>
          </a:xfrm>
          <a:prstGeom prst="rect">
            <a:avLst/>
          </a:prstGeom>
        </p:spPr>
      </p:pic>
      <p:pic>
        <p:nvPicPr>
          <p:cNvPr id="6" name="Picture 5">
            <a:extLst>
              <a:ext uri="{FF2B5EF4-FFF2-40B4-BE49-F238E27FC236}">
                <a16:creationId xmlns:a16="http://schemas.microsoft.com/office/drawing/2014/main" id="{4D363860-67CF-4079-A788-7215A41B5D5F}"/>
              </a:ext>
            </a:extLst>
          </p:cNvPr>
          <p:cNvPicPr>
            <a:picLocks noChangeAspect="1"/>
          </p:cNvPicPr>
          <p:nvPr/>
        </p:nvPicPr>
        <p:blipFill>
          <a:blip r:embed="rId3"/>
          <a:stretch>
            <a:fillRect/>
          </a:stretch>
        </p:blipFill>
        <p:spPr>
          <a:xfrm>
            <a:off x="2610315" y="1627601"/>
            <a:ext cx="2088734" cy="1925824"/>
          </a:xfrm>
          <a:prstGeom prst="rect">
            <a:avLst/>
          </a:prstGeom>
        </p:spPr>
      </p:pic>
      <p:pic>
        <p:nvPicPr>
          <p:cNvPr id="8" name="Picture 7">
            <a:extLst>
              <a:ext uri="{FF2B5EF4-FFF2-40B4-BE49-F238E27FC236}">
                <a16:creationId xmlns:a16="http://schemas.microsoft.com/office/drawing/2014/main" id="{8C802C75-F653-483A-A530-0C158ADC9956}"/>
              </a:ext>
            </a:extLst>
          </p:cNvPr>
          <p:cNvPicPr>
            <a:picLocks noChangeAspect="1"/>
          </p:cNvPicPr>
          <p:nvPr/>
        </p:nvPicPr>
        <p:blipFill>
          <a:blip r:embed="rId4"/>
          <a:stretch>
            <a:fillRect/>
          </a:stretch>
        </p:blipFill>
        <p:spPr>
          <a:xfrm>
            <a:off x="5119230" y="1216559"/>
            <a:ext cx="1975714" cy="3038168"/>
          </a:xfrm>
          <a:prstGeom prst="rect">
            <a:avLst/>
          </a:prstGeom>
        </p:spPr>
      </p:pic>
      <p:pic>
        <p:nvPicPr>
          <p:cNvPr id="10" name="Picture 9">
            <a:extLst>
              <a:ext uri="{FF2B5EF4-FFF2-40B4-BE49-F238E27FC236}">
                <a16:creationId xmlns:a16="http://schemas.microsoft.com/office/drawing/2014/main" id="{7D03B5DE-E998-4B8F-9580-800E18E87084}"/>
              </a:ext>
            </a:extLst>
          </p:cNvPr>
          <p:cNvPicPr>
            <a:picLocks noChangeAspect="1"/>
          </p:cNvPicPr>
          <p:nvPr/>
        </p:nvPicPr>
        <p:blipFill>
          <a:blip r:embed="rId5"/>
          <a:stretch>
            <a:fillRect/>
          </a:stretch>
        </p:blipFill>
        <p:spPr>
          <a:xfrm>
            <a:off x="7094944" y="2262763"/>
            <a:ext cx="1899708" cy="945760"/>
          </a:xfrm>
          <a:prstGeom prst="rect">
            <a:avLst/>
          </a:prstGeom>
        </p:spPr>
      </p:pic>
      <p:sp>
        <p:nvSpPr>
          <p:cNvPr id="12" name="TextBox 11">
            <a:extLst>
              <a:ext uri="{FF2B5EF4-FFF2-40B4-BE49-F238E27FC236}">
                <a16:creationId xmlns:a16="http://schemas.microsoft.com/office/drawing/2014/main" id="{E525F281-EF1C-4980-A860-3E5F413898CB}"/>
              </a:ext>
            </a:extLst>
          </p:cNvPr>
          <p:cNvSpPr txBox="1"/>
          <p:nvPr/>
        </p:nvSpPr>
        <p:spPr>
          <a:xfrm>
            <a:off x="186043" y="4439110"/>
            <a:ext cx="1981970" cy="523220"/>
          </a:xfrm>
          <a:prstGeom prst="rect">
            <a:avLst/>
          </a:prstGeom>
          <a:noFill/>
        </p:spPr>
        <p:txBody>
          <a:bodyPr wrap="square">
            <a:spAutoFit/>
          </a:bodyPr>
          <a:lstStyle/>
          <a:p>
            <a:r>
              <a:rPr lang="en-US" sz="1400" b="1" dirty="0">
                <a:solidFill>
                  <a:srgbClr val="002060"/>
                </a:solidFill>
                <a:latin typeface="Calibri"/>
                <a:ea typeface="Calibri"/>
                <a:cs typeface="Calibri"/>
                <a:sym typeface="Calibri"/>
              </a:rPr>
              <a:t>Fig: Line Following and Obstacle Avoidance</a:t>
            </a:r>
            <a:endParaRPr lang="en-US" sz="1400" dirty="0"/>
          </a:p>
        </p:txBody>
      </p:sp>
      <p:sp>
        <p:nvSpPr>
          <p:cNvPr id="14" name="TextBox 13">
            <a:extLst>
              <a:ext uri="{FF2B5EF4-FFF2-40B4-BE49-F238E27FC236}">
                <a16:creationId xmlns:a16="http://schemas.microsoft.com/office/drawing/2014/main" id="{BA5CC6A5-499F-4CE6-98F7-EFD883D422DA}"/>
              </a:ext>
            </a:extLst>
          </p:cNvPr>
          <p:cNvSpPr txBox="1"/>
          <p:nvPr/>
        </p:nvSpPr>
        <p:spPr>
          <a:xfrm>
            <a:off x="2760811" y="3614861"/>
            <a:ext cx="4579374" cy="307777"/>
          </a:xfrm>
          <a:prstGeom prst="rect">
            <a:avLst/>
          </a:prstGeom>
          <a:noFill/>
        </p:spPr>
        <p:txBody>
          <a:bodyPr wrap="square">
            <a:spAutoFit/>
          </a:bodyPr>
          <a:lstStyle/>
          <a:p>
            <a:r>
              <a:rPr lang="en-US" sz="1400" b="1" dirty="0">
                <a:solidFill>
                  <a:srgbClr val="002060"/>
                </a:solidFill>
                <a:latin typeface="Calibri"/>
                <a:ea typeface="Calibri"/>
                <a:cs typeface="Calibri"/>
                <a:sym typeface="Calibri"/>
              </a:rPr>
              <a:t>Fig: UV Sterilization</a:t>
            </a:r>
            <a:endParaRPr lang="en-US" sz="1400" dirty="0"/>
          </a:p>
        </p:txBody>
      </p:sp>
      <p:sp>
        <p:nvSpPr>
          <p:cNvPr id="16" name="TextBox 15">
            <a:extLst>
              <a:ext uri="{FF2B5EF4-FFF2-40B4-BE49-F238E27FC236}">
                <a16:creationId xmlns:a16="http://schemas.microsoft.com/office/drawing/2014/main" id="{22C50290-6C35-4ACA-9903-FAB2E67A4E46}"/>
              </a:ext>
            </a:extLst>
          </p:cNvPr>
          <p:cNvSpPr txBox="1"/>
          <p:nvPr/>
        </p:nvSpPr>
        <p:spPr>
          <a:xfrm>
            <a:off x="5222468" y="4301735"/>
            <a:ext cx="4579374" cy="307777"/>
          </a:xfrm>
          <a:prstGeom prst="rect">
            <a:avLst/>
          </a:prstGeom>
          <a:noFill/>
        </p:spPr>
        <p:txBody>
          <a:bodyPr wrap="square">
            <a:spAutoFit/>
          </a:bodyPr>
          <a:lstStyle/>
          <a:p>
            <a:r>
              <a:rPr lang="en-US" sz="1400" b="1" dirty="0">
                <a:solidFill>
                  <a:srgbClr val="002060"/>
                </a:solidFill>
                <a:latin typeface="Calibri"/>
                <a:ea typeface="Calibri"/>
                <a:cs typeface="Calibri"/>
                <a:sym typeface="Calibri"/>
              </a:rPr>
              <a:t>Fig: AI-based </a:t>
            </a:r>
            <a:r>
              <a:rPr lang="en-US" b="1" dirty="0">
                <a:solidFill>
                  <a:srgbClr val="002060"/>
                </a:solidFill>
                <a:latin typeface="Calibri"/>
                <a:ea typeface="Calibri"/>
                <a:cs typeface="Calibri"/>
                <a:sym typeface="Calibri"/>
              </a:rPr>
              <a:t>O</a:t>
            </a:r>
            <a:r>
              <a:rPr lang="en-US" sz="1400" b="1" dirty="0">
                <a:solidFill>
                  <a:srgbClr val="002060"/>
                </a:solidFill>
                <a:latin typeface="Calibri"/>
                <a:ea typeface="Calibri"/>
                <a:cs typeface="Calibri"/>
                <a:sym typeface="Calibri"/>
              </a:rPr>
              <a:t>bject Detection</a:t>
            </a:r>
            <a:endParaRPr lang="en-US" sz="1400" dirty="0"/>
          </a:p>
        </p:txBody>
      </p:sp>
      <p:sp>
        <p:nvSpPr>
          <p:cNvPr id="18" name="TextBox 17">
            <a:extLst>
              <a:ext uri="{FF2B5EF4-FFF2-40B4-BE49-F238E27FC236}">
                <a16:creationId xmlns:a16="http://schemas.microsoft.com/office/drawing/2014/main" id="{67B2BC5F-714C-474B-B39C-FB2070F2D282}"/>
              </a:ext>
            </a:extLst>
          </p:cNvPr>
          <p:cNvSpPr txBox="1"/>
          <p:nvPr/>
        </p:nvSpPr>
        <p:spPr>
          <a:xfrm>
            <a:off x="7441228" y="3399536"/>
            <a:ext cx="4900150" cy="307777"/>
          </a:xfrm>
          <a:prstGeom prst="rect">
            <a:avLst/>
          </a:prstGeom>
          <a:noFill/>
        </p:spPr>
        <p:txBody>
          <a:bodyPr wrap="square">
            <a:spAutoFit/>
          </a:bodyPr>
          <a:lstStyle/>
          <a:p>
            <a:r>
              <a:rPr lang="en-US" sz="1400" b="1" dirty="0">
                <a:solidFill>
                  <a:srgbClr val="002060"/>
                </a:solidFill>
                <a:latin typeface="Calibri"/>
                <a:ea typeface="Calibri"/>
                <a:cs typeface="Calibri"/>
                <a:sym typeface="Calibri"/>
              </a:rPr>
              <a:t>Fig: Vacuum Cleaning</a:t>
            </a:r>
            <a:endParaRPr lang="en-US" sz="1400" dirty="0"/>
          </a:p>
        </p:txBody>
      </p:sp>
    </p:spTree>
    <p:extLst>
      <p:ext uri="{BB962C8B-B14F-4D97-AF65-F5344CB8AC3E}">
        <p14:creationId xmlns:p14="http://schemas.microsoft.com/office/powerpoint/2010/main" val="3032529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2"/>
          <p:cNvSpPr txBox="1"/>
          <p:nvPr/>
        </p:nvSpPr>
        <p:spPr>
          <a:xfrm>
            <a:off x="622325" y="-70275"/>
            <a:ext cx="8320200"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dirty="0">
                <a:solidFill>
                  <a:srgbClr val="002060"/>
                </a:solidFill>
                <a:latin typeface="Calibri"/>
                <a:ea typeface="Calibri"/>
                <a:cs typeface="Calibri"/>
                <a:sym typeface="Calibri"/>
              </a:rPr>
              <a:t>Methodology(System Architecture)</a:t>
            </a:r>
            <a:endParaRPr sz="3600" dirty="0"/>
          </a:p>
        </p:txBody>
      </p:sp>
      <p:pic>
        <p:nvPicPr>
          <p:cNvPr id="2050" name="Picture 2">
            <a:extLst>
              <a:ext uri="{FF2B5EF4-FFF2-40B4-BE49-F238E27FC236}">
                <a16:creationId xmlns:a16="http://schemas.microsoft.com/office/drawing/2014/main" id="{C3272576-1B2F-A78C-36B0-7C49E43448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3549" y="1416473"/>
            <a:ext cx="5404838" cy="231055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587B428-FE94-411A-43DC-E041165FE1FA}"/>
              </a:ext>
            </a:extLst>
          </p:cNvPr>
          <p:cNvSpPr txBox="1"/>
          <p:nvPr/>
        </p:nvSpPr>
        <p:spPr>
          <a:xfrm>
            <a:off x="5631289" y="3862785"/>
            <a:ext cx="4703164" cy="307777"/>
          </a:xfrm>
          <a:prstGeom prst="rect">
            <a:avLst/>
          </a:prstGeom>
          <a:noFill/>
        </p:spPr>
        <p:txBody>
          <a:bodyPr wrap="square">
            <a:spAutoFit/>
          </a:bodyPr>
          <a:lstStyle/>
          <a:p>
            <a:r>
              <a:rPr lang="en-US" b="0" i="0" u="none" strike="noStrike" dirty="0">
                <a:solidFill>
                  <a:srgbClr val="000000"/>
                </a:solidFill>
                <a:effectLst/>
                <a:latin typeface="Times New Roman" panose="02020603050405020304" pitchFamily="18" charset="0"/>
              </a:rPr>
              <a:t>Fig: System Architecture</a:t>
            </a:r>
            <a:endParaRPr lang="en-US" dirty="0"/>
          </a:p>
        </p:txBody>
      </p:sp>
      <p:sp>
        <p:nvSpPr>
          <p:cNvPr id="4" name="TextBox 3">
            <a:extLst>
              <a:ext uri="{FF2B5EF4-FFF2-40B4-BE49-F238E27FC236}">
                <a16:creationId xmlns:a16="http://schemas.microsoft.com/office/drawing/2014/main" id="{45EAB19B-2395-1B78-4B40-530491187066}"/>
              </a:ext>
            </a:extLst>
          </p:cNvPr>
          <p:cNvSpPr txBox="1"/>
          <p:nvPr/>
        </p:nvSpPr>
        <p:spPr>
          <a:xfrm>
            <a:off x="143502" y="917520"/>
            <a:ext cx="3300047" cy="4185761"/>
          </a:xfrm>
          <a:prstGeom prst="rect">
            <a:avLst/>
          </a:prstGeom>
          <a:noFill/>
        </p:spPr>
        <p:txBody>
          <a:bodyPr wrap="square">
            <a:spAutoFit/>
          </a:bodyPr>
          <a:lstStyle/>
          <a:p>
            <a:pPr algn="just" rtl="0">
              <a:spcBef>
                <a:spcPts val="0"/>
              </a:spcBef>
              <a:spcAft>
                <a:spcPts val="0"/>
              </a:spcAft>
            </a:pPr>
            <a:r>
              <a:rPr lang="en-US" sz="1400" b="0" i="0" u="none" strike="noStrike" dirty="0">
                <a:solidFill>
                  <a:srgbClr val="000000"/>
                </a:solidFill>
                <a:effectLst/>
                <a:latin typeface="Times New Roman" panose="02020603050405020304" pitchFamily="18" charset="0"/>
              </a:rPr>
              <a:t>The robot employs multiple sensors and components including IR sensors, PIR sensor, ultrasonic sensor, servo motor, UV lights and vacuum cleaner. Data from the sensors is processed by a central microcontroller which communicates via Bluetooth with a mobile phone. The phone receives data and warnings about detected objects from ESP32 CAM module and forwards this information to the user. If the object is a living being then a warning is sent via email over the internet. Additionally, a wireless charging module powers the system’s sensors and motors. This design integrates smart cleaning, motion detection, UV disinfection, and real-time communication with the user. </a:t>
            </a:r>
            <a:endParaRPr lang="en-US" b="0" dirty="0">
              <a:effectLst/>
            </a:endParaRPr>
          </a:p>
          <a:p>
            <a:br>
              <a:rPr lang="en-US" dirty="0"/>
            </a:br>
            <a:endParaRPr lang="en-US" dirty="0"/>
          </a:p>
        </p:txBody>
      </p:sp>
    </p:spTree>
    <p:extLst>
      <p:ext uri="{BB962C8B-B14F-4D97-AF65-F5344CB8AC3E}">
        <p14:creationId xmlns:p14="http://schemas.microsoft.com/office/powerpoint/2010/main" val="1866323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2"/>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dirty="0">
                <a:solidFill>
                  <a:srgbClr val="002060"/>
                </a:solidFill>
                <a:latin typeface="Calibri"/>
                <a:ea typeface="Calibri"/>
                <a:cs typeface="Calibri"/>
                <a:sym typeface="Calibri"/>
              </a:rPr>
              <a:t>Methodology(Circuit Diagram)</a:t>
            </a:r>
            <a:endParaRPr dirty="0"/>
          </a:p>
        </p:txBody>
      </p:sp>
      <p:pic>
        <p:nvPicPr>
          <p:cNvPr id="3074" name="Picture 2">
            <a:extLst>
              <a:ext uri="{FF2B5EF4-FFF2-40B4-BE49-F238E27FC236}">
                <a16:creationId xmlns:a16="http://schemas.microsoft.com/office/drawing/2014/main" id="{23006D33-BAF5-55FF-FECF-969BAE6BAB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1101" y="1131645"/>
            <a:ext cx="6086569" cy="339913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3C3A58F-BD3B-2659-4AF8-2E24C1298872}"/>
              </a:ext>
            </a:extLst>
          </p:cNvPr>
          <p:cNvSpPr txBox="1"/>
          <p:nvPr/>
        </p:nvSpPr>
        <p:spPr>
          <a:xfrm>
            <a:off x="5342119" y="4369692"/>
            <a:ext cx="4673182" cy="307777"/>
          </a:xfrm>
          <a:prstGeom prst="rect">
            <a:avLst/>
          </a:prstGeom>
          <a:noFill/>
        </p:spPr>
        <p:txBody>
          <a:bodyPr wrap="square">
            <a:spAutoFit/>
          </a:bodyPr>
          <a:lstStyle/>
          <a:p>
            <a:r>
              <a:rPr lang="en-US" sz="1400" b="0" i="0" u="none" strike="noStrike" dirty="0">
                <a:solidFill>
                  <a:srgbClr val="000000"/>
                </a:solidFill>
                <a:effectLst/>
                <a:latin typeface="Times New Roman" panose="02020603050405020304" pitchFamily="18" charset="0"/>
              </a:rPr>
              <a:t>Fig: Circuit Diagram</a:t>
            </a:r>
            <a:endParaRPr lang="en-US" dirty="0"/>
          </a:p>
        </p:txBody>
      </p:sp>
      <p:sp>
        <p:nvSpPr>
          <p:cNvPr id="4" name="TextBox 3">
            <a:extLst>
              <a:ext uri="{FF2B5EF4-FFF2-40B4-BE49-F238E27FC236}">
                <a16:creationId xmlns:a16="http://schemas.microsoft.com/office/drawing/2014/main" id="{2E9174B7-50A2-A5D0-9E97-74739180F689}"/>
              </a:ext>
            </a:extLst>
          </p:cNvPr>
          <p:cNvSpPr txBox="1"/>
          <p:nvPr/>
        </p:nvSpPr>
        <p:spPr>
          <a:xfrm>
            <a:off x="128072" y="1020269"/>
            <a:ext cx="2923082" cy="3600986"/>
          </a:xfrm>
          <a:prstGeom prst="rect">
            <a:avLst/>
          </a:prstGeom>
          <a:noFill/>
        </p:spPr>
        <p:txBody>
          <a:bodyPr wrap="square">
            <a:spAutoFit/>
          </a:bodyPr>
          <a:lstStyle/>
          <a:p>
            <a:pPr algn="just"/>
            <a:r>
              <a:rPr lang="en-US" sz="1200" b="0" i="0" u="none" strike="noStrike" dirty="0">
                <a:solidFill>
                  <a:srgbClr val="000000"/>
                </a:solidFill>
                <a:effectLst/>
                <a:latin typeface="Times New Roman" panose="02020603050405020304" pitchFamily="18" charset="0"/>
              </a:rPr>
              <a:t>The circuit diagram consists of an operational unit, a sterilization and processing unit, and a charging unit. In the operational unit, IR sensors, four BO motors, one ultrasonic sensor, and a servo motor have been connected to an Arduino UNO. In the sterilization and processing unit, PIR sensors, UV lights, and a Bluetooth module have been connected to another Arduino UNO. The microcontroller in the operational unit has been grounded with the microcontroller in the processing unit. Both the operational and processing units have been powered by the charging unit. The charging unit includes six lithium-ion batteries configured in a 3S2P arrangement (three in parallel, two in series) and these batteries have been connected to a BMS circuit.</a:t>
            </a:r>
            <a:endParaRPr lang="en-US" sz="1200" dirty="0"/>
          </a:p>
        </p:txBody>
      </p:sp>
    </p:spTree>
    <p:extLst>
      <p:ext uri="{BB962C8B-B14F-4D97-AF65-F5344CB8AC3E}">
        <p14:creationId xmlns:p14="http://schemas.microsoft.com/office/powerpoint/2010/main" val="3716419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2"/>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dirty="0">
                <a:solidFill>
                  <a:srgbClr val="002060"/>
                </a:solidFill>
                <a:latin typeface="Calibri"/>
                <a:ea typeface="Calibri"/>
                <a:cs typeface="Calibri"/>
                <a:sym typeface="Calibri"/>
              </a:rPr>
              <a:t>Methodology(Algorithm)</a:t>
            </a:r>
            <a:endParaRPr dirty="0"/>
          </a:p>
        </p:txBody>
      </p:sp>
      <p:sp>
        <p:nvSpPr>
          <p:cNvPr id="3" name="TextBox 2">
            <a:extLst>
              <a:ext uri="{FF2B5EF4-FFF2-40B4-BE49-F238E27FC236}">
                <a16:creationId xmlns:a16="http://schemas.microsoft.com/office/drawing/2014/main" id="{29313F5D-513E-E3EB-4ED8-4476C012E632}"/>
              </a:ext>
            </a:extLst>
          </p:cNvPr>
          <p:cNvSpPr txBox="1"/>
          <p:nvPr/>
        </p:nvSpPr>
        <p:spPr>
          <a:xfrm>
            <a:off x="201475" y="1097338"/>
            <a:ext cx="4673182" cy="307777"/>
          </a:xfrm>
          <a:prstGeom prst="rect">
            <a:avLst/>
          </a:prstGeom>
          <a:noFill/>
        </p:spPr>
        <p:txBody>
          <a:bodyPr wrap="square">
            <a:spAutoFit/>
          </a:bodyPr>
          <a:lstStyle/>
          <a:p>
            <a:pPr rtl="0" fontAlgn="base">
              <a:spcBef>
                <a:spcPts val="1200"/>
              </a:spcBef>
              <a:spcAft>
                <a:spcPts val="0"/>
              </a:spcAft>
              <a:buFont typeface="+mj-lt"/>
              <a:buAutoNum type="arabicPeriod"/>
            </a:pPr>
            <a:r>
              <a:rPr lang="en-US" sz="1400" b="1" i="0" u="none" strike="noStrike" dirty="0">
                <a:solidFill>
                  <a:srgbClr val="000000"/>
                </a:solidFill>
                <a:effectLst/>
                <a:latin typeface="Times New Roman" panose="02020603050405020304" pitchFamily="18" charset="0"/>
              </a:rPr>
              <a:t>Line Following with Obstacle Avoidance</a:t>
            </a:r>
          </a:p>
        </p:txBody>
      </p:sp>
      <p:pic>
        <p:nvPicPr>
          <p:cNvPr id="4098" name="Picture 2">
            <a:extLst>
              <a:ext uri="{FF2B5EF4-FFF2-40B4-BE49-F238E27FC236}">
                <a16:creationId xmlns:a16="http://schemas.microsoft.com/office/drawing/2014/main" id="{CEF1AFEA-E804-0D82-A288-CFE0DDFF16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327" y="1457325"/>
            <a:ext cx="3686175" cy="281487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DA1AB170-2B20-E5F1-B010-D5A3AD72CB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0460" y="1227022"/>
            <a:ext cx="2905125" cy="3609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346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2"/>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dirty="0">
                <a:solidFill>
                  <a:srgbClr val="002060"/>
                </a:solidFill>
                <a:latin typeface="Calibri"/>
                <a:ea typeface="Calibri"/>
                <a:cs typeface="Calibri"/>
                <a:sym typeface="Calibri"/>
              </a:rPr>
              <a:t>Methodology(Algorithm)</a:t>
            </a:r>
            <a:endParaRPr dirty="0"/>
          </a:p>
        </p:txBody>
      </p:sp>
      <p:sp>
        <p:nvSpPr>
          <p:cNvPr id="4" name="TextBox 3">
            <a:extLst>
              <a:ext uri="{FF2B5EF4-FFF2-40B4-BE49-F238E27FC236}">
                <a16:creationId xmlns:a16="http://schemas.microsoft.com/office/drawing/2014/main" id="{EB4D368A-A9BB-84E2-BE4D-25978AB7C4A1}"/>
              </a:ext>
            </a:extLst>
          </p:cNvPr>
          <p:cNvSpPr txBox="1"/>
          <p:nvPr/>
        </p:nvSpPr>
        <p:spPr>
          <a:xfrm>
            <a:off x="201475" y="1130325"/>
            <a:ext cx="4820230" cy="276999"/>
          </a:xfrm>
          <a:prstGeom prst="rect">
            <a:avLst/>
          </a:prstGeom>
          <a:noFill/>
        </p:spPr>
        <p:txBody>
          <a:bodyPr wrap="square">
            <a:spAutoFit/>
          </a:bodyPr>
          <a:lstStyle/>
          <a:p>
            <a:pPr algn="just" rtl="0" fontAlgn="base">
              <a:spcBef>
                <a:spcPts val="1200"/>
              </a:spcBef>
              <a:spcAft>
                <a:spcPts val="0"/>
              </a:spcAft>
            </a:pPr>
            <a:r>
              <a:rPr lang="en-US" sz="1200" b="1" i="0" u="none" strike="noStrike" dirty="0">
                <a:solidFill>
                  <a:srgbClr val="000000"/>
                </a:solidFill>
                <a:effectLst/>
                <a:latin typeface="Times New Roman" panose="02020603050405020304" pitchFamily="18" charset="0"/>
              </a:rPr>
              <a:t>2)Surface Sterilization Using UV Light and Motion Sensing</a:t>
            </a:r>
          </a:p>
        </p:txBody>
      </p:sp>
      <p:pic>
        <p:nvPicPr>
          <p:cNvPr id="5122" name="Picture 2">
            <a:extLst>
              <a:ext uri="{FF2B5EF4-FFF2-40B4-BE49-F238E27FC236}">
                <a16:creationId xmlns:a16="http://schemas.microsoft.com/office/drawing/2014/main" id="{67507626-0185-E5DA-51A1-00605E0176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254" y="1530525"/>
            <a:ext cx="2276475" cy="345218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E926DBE-B9AC-9215-72DB-5CC40244D15A}"/>
              </a:ext>
            </a:extLst>
          </p:cNvPr>
          <p:cNvSpPr txBox="1"/>
          <p:nvPr/>
        </p:nvSpPr>
        <p:spPr>
          <a:xfrm>
            <a:off x="4846999" y="1099547"/>
            <a:ext cx="4673182" cy="276999"/>
          </a:xfrm>
          <a:prstGeom prst="rect">
            <a:avLst/>
          </a:prstGeom>
          <a:noFill/>
        </p:spPr>
        <p:txBody>
          <a:bodyPr wrap="square">
            <a:spAutoFit/>
          </a:bodyPr>
          <a:lstStyle/>
          <a:p>
            <a:r>
              <a:rPr lang="en-US" sz="1200" b="1" dirty="0">
                <a:latin typeface="Times New Roman" panose="02020603050405020304" pitchFamily="18" charset="0"/>
              </a:rPr>
              <a:t>3</a:t>
            </a:r>
            <a:r>
              <a:rPr lang="en-US" sz="1200" b="1" i="0" u="none" strike="noStrike" dirty="0">
                <a:solidFill>
                  <a:srgbClr val="000000"/>
                </a:solidFill>
                <a:effectLst/>
                <a:latin typeface="Times New Roman" panose="02020603050405020304" pitchFamily="18" charset="0"/>
              </a:rPr>
              <a:t>)AI-based Object Detection and Surveillance System: </a:t>
            </a:r>
            <a:endParaRPr lang="en-US" sz="1200" dirty="0"/>
          </a:p>
        </p:txBody>
      </p:sp>
      <p:pic>
        <p:nvPicPr>
          <p:cNvPr id="5124" name="Picture 4">
            <a:extLst>
              <a:ext uri="{FF2B5EF4-FFF2-40B4-BE49-F238E27FC236}">
                <a16:creationId xmlns:a16="http://schemas.microsoft.com/office/drawing/2014/main" id="{E3E1FB15-6A42-A834-07C2-AFEA5D8C44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4092" y="1407324"/>
            <a:ext cx="3267817" cy="3437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4096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3"/>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a:solidFill>
                  <a:srgbClr val="002060"/>
                </a:solidFill>
                <a:latin typeface="Calibri"/>
                <a:ea typeface="Calibri"/>
                <a:cs typeface="Calibri"/>
                <a:sym typeface="Calibri"/>
              </a:rPr>
              <a:t>Environment Setup/ Implementation</a:t>
            </a:r>
            <a:endParaRPr/>
          </a:p>
        </p:txBody>
      </p:sp>
      <p:sp>
        <p:nvSpPr>
          <p:cNvPr id="161" name="Google Shape;161;p23"/>
          <p:cNvSpPr txBox="1"/>
          <p:nvPr/>
        </p:nvSpPr>
        <p:spPr>
          <a:xfrm>
            <a:off x="201475" y="608975"/>
            <a:ext cx="8721217" cy="2092850"/>
          </a:xfrm>
          <a:prstGeom prst="rect">
            <a:avLst/>
          </a:prstGeom>
          <a:noFill/>
          <a:ln>
            <a:noFill/>
          </a:ln>
        </p:spPr>
        <p:txBody>
          <a:bodyPr spcFirstLastPara="1" wrap="square" lIns="91425" tIns="91425" rIns="91425" bIns="91425" anchor="t" anchorCtr="0">
            <a:spAutoFit/>
          </a:bodyPr>
          <a:lstStyle/>
          <a:p>
            <a:pPr algn="just" rtl="0">
              <a:spcBef>
                <a:spcPts val="1200"/>
              </a:spcBef>
              <a:spcAft>
                <a:spcPts val="1200"/>
              </a:spcAft>
            </a:pPr>
            <a:r>
              <a:rPr lang="en-US" sz="1600" b="0" i="0" u="none" strike="noStrike" dirty="0">
                <a:solidFill>
                  <a:srgbClr val="000000"/>
                </a:solidFill>
                <a:effectLst/>
                <a:latin typeface="Times" panose="02020603050405020304" pitchFamily="18" charset="0"/>
                <a:cs typeface="Times" panose="02020603050405020304" pitchFamily="18" charset="0"/>
              </a:rPr>
              <a:t>The robot follows a black line path which is needed to be 3.5 cm thick for accurate tracking. The prototype of the robot is shown in the given Figure and the path followed by the robot is also presented in the Figure. The gap between the paths needs to be 12 inches or 30.48 cm.</a:t>
            </a:r>
            <a:endParaRPr lang="en-US" sz="1600" b="0" dirty="0">
              <a:effectLst/>
              <a:latin typeface="Times" panose="02020603050405020304" pitchFamily="18" charset="0"/>
              <a:cs typeface="Times" panose="02020603050405020304" pitchFamily="18" charset="0"/>
            </a:endParaRPr>
          </a:p>
          <a:p>
            <a:br>
              <a:rPr lang="en-US" sz="3200" dirty="0"/>
            </a:br>
            <a:endParaRPr sz="2400" b="1" dirty="0">
              <a:solidFill>
                <a:srgbClr val="7030A0"/>
              </a:solidFill>
            </a:endParaRPr>
          </a:p>
        </p:txBody>
      </p:sp>
      <p:pic>
        <p:nvPicPr>
          <p:cNvPr id="1026" name="Picture 2">
            <a:extLst>
              <a:ext uri="{FF2B5EF4-FFF2-40B4-BE49-F238E27FC236}">
                <a16:creationId xmlns:a16="http://schemas.microsoft.com/office/drawing/2014/main" id="{1DD269C2-F10D-9E0C-5DF3-156F90CAB3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1178" y="1881591"/>
            <a:ext cx="2209800" cy="265293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4238952-6870-F235-00A7-FA583F34BB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2811" y="1881591"/>
            <a:ext cx="2181225" cy="265293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F3096C3-A4C9-A362-BC8C-23E9E5BD4367}"/>
              </a:ext>
            </a:extLst>
          </p:cNvPr>
          <p:cNvSpPr txBox="1"/>
          <p:nvPr/>
        </p:nvSpPr>
        <p:spPr>
          <a:xfrm>
            <a:off x="1086786" y="4534525"/>
            <a:ext cx="4583242" cy="307777"/>
          </a:xfrm>
          <a:prstGeom prst="rect">
            <a:avLst/>
          </a:prstGeom>
          <a:noFill/>
        </p:spPr>
        <p:txBody>
          <a:bodyPr wrap="square">
            <a:spAutoFit/>
          </a:bodyPr>
          <a:lstStyle/>
          <a:p>
            <a:r>
              <a:rPr lang="en-US" sz="1400" b="0" i="0" u="none" strike="noStrike" dirty="0">
                <a:solidFill>
                  <a:srgbClr val="000000"/>
                </a:solidFill>
                <a:effectLst/>
                <a:latin typeface="Times New Roman" panose="02020603050405020304" pitchFamily="18" charset="0"/>
              </a:rPr>
              <a:t>Figure: Robot Prototype</a:t>
            </a:r>
            <a:endParaRPr lang="en-US" dirty="0"/>
          </a:p>
        </p:txBody>
      </p:sp>
      <p:sp>
        <p:nvSpPr>
          <p:cNvPr id="5" name="TextBox 4">
            <a:extLst>
              <a:ext uri="{FF2B5EF4-FFF2-40B4-BE49-F238E27FC236}">
                <a16:creationId xmlns:a16="http://schemas.microsoft.com/office/drawing/2014/main" id="{BD7C5BCE-B8D0-B6FC-D0B8-BAD464938751}"/>
              </a:ext>
            </a:extLst>
          </p:cNvPr>
          <p:cNvSpPr txBox="1"/>
          <p:nvPr/>
        </p:nvSpPr>
        <p:spPr>
          <a:xfrm>
            <a:off x="4637581" y="4534525"/>
            <a:ext cx="4583242" cy="307777"/>
          </a:xfrm>
          <a:prstGeom prst="rect">
            <a:avLst/>
          </a:prstGeom>
          <a:noFill/>
        </p:spPr>
        <p:txBody>
          <a:bodyPr wrap="square">
            <a:spAutoFit/>
          </a:bodyPr>
          <a:lstStyle/>
          <a:p>
            <a:r>
              <a:rPr lang="en-US" sz="1400" b="0" i="0" u="none" strike="noStrike" dirty="0">
                <a:solidFill>
                  <a:srgbClr val="000000"/>
                </a:solidFill>
                <a:effectLst/>
                <a:latin typeface="Times New Roman" panose="02020603050405020304" pitchFamily="18" charset="0"/>
              </a:rPr>
              <a:t>Figure</a:t>
            </a:r>
            <a:r>
              <a:rPr lang="en-US" dirty="0">
                <a:latin typeface="Times New Roman" panose="02020603050405020304" pitchFamily="18" charset="0"/>
              </a:rPr>
              <a:t>: </a:t>
            </a:r>
            <a:r>
              <a:rPr lang="en-US" sz="1400" b="0" i="0" u="none" strike="noStrike" dirty="0">
                <a:solidFill>
                  <a:srgbClr val="000000"/>
                </a:solidFill>
                <a:effectLst/>
                <a:latin typeface="Times New Roman" panose="02020603050405020304" pitchFamily="18" charset="0"/>
              </a:rPr>
              <a:t>Example Scenario of path with the robot</a:t>
            </a:r>
            <a:endParaRPr lang="en-US" dirty="0"/>
          </a:p>
        </p:txBody>
      </p:sp>
    </p:spTree>
    <p:extLst>
      <p:ext uri="{BB962C8B-B14F-4D97-AF65-F5344CB8AC3E}">
        <p14:creationId xmlns:p14="http://schemas.microsoft.com/office/powerpoint/2010/main" val="1848339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3"/>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a:solidFill>
                  <a:srgbClr val="002060"/>
                </a:solidFill>
                <a:latin typeface="Calibri"/>
                <a:ea typeface="Calibri"/>
                <a:cs typeface="Calibri"/>
                <a:sym typeface="Calibri"/>
              </a:rPr>
              <a:t>Environment Setup/ Implementation</a:t>
            </a:r>
            <a:endParaRPr/>
          </a:p>
        </p:txBody>
      </p:sp>
      <p:sp>
        <p:nvSpPr>
          <p:cNvPr id="161" name="Google Shape;161;p23"/>
          <p:cNvSpPr txBox="1"/>
          <p:nvPr/>
        </p:nvSpPr>
        <p:spPr>
          <a:xfrm>
            <a:off x="211391" y="620156"/>
            <a:ext cx="8721217" cy="1631185"/>
          </a:xfrm>
          <a:prstGeom prst="rect">
            <a:avLst/>
          </a:prstGeom>
          <a:noFill/>
          <a:ln>
            <a:noFill/>
          </a:ln>
        </p:spPr>
        <p:txBody>
          <a:bodyPr spcFirstLastPara="1" wrap="square" lIns="91425" tIns="91425" rIns="91425" bIns="91425" anchor="t" anchorCtr="0">
            <a:spAutoFit/>
          </a:bodyPr>
          <a:lstStyle/>
          <a:p>
            <a:pPr algn="just" rtl="0">
              <a:spcBef>
                <a:spcPts val="1200"/>
              </a:spcBef>
              <a:spcAft>
                <a:spcPts val="1200"/>
              </a:spcAft>
            </a:pPr>
            <a:r>
              <a:rPr lang="en-US" sz="1600" b="0" i="0" u="none" strike="noStrike" dirty="0">
                <a:solidFill>
                  <a:srgbClr val="000000"/>
                </a:solidFill>
                <a:effectLst/>
                <a:latin typeface="Times New Roman" panose="02020603050405020304" pitchFamily="18" charset="0"/>
              </a:rPr>
              <a:t>When both IR sensors detect black line at the same time, the robot is back in the home position. It stops moving, turns off the UV lights and vacuum cleaner and starts charging using a wireless module. The charging station has a transmitter coil and a receiver coil underneath it shown in Figure</a:t>
            </a:r>
            <a:r>
              <a:rPr lang="en-US" sz="1800" b="0" i="0" u="none" strike="noStrike" dirty="0">
                <a:solidFill>
                  <a:srgbClr val="000000"/>
                </a:solidFill>
                <a:effectLst/>
                <a:latin typeface="Times New Roman" panose="02020603050405020304" pitchFamily="18" charset="0"/>
              </a:rPr>
              <a:t>. </a:t>
            </a:r>
            <a:br>
              <a:rPr lang="en-US" sz="3200" dirty="0"/>
            </a:br>
            <a:endParaRPr sz="2400" b="1" dirty="0">
              <a:solidFill>
                <a:srgbClr val="7030A0"/>
              </a:solidFill>
            </a:endParaRPr>
          </a:p>
        </p:txBody>
      </p:sp>
      <p:pic>
        <p:nvPicPr>
          <p:cNvPr id="2050" name="Picture 2">
            <a:extLst>
              <a:ext uri="{FF2B5EF4-FFF2-40B4-BE49-F238E27FC236}">
                <a16:creationId xmlns:a16="http://schemas.microsoft.com/office/drawing/2014/main" id="{124CFC30-B552-BC4F-CF2C-FC655A34E8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0227" y="1861903"/>
            <a:ext cx="1971675" cy="244068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73D7C422-7B7C-08E5-0765-AD2FDE5443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5421" y="1923019"/>
            <a:ext cx="1733550" cy="237956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A9BFADD-3CF1-B56F-C4F8-E57E6E762ACF}"/>
              </a:ext>
            </a:extLst>
          </p:cNvPr>
          <p:cNvSpPr txBox="1"/>
          <p:nvPr/>
        </p:nvSpPr>
        <p:spPr>
          <a:xfrm>
            <a:off x="455326" y="4302584"/>
            <a:ext cx="4583242" cy="307777"/>
          </a:xfrm>
          <a:prstGeom prst="rect">
            <a:avLst/>
          </a:prstGeom>
          <a:noFill/>
        </p:spPr>
        <p:txBody>
          <a:bodyPr wrap="square">
            <a:spAutoFit/>
          </a:bodyPr>
          <a:lstStyle/>
          <a:p>
            <a:r>
              <a:rPr lang="en-US" sz="1400" b="0" i="0" u="none" strike="noStrike" dirty="0">
                <a:solidFill>
                  <a:srgbClr val="000000"/>
                </a:solidFill>
                <a:effectLst/>
                <a:latin typeface="Times New Roman" panose="02020603050405020304" pitchFamily="18" charset="0"/>
              </a:rPr>
              <a:t>Fig : Charging station at home (Transmitter coil)</a:t>
            </a:r>
            <a:endParaRPr lang="en-US" dirty="0"/>
          </a:p>
        </p:txBody>
      </p:sp>
      <p:sp>
        <p:nvSpPr>
          <p:cNvPr id="5" name="TextBox 4">
            <a:extLst>
              <a:ext uri="{FF2B5EF4-FFF2-40B4-BE49-F238E27FC236}">
                <a16:creationId xmlns:a16="http://schemas.microsoft.com/office/drawing/2014/main" id="{5C998BA0-B0EE-B685-7EAD-80CF9A1AB1FE}"/>
              </a:ext>
            </a:extLst>
          </p:cNvPr>
          <p:cNvSpPr txBox="1"/>
          <p:nvPr/>
        </p:nvSpPr>
        <p:spPr>
          <a:xfrm>
            <a:off x="3978015" y="4302584"/>
            <a:ext cx="4583242" cy="738664"/>
          </a:xfrm>
          <a:prstGeom prst="rect">
            <a:avLst/>
          </a:prstGeom>
          <a:noFill/>
        </p:spPr>
        <p:txBody>
          <a:bodyPr wrap="square">
            <a:spAutoFit/>
          </a:bodyPr>
          <a:lstStyle/>
          <a:p>
            <a:pPr rtl="0">
              <a:spcBef>
                <a:spcPts val="0"/>
              </a:spcBef>
              <a:spcAft>
                <a:spcPts val="0"/>
              </a:spcAft>
            </a:pPr>
            <a:r>
              <a:rPr lang="en-US" sz="1400" b="0" i="0" u="none" strike="noStrike" dirty="0">
                <a:solidFill>
                  <a:srgbClr val="000000"/>
                </a:solidFill>
                <a:effectLst/>
                <a:latin typeface="Times New Roman" panose="02020603050405020304" pitchFamily="18" charset="0"/>
              </a:rPr>
              <a:t>(b) Receiver coil of charging module attached to the robot</a:t>
            </a:r>
            <a:endParaRPr lang="en-US" b="0" dirty="0">
              <a:effectLst/>
            </a:endParaRPr>
          </a:p>
          <a:p>
            <a:br>
              <a:rPr lang="en-US" dirty="0"/>
            </a:br>
            <a:endParaRPr lang="en-US" dirty="0"/>
          </a:p>
        </p:txBody>
      </p:sp>
    </p:spTree>
    <p:extLst>
      <p:ext uri="{BB962C8B-B14F-4D97-AF65-F5344CB8AC3E}">
        <p14:creationId xmlns:p14="http://schemas.microsoft.com/office/powerpoint/2010/main" val="2473521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3"/>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a:solidFill>
                  <a:srgbClr val="002060"/>
                </a:solidFill>
                <a:latin typeface="Calibri"/>
                <a:ea typeface="Calibri"/>
                <a:cs typeface="Calibri"/>
                <a:sym typeface="Calibri"/>
              </a:rPr>
              <a:t>Environment Setup/ Implementation</a:t>
            </a:r>
            <a:endParaRPr/>
          </a:p>
        </p:txBody>
      </p:sp>
      <p:sp>
        <p:nvSpPr>
          <p:cNvPr id="161" name="Google Shape;161;p23"/>
          <p:cNvSpPr txBox="1"/>
          <p:nvPr/>
        </p:nvSpPr>
        <p:spPr>
          <a:xfrm>
            <a:off x="217028" y="565847"/>
            <a:ext cx="8721217" cy="2923847"/>
          </a:xfrm>
          <a:prstGeom prst="rect">
            <a:avLst/>
          </a:prstGeom>
          <a:noFill/>
          <a:ln>
            <a:noFill/>
          </a:ln>
        </p:spPr>
        <p:txBody>
          <a:bodyPr spcFirstLastPara="1" wrap="square" lIns="91425" tIns="91425" rIns="91425" bIns="91425" anchor="t" anchorCtr="0">
            <a:spAutoFit/>
          </a:bodyPr>
          <a:lstStyle/>
          <a:p>
            <a:pPr algn="just" rtl="0">
              <a:spcBef>
                <a:spcPts val="1200"/>
              </a:spcBef>
              <a:spcAft>
                <a:spcPts val="1200"/>
              </a:spcAft>
            </a:pPr>
            <a:r>
              <a:rPr lang="en-US" sz="1600" b="0" i="0" u="none" strike="noStrike" dirty="0">
                <a:solidFill>
                  <a:srgbClr val="000000"/>
                </a:solidFill>
                <a:effectLst/>
                <a:latin typeface="Times New Roman" panose="02020603050405020304" pitchFamily="18" charset="0"/>
              </a:rPr>
              <a:t>A simple vacuum cleaner built into the robot is shown in Figure 11. The robot also uses UV light for sterilization, which turns on when the PIR sensor detects no movement. It has five UV lights connected in parallel, each with a wavelength of 100-400 nm and a brightness of 2500 MCD. The UV light setup is shown in Figure 12. A mobile application called ‘</a:t>
            </a:r>
            <a:r>
              <a:rPr lang="en-US" sz="1600" b="0" i="0" u="none" strike="noStrike" dirty="0" err="1">
                <a:solidFill>
                  <a:srgbClr val="000000"/>
                </a:solidFill>
                <a:effectLst/>
                <a:latin typeface="Times New Roman" panose="02020603050405020304" pitchFamily="18" charset="0"/>
              </a:rPr>
              <a:t>SanitiBot</a:t>
            </a:r>
            <a:r>
              <a:rPr lang="en-US" sz="1600" b="0" i="0" u="none" strike="noStrike" dirty="0">
                <a:solidFill>
                  <a:srgbClr val="000000"/>
                </a:solidFill>
                <a:effectLst/>
                <a:latin typeface="Times New Roman" panose="02020603050405020304" pitchFamily="18" charset="0"/>
              </a:rPr>
              <a:t>’ has also been developed using Flutter to show the robot’s real-time status and camera view. The robot’s status and camera view in the app are shown in Figure.</a:t>
            </a:r>
            <a:endParaRPr lang="en-US" sz="1600" b="0" dirty="0">
              <a:effectLst/>
            </a:endParaRPr>
          </a:p>
          <a:p>
            <a:br>
              <a:rPr lang="en-US" sz="2000" dirty="0"/>
            </a:br>
            <a:r>
              <a:rPr lang="en-US" sz="1800" b="0" i="0" u="none" strike="noStrike" dirty="0">
                <a:solidFill>
                  <a:srgbClr val="000000"/>
                </a:solidFill>
                <a:effectLst/>
                <a:latin typeface="Times New Roman" panose="02020603050405020304" pitchFamily="18" charset="0"/>
              </a:rPr>
              <a:t> </a:t>
            </a:r>
            <a:br>
              <a:rPr lang="en-US" sz="3200" dirty="0"/>
            </a:br>
            <a:endParaRPr sz="2400" b="1" dirty="0">
              <a:solidFill>
                <a:srgbClr val="7030A0"/>
              </a:solidFill>
            </a:endParaRPr>
          </a:p>
        </p:txBody>
      </p:sp>
      <p:pic>
        <p:nvPicPr>
          <p:cNvPr id="3074" name="Picture 2">
            <a:extLst>
              <a:ext uri="{FF2B5EF4-FFF2-40B4-BE49-F238E27FC236}">
                <a16:creationId xmlns:a16="http://schemas.microsoft.com/office/drawing/2014/main" id="{51FA9438-2207-C482-C47B-954D5ECBC3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472" y="2339482"/>
            <a:ext cx="1819275" cy="19335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8F9E3590-226C-527A-DF46-65862B1FB7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6888" y="2329957"/>
            <a:ext cx="1457325" cy="19431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D9CDFF71-77CC-1711-8465-275E387F11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6066" y="2329957"/>
            <a:ext cx="1457325" cy="19240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4053990-1B79-9200-4800-22A4B4FBC90C}"/>
              </a:ext>
            </a:extLst>
          </p:cNvPr>
          <p:cNvSpPr txBox="1"/>
          <p:nvPr/>
        </p:nvSpPr>
        <p:spPr>
          <a:xfrm>
            <a:off x="-621512" y="4273057"/>
            <a:ext cx="4583242" cy="738664"/>
          </a:xfrm>
          <a:prstGeom prst="rect">
            <a:avLst/>
          </a:prstGeom>
          <a:noFill/>
        </p:spPr>
        <p:txBody>
          <a:bodyPr wrap="square">
            <a:spAutoFit/>
          </a:bodyPr>
          <a:lstStyle/>
          <a:p>
            <a:pPr algn="ctr" rtl="0">
              <a:spcBef>
                <a:spcPts val="0"/>
              </a:spcBef>
              <a:spcAft>
                <a:spcPts val="0"/>
              </a:spcAft>
            </a:pPr>
            <a:r>
              <a:rPr lang="en-US" sz="1400" b="0" i="0" u="none" strike="noStrike" dirty="0">
                <a:solidFill>
                  <a:srgbClr val="000000"/>
                </a:solidFill>
                <a:effectLst/>
                <a:latin typeface="Times New Roman" panose="02020603050405020304" pitchFamily="18" charset="0"/>
              </a:rPr>
              <a:t>Fig: Vacuum Cleaning</a:t>
            </a:r>
            <a:endParaRPr lang="en-US" b="0" dirty="0">
              <a:effectLst/>
            </a:endParaRPr>
          </a:p>
          <a:p>
            <a:br>
              <a:rPr lang="en-US" dirty="0"/>
            </a:br>
            <a:endParaRPr lang="en-US" dirty="0"/>
          </a:p>
        </p:txBody>
      </p:sp>
      <p:sp>
        <p:nvSpPr>
          <p:cNvPr id="7" name="TextBox 6">
            <a:extLst>
              <a:ext uri="{FF2B5EF4-FFF2-40B4-BE49-F238E27FC236}">
                <a16:creationId xmlns:a16="http://schemas.microsoft.com/office/drawing/2014/main" id="{CFEC060B-84B1-AA60-932B-26D943BA4128}"/>
              </a:ext>
            </a:extLst>
          </p:cNvPr>
          <p:cNvSpPr txBox="1"/>
          <p:nvPr/>
        </p:nvSpPr>
        <p:spPr>
          <a:xfrm>
            <a:off x="3039255" y="4273057"/>
            <a:ext cx="4894288" cy="307777"/>
          </a:xfrm>
          <a:prstGeom prst="rect">
            <a:avLst/>
          </a:prstGeom>
          <a:noFill/>
        </p:spPr>
        <p:txBody>
          <a:bodyPr wrap="square">
            <a:spAutoFit/>
          </a:bodyPr>
          <a:lstStyle/>
          <a:p>
            <a:r>
              <a:rPr lang="en-US" sz="1400" b="0" i="0" u="none" strike="noStrike" dirty="0">
                <a:solidFill>
                  <a:srgbClr val="000000"/>
                </a:solidFill>
                <a:effectLst/>
                <a:latin typeface="Times New Roman" panose="02020603050405020304" pitchFamily="18" charset="0"/>
              </a:rPr>
              <a:t>Fig : UV Light Set-Up</a:t>
            </a:r>
            <a:endParaRPr lang="en-US" dirty="0"/>
          </a:p>
        </p:txBody>
      </p:sp>
      <p:sp>
        <p:nvSpPr>
          <p:cNvPr id="9" name="TextBox 8">
            <a:extLst>
              <a:ext uri="{FF2B5EF4-FFF2-40B4-BE49-F238E27FC236}">
                <a16:creationId xmlns:a16="http://schemas.microsoft.com/office/drawing/2014/main" id="{D5247D5D-55DC-FD1E-77B6-1C6132FF492E}"/>
              </a:ext>
            </a:extLst>
          </p:cNvPr>
          <p:cNvSpPr txBox="1"/>
          <p:nvPr/>
        </p:nvSpPr>
        <p:spPr>
          <a:xfrm>
            <a:off x="5343714" y="4210053"/>
            <a:ext cx="4894288" cy="307777"/>
          </a:xfrm>
          <a:prstGeom prst="rect">
            <a:avLst/>
          </a:prstGeom>
          <a:noFill/>
        </p:spPr>
        <p:txBody>
          <a:bodyPr wrap="square">
            <a:spAutoFit/>
          </a:bodyPr>
          <a:lstStyle/>
          <a:p>
            <a:r>
              <a:rPr lang="en-US" sz="1400" b="0" i="0" u="none" strike="noStrike" dirty="0">
                <a:solidFill>
                  <a:srgbClr val="000000"/>
                </a:solidFill>
                <a:effectLst/>
                <a:latin typeface="Times New Roman" panose="02020603050405020304" pitchFamily="18" charset="0"/>
              </a:rPr>
              <a:t>Fig: Mobile App Interface</a:t>
            </a:r>
            <a:endParaRPr lang="en-US" dirty="0"/>
          </a:p>
        </p:txBody>
      </p:sp>
    </p:spTree>
    <p:extLst>
      <p:ext uri="{BB962C8B-B14F-4D97-AF65-F5344CB8AC3E}">
        <p14:creationId xmlns:p14="http://schemas.microsoft.com/office/powerpoint/2010/main" val="4115768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3"/>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a:solidFill>
                  <a:srgbClr val="002060"/>
                </a:solidFill>
                <a:latin typeface="Calibri"/>
                <a:ea typeface="Calibri"/>
                <a:cs typeface="Calibri"/>
                <a:sym typeface="Calibri"/>
              </a:rPr>
              <a:t>Environment Setup/ Implementation</a:t>
            </a:r>
            <a:endParaRPr/>
          </a:p>
        </p:txBody>
      </p:sp>
      <p:sp>
        <p:nvSpPr>
          <p:cNvPr id="161" name="Google Shape;161;p23"/>
          <p:cNvSpPr txBox="1"/>
          <p:nvPr/>
        </p:nvSpPr>
        <p:spPr>
          <a:xfrm>
            <a:off x="211391" y="620156"/>
            <a:ext cx="8721217" cy="1631185"/>
          </a:xfrm>
          <a:prstGeom prst="rect">
            <a:avLst/>
          </a:prstGeom>
          <a:noFill/>
          <a:ln>
            <a:noFill/>
          </a:ln>
        </p:spPr>
        <p:txBody>
          <a:bodyPr spcFirstLastPara="1" wrap="square" lIns="91425" tIns="91425" rIns="91425" bIns="91425" anchor="t" anchorCtr="0">
            <a:spAutoFit/>
          </a:bodyPr>
          <a:lstStyle/>
          <a:p>
            <a:pPr algn="just" rtl="0">
              <a:spcBef>
                <a:spcPts val="1200"/>
              </a:spcBef>
              <a:spcAft>
                <a:spcPts val="1200"/>
              </a:spcAft>
            </a:pPr>
            <a:r>
              <a:rPr lang="en-US" sz="1600" b="0" i="0" u="none" strike="noStrike" dirty="0">
                <a:solidFill>
                  <a:srgbClr val="000000"/>
                </a:solidFill>
                <a:effectLst/>
                <a:latin typeface="Times New Roman" panose="02020603050405020304" pitchFamily="18" charset="0"/>
              </a:rPr>
              <a:t>When both IR sensors detect black line at the same time, the robot is back in the home position. It stops moving, turns off the UV lights and vacuum cleaner and starts charging using a wireless module. The charging station has a transmitter coil and a receiver coil underneath it shown in Figure</a:t>
            </a:r>
            <a:r>
              <a:rPr lang="en-US" sz="1800" b="0" i="0" u="none" strike="noStrike" dirty="0">
                <a:solidFill>
                  <a:srgbClr val="000000"/>
                </a:solidFill>
                <a:effectLst/>
                <a:latin typeface="Times New Roman" panose="02020603050405020304" pitchFamily="18" charset="0"/>
              </a:rPr>
              <a:t>. </a:t>
            </a:r>
            <a:br>
              <a:rPr lang="en-US" sz="3200" dirty="0"/>
            </a:br>
            <a:endParaRPr sz="2400" b="1" dirty="0">
              <a:solidFill>
                <a:srgbClr val="7030A0"/>
              </a:solidFill>
            </a:endParaRPr>
          </a:p>
        </p:txBody>
      </p:sp>
      <p:pic>
        <p:nvPicPr>
          <p:cNvPr id="2050" name="Picture 2">
            <a:extLst>
              <a:ext uri="{FF2B5EF4-FFF2-40B4-BE49-F238E27FC236}">
                <a16:creationId xmlns:a16="http://schemas.microsoft.com/office/drawing/2014/main" id="{124CFC30-B552-BC4F-CF2C-FC655A34E8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0227" y="1861903"/>
            <a:ext cx="1971675" cy="244068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73D7C422-7B7C-08E5-0765-AD2FDE5443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5421" y="1923019"/>
            <a:ext cx="1733550" cy="237956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A9BFADD-3CF1-B56F-C4F8-E57E6E762ACF}"/>
              </a:ext>
            </a:extLst>
          </p:cNvPr>
          <p:cNvSpPr txBox="1"/>
          <p:nvPr/>
        </p:nvSpPr>
        <p:spPr>
          <a:xfrm>
            <a:off x="455326" y="4302584"/>
            <a:ext cx="4583242" cy="307777"/>
          </a:xfrm>
          <a:prstGeom prst="rect">
            <a:avLst/>
          </a:prstGeom>
          <a:noFill/>
        </p:spPr>
        <p:txBody>
          <a:bodyPr wrap="square">
            <a:spAutoFit/>
          </a:bodyPr>
          <a:lstStyle/>
          <a:p>
            <a:r>
              <a:rPr lang="en-US" sz="1400" b="0" i="0" u="none" strike="noStrike" dirty="0">
                <a:solidFill>
                  <a:srgbClr val="000000"/>
                </a:solidFill>
                <a:effectLst/>
                <a:latin typeface="Times New Roman" panose="02020603050405020304" pitchFamily="18" charset="0"/>
              </a:rPr>
              <a:t>Fig : Charging station at home (Transmitter coil)</a:t>
            </a:r>
            <a:endParaRPr lang="en-US" dirty="0"/>
          </a:p>
        </p:txBody>
      </p:sp>
      <p:sp>
        <p:nvSpPr>
          <p:cNvPr id="5" name="TextBox 4">
            <a:extLst>
              <a:ext uri="{FF2B5EF4-FFF2-40B4-BE49-F238E27FC236}">
                <a16:creationId xmlns:a16="http://schemas.microsoft.com/office/drawing/2014/main" id="{5C998BA0-B0EE-B685-7EAD-80CF9A1AB1FE}"/>
              </a:ext>
            </a:extLst>
          </p:cNvPr>
          <p:cNvSpPr txBox="1"/>
          <p:nvPr/>
        </p:nvSpPr>
        <p:spPr>
          <a:xfrm>
            <a:off x="3978015" y="4302584"/>
            <a:ext cx="4583242" cy="738664"/>
          </a:xfrm>
          <a:prstGeom prst="rect">
            <a:avLst/>
          </a:prstGeom>
          <a:noFill/>
        </p:spPr>
        <p:txBody>
          <a:bodyPr wrap="square">
            <a:spAutoFit/>
          </a:bodyPr>
          <a:lstStyle/>
          <a:p>
            <a:pPr rtl="0">
              <a:spcBef>
                <a:spcPts val="0"/>
              </a:spcBef>
              <a:spcAft>
                <a:spcPts val="0"/>
              </a:spcAft>
            </a:pPr>
            <a:r>
              <a:rPr lang="en-US" sz="1400" b="0" i="0" u="none" strike="noStrike" dirty="0">
                <a:solidFill>
                  <a:srgbClr val="000000"/>
                </a:solidFill>
                <a:effectLst/>
                <a:latin typeface="Times New Roman" panose="02020603050405020304" pitchFamily="18" charset="0"/>
              </a:rPr>
              <a:t>(b) Receiver coil of charging module attached to the robot</a:t>
            </a:r>
            <a:endParaRPr lang="en-US" b="0" dirty="0">
              <a:effectLst/>
            </a:endParaRPr>
          </a:p>
          <a:p>
            <a:br>
              <a:rPr lang="en-US" dirty="0"/>
            </a:br>
            <a:endParaRPr lang="en-US" dirty="0"/>
          </a:p>
        </p:txBody>
      </p:sp>
    </p:spTree>
    <p:extLst>
      <p:ext uri="{BB962C8B-B14F-4D97-AF65-F5344CB8AC3E}">
        <p14:creationId xmlns:p14="http://schemas.microsoft.com/office/powerpoint/2010/main" val="2794874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4"/>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a:solidFill>
                  <a:srgbClr val="002060"/>
                </a:solidFill>
                <a:latin typeface="Calibri"/>
                <a:ea typeface="Calibri"/>
                <a:cs typeface="Calibri"/>
                <a:sym typeface="Calibri"/>
              </a:rPr>
              <a:t>Result and Discussion </a:t>
            </a:r>
            <a:endParaRPr/>
          </a:p>
        </p:txBody>
      </p:sp>
      <p:sp>
        <p:nvSpPr>
          <p:cNvPr id="168" name="Google Shape;168;p24"/>
          <p:cNvSpPr txBox="1"/>
          <p:nvPr/>
        </p:nvSpPr>
        <p:spPr>
          <a:xfrm>
            <a:off x="101099" y="112158"/>
            <a:ext cx="9144000" cy="91868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endParaRPr sz="1800" dirty="0">
              <a:solidFill>
                <a:schemeClr val="dk1"/>
              </a:solidFill>
            </a:endParaRPr>
          </a:p>
          <a:p>
            <a:pPr marL="0" lvl="0" indent="0" algn="l" rtl="0">
              <a:lnSpc>
                <a:spcPct val="150000"/>
              </a:lnSpc>
              <a:spcBef>
                <a:spcPts val="0"/>
              </a:spcBef>
              <a:spcAft>
                <a:spcPts val="0"/>
              </a:spcAft>
              <a:buClr>
                <a:schemeClr val="dk1"/>
              </a:buClr>
              <a:buSzPts val="1100"/>
              <a:buFont typeface="Arial"/>
              <a:buNone/>
            </a:pPr>
            <a:endParaRPr sz="1800" dirty="0">
              <a:solidFill>
                <a:schemeClr val="dk1"/>
              </a:solidFill>
            </a:endParaRPr>
          </a:p>
        </p:txBody>
      </p:sp>
      <p:sp>
        <p:nvSpPr>
          <p:cNvPr id="3" name="TextBox 2">
            <a:extLst>
              <a:ext uri="{FF2B5EF4-FFF2-40B4-BE49-F238E27FC236}">
                <a16:creationId xmlns:a16="http://schemas.microsoft.com/office/drawing/2014/main" id="{002D203E-096B-0DC0-DDA3-B481728CAFEF}"/>
              </a:ext>
            </a:extLst>
          </p:cNvPr>
          <p:cNvSpPr txBox="1"/>
          <p:nvPr/>
        </p:nvSpPr>
        <p:spPr>
          <a:xfrm>
            <a:off x="1165486" y="897033"/>
            <a:ext cx="7438868" cy="1169551"/>
          </a:xfrm>
          <a:prstGeom prst="rect">
            <a:avLst/>
          </a:prstGeom>
          <a:noFill/>
        </p:spPr>
        <p:txBody>
          <a:bodyPr wrap="square">
            <a:spAutoFit/>
          </a:bodyPr>
          <a:lstStyle/>
          <a:p>
            <a:pPr algn="just"/>
            <a:r>
              <a:rPr lang="en-US" sz="1400" b="0" i="0" u="none" strike="noStrike" dirty="0">
                <a:solidFill>
                  <a:srgbClr val="000000"/>
                </a:solidFill>
                <a:effectLst/>
                <a:latin typeface="Times New Roman" panose="02020603050405020304" pitchFamily="18" charset="0"/>
              </a:rPr>
              <a:t>The robot equipped with YOLOv3 has been tested in our environment and showed satisfactory results. Each detection of a living being successfully triggered an email alert, demonstrating the robot’s reliability in real-time monitoring and alerting</a:t>
            </a:r>
            <a:r>
              <a:rPr lang="en-US" b="0" i="0" u="none" strike="noStrike" dirty="0">
                <a:solidFill>
                  <a:srgbClr val="000000"/>
                </a:solidFill>
                <a:effectLst/>
                <a:latin typeface="Times New Roman" panose="02020603050405020304" pitchFamily="18" charset="0"/>
              </a:rPr>
              <a:t>. It achieved 99% accuracy in detecting living beings and 98% accuracy for other objects.</a:t>
            </a:r>
          </a:p>
          <a:p>
            <a:pPr algn="just"/>
            <a:endParaRPr lang="en-US" dirty="0"/>
          </a:p>
        </p:txBody>
      </p:sp>
      <p:pic>
        <p:nvPicPr>
          <p:cNvPr id="6146" name="Picture 2">
            <a:extLst>
              <a:ext uri="{FF2B5EF4-FFF2-40B4-BE49-F238E27FC236}">
                <a16:creationId xmlns:a16="http://schemas.microsoft.com/office/drawing/2014/main" id="{3C39CDF8-BCB5-C879-74B1-B204BBD4B1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6780" y="2079604"/>
            <a:ext cx="283845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BA313785-B4A2-6FC2-CD67-A4A70A79FE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2425" y="2079604"/>
            <a:ext cx="2038350" cy="21336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E3C4CE1-51E1-7294-60BF-847B39A25019}"/>
              </a:ext>
            </a:extLst>
          </p:cNvPr>
          <p:cNvSpPr txBox="1"/>
          <p:nvPr/>
        </p:nvSpPr>
        <p:spPr>
          <a:xfrm>
            <a:off x="3099217" y="4556841"/>
            <a:ext cx="4639454" cy="307777"/>
          </a:xfrm>
          <a:prstGeom prst="rect">
            <a:avLst/>
          </a:prstGeom>
          <a:noFill/>
        </p:spPr>
        <p:txBody>
          <a:bodyPr wrap="square">
            <a:spAutoFit/>
          </a:bodyPr>
          <a:lstStyle/>
          <a:p>
            <a:r>
              <a:rPr lang="en-US" sz="1400" b="0" i="0" u="none" strike="noStrike" dirty="0">
                <a:solidFill>
                  <a:srgbClr val="000000"/>
                </a:solidFill>
                <a:effectLst/>
                <a:latin typeface="Times New Roman" panose="02020603050405020304" pitchFamily="18" charset="0"/>
              </a:rPr>
              <a:t>Fig: Living Being Detection</a:t>
            </a:r>
            <a:endParaRPr lang="en-US" dirty="0"/>
          </a:p>
        </p:txBody>
      </p:sp>
    </p:spTree>
    <p:extLst>
      <p:ext uri="{BB962C8B-B14F-4D97-AF65-F5344CB8AC3E}">
        <p14:creationId xmlns:p14="http://schemas.microsoft.com/office/powerpoint/2010/main" val="441358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4"/>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a:solidFill>
                  <a:srgbClr val="002060"/>
                </a:solidFill>
                <a:latin typeface="Calibri"/>
                <a:ea typeface="Calibri"/>
                <a:cs typeface="Calibri"/>
                <a:sym typeface="Calibri"/>
              </a:rPr>
              <a:t>Result and Discussion </a:t>
            </a:r>
            <a:endParaRPr/>
          </a:p>
        </p:txBody>
      </p:sp>
      <p:sp>
        <p:nvSpPr>
          <p:cNvPr id="168" name="Google Shape;168;p24"/>
          <p:cNvSpPr txBox="1"/>
          <p:nvPr/>
        </p:nvSpPr>
        <p:spPr>
          <a:xfrm>
            <a:off x="137970" y="329925"/>
            <a:ext cx="9144000" cy="91868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endParaRPr sz="1800" dirty="0">
              <a:solidFill>
                <a:schemeClr val="dk1"/>
              </a:solidFill>
            </a:endParaRPr>
          </a:p>
          <a:p>
            <a:pPr marL="0" lvl="0" indent="0" algn="l" rtl="0">
              <a:lnSpc>
                <a:spcPct val="150000"/>
              </a:lnSpc>
              <a:spcBef>
                <a:spcPts val="0"/>
              </a:spcBef>
              <a:spcAft>
                <a:spcPts val="0"/>
              </a:spcAft>
              <a:buNone/>
            </a:pPr>
            <a:endParaRPr sz="1800" dirty="0">
              <a:solidFill>
                <a:schemeClr val="dk1"/>
              </a:solidFill>
            </a:endParaRPr>
          </a:p>
        </p:txBody>
      </p:sp>
      <p:sp>
        <p:nvSpPr>
          <p:cNvPr id="5" name="TextBox 4">
            <a:extLst>
              <a:ext uri="{FF2B5EF4-FFF2-40B4-BE49-F238E27FC236}">
                <a16:creationId xmlns:a16="http://schemas.microsoft.com/office/drawing/2014/main" id="{2E3C4CE1-51E1-7294-60BF-847B39A25019}"/>
              </a:ext>
            </a:extLst>
          </p:cNvPr>
          <p:cNvSpPr txBox="1"/>
          <p:nvPr/>
        </p:nvSpPr>
        <p:spPr>
          <a:xfrm>
            <a:off x="1160892" y="3721033"/>
            <a:ext cx="4639454" cy="461665"/>
          </a:xfrm>
          <a:prstGeom prst="rect">
            <a:avLst/>
          </a:prstGeom>
          <a:noFill/>
        </p:spPr>
        <p:txBody>
          <a:bodyPr wrap="square">
            <a:spAutoFit/>
          </a:bodyPr>
          <a:lstStyle/>
          <a:p>
            <a:endParaRPr lang="en-US" sz="1200" b="0" i="0" u="none" strike="noStrike" dirty="0">
              <a:solidFill>
                <a:srgbClr val="000000"/>
              </a:solidFill>
              <a:effectLst/>
              <a:latin typeface="Times New Roman" panose="02020603050405020304" pitchFamily="18" charset="0"/>
            </a:endParaRPr>
          </a:p>
          <a:p>
            <a:r>
              <a:rPr lang="en-US" sz="1200" b="0" i="0" u="none" strike="noStrike" dirty="0">
                <a:solidFill>
                  <a:srgbClr val="000000"/>
                </a:solidFill>
                <a:effectLst/>
                <a:latin typeface="Times New Roman" panose="02020603050405020304" pitchFamily="18" charset="0"/>
              </a:rPr>
              <a:t>Fig: Warning email received after living being detection </a:t>
            </a:r>
            <a:endParaRPr lang="en-US" sz="1200" dirty="0"/>
          </a:p>
        </p:txBody>
      </p:sp>
      <p:pic>
        <p:nvPicPr>
          <p:cNvPr id="7170" name="Picture 2">
            <a:extLst>
              <a:ext uri="{FF2B5EF4-FFF2-40B4-BE49-F238E27FC236}">
                <a16:creationId xmlns:a16="http://schemas.microsoft.com/office/drawing/2014/main" id="{F1DF33DB-3E03-51CE-45FD-FDBB070074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345" y="1385541"/>
            <a:ext cx="2677047" cy="237241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C106A83D-9DCC-C7E7-9CD6-4C1C701A18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3299" y="1404003"/>
            <a:ext cx="2677047" cy="233549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1694255C-96EB-46D1-B623-CC6B7BCE95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97820" y="1385541"/>
            <a:ext cx="2171700" cy="252412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43420C5-7152-435F-9728-783957A8EDCF}"/>
              </a:ext>
            </a:extLst>
          </p:cNvPr>
          <p:cNvSpPr txBox="1"/>
          <p:nvPr/>
        </p:nvSpPr>
        <p:spPr>
          <a:xfrm>
            <a:off x="5356697" y="3905699"/>
            <a:ext cx="4642054" cy="461665"/>
          </a:xfrm>
          <a:prstGeom prst="rect">
            <a:avLst/>
          </a:prstGeom>
          <a:noFill/>
        </p:spPr>
        <p:txBody>
          <a:bodyPr wrap="square">
            <a:spAutoFit/>
          </a:bodyPr>
          <a:lstStyle/>
          <a:p>
            <a:pPr algn="ctr" rtl="0">
              <a:spcBef>
                <a:spcPts val="0"/>
              </a:spcBef>
              <a:spcAft>
                <a:spcPts val="0"/>
              </a:spcAft>
            </a:pPr>
            <a:r>
              <a:rPr lang="en-US" sz="1200" b="0" i="0" u="none" strike="noStrike" dirty="0">
                <a:solidFill>
                  <a:srgbClr val="000000"/>
                </a:solidFill>
                <a:effectLst/>
                <a:latin typeface="Times New Roman" panose="02020603050405020304" pitchFamily="18" charset="0"/>
              </a:rPr>
              <a:t>Fig: Accuracy of detecting </a:t>
            </a:r>
          </a:p>
          <a:p>
            <a:pPr algn="ctr" rtl="0">
              <a:spcBef>
                <a:spcPts val="0"/>
              </a:spcBef>
              <a:spcAft>
                <a:spcPts val="0"/>
              </a:spcAft>
            </a:pPr>
            <a:r>
              <a:rPr lang="en-US" sz="1200" b="0" i="0" u="none" strike="noStrike" dirty="0">
                <a:solidFill>
                  <a:srgbClr val="000000"/>
                </a:solidFill>
                <a:effectLst/>
                <a:latin typeface="Times New Roman" panose="02020603050405020304" pitchFamily="18" charset="0"/>
              </a:rPr>
              <a:t>living beings and objects  </a:t>
            </a:r>
            <a:endParaRPr lang="en-US" sz="1200" b="0" dirty="0">
              <a:effectLst/>
            </a:endParaRPr>
          </a:p>
        </p:txBody>
      </p:sp>
    </p:spTree>
    <p:extLst>
      <p:ext uri="{BB962C8B-B14F-4D97-AF65-F5344CB8AC3E}">
        <p14:creationId xmlns:p14="http://schemas.microsoft.com/office/powerpoint/2010/main" val="398123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4"/>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a:solidFill>
                  <a:srgbClr val="002060"/>
                </a:solidFill>
                <a:latin typeface="Calibri"/>
                <a:ea typeface="Calibri"/>
                <a:cs typeface="Calibri"/>
                <a:sym typeface="Calibri"/>
              </a:rPr>
              <a:t>Result and Discussion </a:t>
            </a:r>
            <a:endParaRPr/>
          </a:p>
        </p:txBody>
      </p:sp>
      <p:sp>
        <p:nvSpPr>
          <p:cNvPr id="168" name="Google Shape;168;p24"/>
          <p:cNvSpPr txBox="1"/>
          <p:nvPr/>
        </p:nvSpPr>
        <p:spPr>
          <a:xfrm>
            <a:off x="137970" y="329925"/>
            <a:ext cx="9144000" cy="91868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endParaRPr sz="1800" dirty="0">
              <a:solidFill>
                <a:schemeClr val="dk1"/>
              </a:solidFill>
            </a:endParaRPr>
          </a:p>
          <a:p>
            <a:pPr marL="0" lvl="0" indent="0" algn="l" rtl="0">
              <a:lnSpc>
                <a:spcPct val="150000"/>
              </a:lnSpc>
              <a:spcBef>
                <a:spcPts val="0"/>
              </a:spcBef>
              <a:spcAft>
                <a:spcPts val="0"/>
              </a:spcAft>
              <a:buNone/>
            </a:pPr>
            <a:endParaRPr sz="1800" dirty="0">
              <a:solidFill>
                <a:schemeClr val="dk1"/>
              </a:solidFill>
            </a:endParaRPr>
          </a:p>
        </p:txBody>
      </p:sp>
      <p:sp>
        <p:nvSpPr>
          <p:cNvPr id="4" name="TextBox 3">
            <a:extLst>
              <a:ext uri="{FF2B5EF4-FFF2-40B4-BE49-F238E27FC236}">
                <a16:creationId xmlns:a16="http://schemas.microsoft.com/office/drawing/2014/main" id="{198CBFC0-97AC-41DB-FB7C-D38BB21ACE17}"/>
              </a:ext>
            </a:extLst>
          </p:cNvPr>
          <p:cNvSpPr txBox="1"/>
          <p:nvPr/>
        </p:nvSpPr>
        <p:spPr>
          <a:xfrm>
            <a:off x="-67454" y="3921023"/>
            <a:ext cx="4639454" cy="892552"/>
          </a:xfrm>
          <a:prstGeom prst="rect">
            <a:avLst/>
          </a:prstGeom>
          <a:noFill/>
        </p:spPr>
        <p:txBody>
          <a:bodyPr wrap="square">
            <a:spAutoFit/>
          </a:bodyPr>
          <a:lstStyle/>
          <a:p>
            <a:pPr algn="ctr" rtl="0">
              <a:spcBef>
                <a:spcPts val="0"/>
              </a:spcBef>
              <a:spcAft>
                <a:spcPts val="0"/>
              </a:spcAft>
            </a:pPr>
            <a:r>
              <a:rPr lang="en-US" sz="1200" b="0" i="0" u="none" strike="noStrike" dirty="0">
                <a:solidFill>
                  <a:srgbClr val="000000"/>
                </a:solidFill>
                <a:effectLst/>
                <a:latin typeface="Times" panose="02020603050405020304" pitchFamily="18" charset="0"/>
                <a:cs typeface="Times" panose="02020603050405020304" pitchFamily="18" charset="0"/>
              </a:rPr>
              <a:t>Fig: Correlation Between PIR Motion Detection and UV Light Activation With 3-Second Delay Over Time </a:t>
            </a:r>
            <a:endParaRPr lang="en-US" sz="1200" b="0" dirty="0">
              <a:effectLst/>
              <a:latin typeface="Times" panose="02020603050405020304" pitchFamily="18" charset="0"/>
              <a:cs typeface="Times" panose="02020603050405020304" pitchFamily="18" charset="0"/>
            </a:endParaRPr>
          </a:p>
          <a:p>
            <a:br>
              <a:rPr lang="en-US" dirty="0"/>
            </a:br>
            <a:endParaRPr lang="en-US" dirty="0"/>
          </a:p>
        </p:txBody>
      </p:sp>
      <p:pic>
        <p:nvPicPr>
          <p:cNvPr id="9218" name="Picture 2">
            <a:extLst>
              <a:ext uri="{FF2B5EF4-FFF2-40B4-BE49-F238E27FC236}">
                <a16:creationId xmlns:a16="http://schemas.microsoft.com/office/drawing/2014/main" id="{7F228681-5F1F-0B0C-51B8-23C802C991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697" y="1130325"/>
            <a:ext cx="3440774" cy="272833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CF55208-C4E5-466D-A148-CDF3FE13AF32}"/>
              </a:ext>
            </a:extLst>
          </p:cNvPr>
          <p:cNvSpPr txBox="1"/>
          <p:nvPr/>
        </p:nvSpPr>
        <p:spPr>
          <a:xfrm>
            <a:off x="3955471" y="1648808"/>
            <a:ext cx="4675238" cy="2031325"/>
          </a:xfrm>
          <a:prstGeom prst="rect">
            <a:avLst/>
          </a:prstGeom>
          <a:noFill/>
        </p:spPr>
        <p:txBody>
          <a:bodyPr wrap="square">
            <a:spAutoFit/>
          </a:bodyPr>
          <a:lstStyle/>
          <a:p>
            <a:pPr marL="285750" indent="-285750" algn="just" rtl="0">
              <a:spcBef>
                <a:spcPts val="0"/>
              </a:spcBef>
              <a:spcAft>
                <a:spcPts val="0"/>
              </a:spcAft>
              <a:buFont typeface="Arial" panose="020B0604020202020204" pitchFamily="34" charset="0"/>
              <a:buChar char="•"/>
            </a:pPr>
            <a:r>
              <a:rPr lang="en-US" sz="1400" b="1" i="0" u="none" strike="noStrike" dirty="0">
                <a:solidFill>
                  <a:srgbClr val="000000"/>
                </a:solidFill>
                <a:effectLst/>
                <a:latin typeface="Times" panose="02020603050405020304" pitchFamily="18" charset="0"/>
                <a:cs typeface="Times" panose="02020603050405020304" pitchFamily="18" charset="0"/>
              </a:rPr>
              <a:t>Experimental Result of Vacuum Cleaning: </a:t>
            </a:r>
            <a:r>
              <a:rPr lang="en-US" sz="1400" b="0" i="0" u="none" strike="noStrike" dirty="0">
                <a:solidFill>
                  <a:srgbClr val="000000"/>
                </a:solidFill>
                <a:effectLst/>
                <a:latin typeface="Times" panose="02020603050405020304" pitchFamily="18" charset="0"/>
                <a:cs typeface="Times" panose="02020603050405020304" pitchFamily="18" charset="0"/>
              </a:rPr>
              <a:t>The dust collection percentage has been calculated by dividing the collected dust weight by the initial dust weight for each trial and then averaging the results. The overall data collection percentage was 97.68 %</a:t>
            </a:r>
          </a:p>
          <a:p>
            <a:pPr marL="285750" indent="-285750" algn="just" rtl="0">
              <a:spcBef>
                <a:spcPts val="0"/>
              </a:spcBef>
              <a:spcAft>
                <a:spcPts val="0"/>
              </a:spcAft>
              <a:buFont typeface="Arial" panose="020B0604020202020204" pitchFamily="34" charset="0"/>
              <a:buChar char="•"/>
            </a:pPr>
            <a:endParaRPr lang="en-US" b="1" dirty="0">
              <a:latin typeface="Times" panose="02020603050405020304" pitchFamily="18" charset="0"/>
              <a:cs typeface="Times" panose="02020603050405020304" pitchFamily="18" charset="0"/>
            </a:endParaRPr>
          </a:p>
          <a:p>
            <a:pPr marL="285750" indent="-285750" algn="just">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Experimental Result of Obstacle Avoidance: </a:t>
            </a:r>
            <a:r>
              <a:rPr lang="en-US" sz="1400" b="0" i="0" u="none" strike="noStrike" dirty="0">
                <a:solidFill>
                  <a:srgbClr val="000000"/>
                </a:solidFill>
                <a:effectLst/>
                <a:latin typeface="Times New Roman" panose="02020603050405020304" pitchFamily="18" charset="0"/>
                <a:cs typeface="Times New Roman" panose="02020603050405020304" pitchFamily="18" charset="0"/>
              </a:rPr>
              <a:t>In our designed environment, we have three obstacles. The robot is tested five times and the success rate is 86.67%. </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7991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4"/>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dirty="0">
                <a:solidFill>
                  <a:srgbClr val="002060"/>
                </a:solidFill>
                <a:latin typeface="Calibri"/>
                <a:ea typeface="Calibri"/>
                <a:cs typeface="Calibri"/>
                <a:sym typeface="Calibri"/>
              </a:rPr>
              <a:t>Impacts</a:t>
            </a:r>
            <a:endParaRPr dirty="0"/>
          </a:p>
        </p:txBody>
      </p:sp>
      <p:pic>
        <p:nvPicPr>
          <p:cNvPr id="3" name="Picture 2">
            <a:extLst>
              <a:ext uri="{FF2B5EF4-FFF2-40B4-BE49-F238E27FC236}">
                <a16:creationId xmlns:a16="http://schemas.microsoft.com/office/drawing/2014/main" id="{912696AE-4ECE-48C4-96D3-391C734BC805}"/>
              </a:ext>
            </a:extLst>
          </p:cNvPr>
          <p:cNvPicPr>
            <a:picLocks noChangeAspect="1"/>
          </p:cNvPicPr>
          <p:nvPr/>
        </p:nvPicPr>
        <p:blipFill>
          <a:blip r:embed="rId3"/>
          <a:stretch>
            <a:fillRect/>
          </a:stretch>
        </p:blipFill>
        <p:spPr>
          <a:xfrm>
            <a:off x="2223325" y="866247"/>
            <a:ext cx="4162727" cy="4038260"/>
          </a:xfrm>
          <a:prstGeom prst="rect">
            <a:avLst/>
          </a:prstGeom>
        </p:spPr>
      </p:pic>
    </p:spTree>
    <p:extLst>
      <p:ext uri="{BB962C8B-B14F-4D97-AF65-F5344CB8AC3E}">
        <p14:creationId xmlns:p14="http://schemas.microsoft.com/office/powerpoint/2010/main" val="3550075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310614-258E-442F-A312-15C8DEBB54FD}"/>
              </a:ext>
            </a:extLst>
          </p:cNvPr>
          <p:cNvSpPr txBox="1"/>
          <p:nvPr/>
        </p:nvSpPr>
        <p:spPr>
          <a:xfrm>
            <a:off x="733731" y="148454"/>
            <a:ext cx="6913307" cy="646331"/>
          </a:xfrm>
          <a:prstGeom prst="rect">
            <a:avLst/>
          </a:prstGeom>
          <a:noFill/>
        </p:spPr>
        <p:txBody>
          <a:bodyPr wrap="square">
            <a:spAutoFit/>
          </a:bodyPr>
          <a:lstStyle/>
          <a:p>
            <a:r>
              <a:rPr lang="en" sz="3600" b="1" dirty="0">
                <a:solidFill>
                  <a:srgbClr val="002060"/>
                </a:solidFill>
                <a:latin typeface="Calibri"/>
                <a:cs typeface="Calibri"/>
                <a:sym typeface="Calibri"/>
              </a:rPr>
              <a:t>Limitations and Future Works</a:t>
            </a:r>
            <a:endParaRPr lang="en-US" sz="3600" dirty="0"/>
          </a:p>
        </p:txBody>
      </p:sp>
      <p:sp>
        <p:nvSpPr>
          <p:cNvPr id="4" name="TextBox 3">
            <a:extLst>
              <a:ext uri="{FF2B5EF4-FFF2-40B4-BE49-F238E27FC236}">
                <a16:creationId xmlns:a16="http://schemas.microsoft.com/office/drawing/2014/main" id="{B28FE620-3D35-A5DB-142C-16FF62D6478E}"/>
              </a:ext>
            </a:extLst>
          </p:cNvPr>
          <p:cNvSpPr txBox="1"/>
          <p:nvPr/>
        </p:nvSpPr>
        <p:spPr>
          <a:xfrm>
            <a:off x="1011836" y="802035"/>
            <a:ext cx="7270229" cy="4185761"/>
          </a:xfrm>
          <a:prstGeom prst="rect">
            <a:avLst/>
          </a:prstGeom>
          <a:noFill/>
        </p:spPr>
        <p:txBody>
          <a:bodyPr wrap="square">
            <a:spAutoFit/>
          </a:bodyPr>
          <a:lstStyle/>
          <a:p>
            <a:pPr marL="285750" indent="-285750">
              <a:buFont typeface="Arial" panose="020B0604020202020204" pitchFamily="34" charset="0"/>
              <a:buChar char="•"/>
            </a:pPr>
            <a:r>
              <a:rPr lang="en-US" b="1" i="0" dirty="0">
                <a:solidFill>
                  <a:schemeClr val="tx1"/>
                </a:solidFill>
                <a:effectLst/>
                <a:latin typeface="Times" panose="02020603050405020304" pitchFamily="18" charset="0"/>
                <a:cs typeface="Times" panose="02020603050405020304" pitchFamily="18" charset="0"/>
              </a:rPr>
              <a:t>Line-Following Limitations: </a:t>
            </a:r>
            <a:r>
              <a:rPr lang="en-US" b="0" i="0" dirty="0">
                <a:solidFill>
                  <a:schemeClr val="tx1"/>
                </a:solidFill>
                <a:effectLst/>
                <a:latin typeface="Times" panose="02020603050405020304" pitchFamily="18" charset="0"/>
                <a:cs typeface="Times" panose="02020603050405020304" pitchFamily="18" charset="0"/>
              </a:rPr>
              <a:t>The current robot relies on following lines, which may not always be present, limiting adaptability in various environments. </a:t>
            </a:r>
          </a:p>
          <a:p>
            <a:pPr marL="285750" indent="-285750">
              <a:buFont typeface="Arial" panose="020B0604020202020204" pitchFamily="34" charset="0"/>
              <a:buChar char="•"/>
            </a:pPr>
            <a:endParaRPr lang="en-US" b="0" i="0" dirty="0">
              <a:solidFill>
                <a:schemeClr val="tx1"/>
              </a:solidFill>
              <a:effectLst/>
              <a:latin typeface="Times" panose="02020603050405020304" pitchFamily="18" charset="0"/>
              <a:cs typeface="Times" panose="02020603050405020304" pitchFamily="18" charset="0"/>
            </a:endParaRPr>
          </a:p>
          <a:p>
            <a:pPr marL="285750" indent="-285750">
              <a:buFont typeface="Arial" panose="020B0604020202020204" pitchFamily="34" charset="0"/>
              <a:buChar char="•"/>
            </a:pPr>
            <a:r>
              <a:rPr lang="en-US" b="1" i="0" dirty="0">
                <a:solidFill>
                  <a:schemeClr val="tx1"/>
                </a:solidFill>
                <a:effectLst/>
                <a:latin typeface="Times" panose="02020603050405020304" pitchFamily="18" charset="0"/>
                <a:cs typeface="Times" panose="02020603050405020304" pitchFamily="18" charset="0"/>
              </a:rPr>
              <a:t>Real-Time Object Detection: </a:t>
            </a:r>
            <a:r>
              <a:rPr lang="en-US" b="0" i="0" dirty="0">
                <a:solidFill>
                  <a:schemeClr val="tx1"/>
                </a:solidFill>
                <a:effectLst/>
                <a:latin typeface="Times" panose="02020603050405020304" pitchFamily="18" charset="0"/>
                <a:cs typeface="Times" panose="02020603050405020304" pitchFamily="18" charset="0"/>
              </a:rPr>
              <a:t>Current camera latency affects real-time object detection efficiency. </a:t>
            </a:r>
          </a:p>
          <a:p>
            <a:pPr marL="285750" indent="-285750">
              <a:buFont typeface="Arial" panose="020B0604020202020204" pitchFamily="34" charset="0"/>
              <a:buChar char="•"/>
            </a:pPr>
            <a:endParaRPr lang="en-US" b="0" i="0" dirty="0">
              <a:solidFill>
                <a:schemeClr val="tx1"/>
              </a:solidFill>
              <a:effectLst/>
              <a:latin typeface="Times" panose="02020603050405020304" pitchFamily="18" charset="0"/>
              <a:cs typeface="Times" panose="02020603050405020304" pitchFamily="18" charset="0"/>
            </a:endParaRPr>
          </a:p>
          <a:p>
            <a:pPr marL="285750" indent="-285750">
              <a:buFont typeface="Arial" panose="020B0604020202020204" pitchFamily="34" charset="0"/>
              <a:buChar char="•"/>
            </a:pPr>
            <a:r>
              <a:rPr lang="en-US" b="1" i="0" dirty="0">
                <a:solidFill>
                  <a:schemeClr val="tx1"/>
                </a:solidFill>
                <a:effectLst/>
                <a:latin typeface="Times" panose="02020603050405020304" pitchFamily="18" charset="0"/>
                <a:cs typeface="Times" panose="02020603050405020304" pitchFamily="18" charset="0"/>
              </a:rPr>
              <a:t>Gyroscope and Wheel Encoder: </a:t>
            </a:r>
            <a:r>
              <a:rPr lang="en-US" b="0" i="0" dirty="0">
                <a:solidFill>
                  <a:schemeClr val="tx1"/>
                </a:solidFill>
                <a:effectLst/>
                <a:latin typeface="Times" panose="02020603050405020304" pitchFamily="18" charset="0"/>
                <a:cs typeface="Times" panose="02020603050405020304" pitchFamily="18" charset="0"/>
              </a:rPr>
              <a:t>Adding a gyroscope for accurate turns and a wheel encoder for precise distance measurement.</a:t>
            </a:r>
          </a:p>
          <a:p>
            <a:pPr marL="285750" indent="-285750">
              <a:buFont typeface="Arial" panose="020B0604020202020204" pitchFamily="34" charset="0"/>
              <a:buChar char="•"/>
            </a:pPr>
            <a:endParaRPr lang="en-US" b="0" i="0" dirty="0">
              <a:solidFill>
                <a:schemeClr val="tx1"/>
              </a:solidFill>
              <a:effectLst/>
              <a:latin typeface="Times" panose="02020603050405020304" pitchFamily="18" charset="0"/>
              <a:cs typeface="Times" panose="02020603050405020304" pitchFamily="18" charset="0"/>
            </a:endParaRPr>
          </a:p>
          <a:p>
            <a:pPr marL="285750" indent="-285750">
              <a:buFont typeface="Arial" panose="020B0604020202020204" pitchFamily="34" charset="0"/>
              <a:buChar char="•"/>
            </a:pPr>
            <a:r>
              <a:rPr lang="en-US" b="0" i="0" dirty="0">
                <a:solidFill>
                  <a:schemeClr val="tx1"/>
                </a:solidFill>
                <a:effectLst/>
                <a:latin typeface="Times" panose="02020603050405020304" pitchFamily="18" charset="0"/>
                <a:cs typeface="Times" panose="02020603050405020304" pitchFamily="18" charset="0"/>
              </a:rPr>
              <a:t> </a:t>
            </a:r>
            <a:r>
              <a:rPr lang="en-US" b="1" i="0" dirty="0">
                <a:solidFill>
                  <a:schemeClr val="tx1"/>
                </a:solidFill>
                <a:effectLst/>
                <a:latin typeface="Times" panose="02020603050405020304" pitchFamily="18" charset="0"/>
                <a:cs typeface="Times" panose="02020603050405020304" pitchFamily="18" charset="0"/>
              </a:rPr>
              <a:t>LiDAR Integration: </a:t>
            </a:r>
            <a:r>
              <a:rPr lang="en-US" b="0" i="0" dirty="0">
                <a:solidFill>
                  <a:schemeClr val="tx1"/>
                </a:solidFill>
                <a:effectLst/>
                <a:latin typeface="Times" panose="02020603050405020304" pitchFamily="18" charset="0"/>
                <a:cs typeface="Times" panose="02020603050405020304" pitchFamily="18" charset="0"/>
              </a:rPr>
              <a:t>Future models could include a LiDAR sensor to create a 2D map for optimized cleaning paths. </a:t>
            </a:r>
          </a:p>
          <a:p>
            <a:pPr marL="285750" indent="-285750">
              <a:buFont typeface="Arial" panose="020B0604020202020204" pitchFamily="34" charset="0"/>
              <a:buChar char="•"/>
            </a:pPr>
            <a:endParaRPr lang="en-US" b="0" i="0" dirty="0">
              <a:solidFill>
                <a:schemeClr val="tx1"/>
              </a:solidFill>
              <a:effectLst/>
              <a:latin typeface="Times" panose="02020603050405020304" pitchFamily="18" charset="0"/>
              <a:cs typeface="Times" panose="02020603050405020304" pitchFamily="18" charset="0"/>
            </a:endParaRPr>
          </a:p>
          <a:p>
            <a:pPr marL="285750" indent="-285750">
              <a:buFont typeface="Arial" panose="020B0604020202020204" pitchFamily="34" charset="0"/>
              <a:buChar char="•"/>
            </a:pPr>
            <a:r>
              <a:rPr lang="en-US" b="1" i="0" dirty="0">
                <a:solidFill>
                  <a:schemeClr val="tx1"/>
                </a:solidFill>
                <a:effectLst/>
                <a:latin typeface="Times" panose="02020603050405020304" pitchFamily="18" charset="0"/>
                <a:cs typeface="Times" panose="02020603050405020304" pitchFamily="18" charset="0"/>
              </a:rPr>
              <a:t>Round-Shaped Design: </a:t>
            </a:r>
            <a:r>
              <a:rPr lang="en-US" b="0" i="0" dirty="0">
                <a:solidFill>
                  <a:schemeClr val="tx1"/>
                </a:solidFill>
                <a:effectLst/>
                <a:latin typeface="Times" panose="02020603050405020304" pitchFamily="18" charset="0"/>
                <a:cs typeface="Times" panose="02020603050405020304" pitchFamily="18" charset="0"/>
              </a:rPr>
              <a:t>A round-shaped robot would improve surface coverage. </a:t>
            </a:r>
          </a:p>
          <a:p>
            <a:pPr marL="285750" indent="-285750">
              <a:buFont typeface="Arial" panose="020B0604020202020204" pitchFamily="34" charset="0"/>
              <a:buChar char="•"/>
            </a:pPr>
            <a:endParaRPr lang="en-US" b="0" i="0" dirty="0">
              <a:solidFill>
                <a:schemeClr val="tx1"/>
              </a:solidFill>
              <a:effectLst/>
              <a:latin typeface="Times" panose="02020603050405020304" pitchFamily="18" charset="0"/>
              <a:cs typeface="Times" panose="02020603050405020304" pitchFamily="18" charset="0"/>
            </a:endParaRPr>
          </a:p>
          <a:p>
            <a:pPr marL="285750" indent="-285750">
              <a:buFont typeface="Arial" panose="020B0604020202020204" pitchFamily="34" charset="0"/>
              <a:buChar char="•"/>
            </a:pPr>
            <a:r>
              <a:rPr lang="en-US" b="1" i="0" dirty="0">
                <a:solidFill>
                  <a:schemeClr val="tx1"/>
                </a:solidFill>
                <a:effectLst/>
                <a:latin typeface="Times" panose="02020603050405020304" pitchFamily="18" charset="0"/>
                <a:cs typeface="Times" panose="02020603050405020304" pitchFamily="18" charset="0"/>
              </a:rPr>
              <a:t>Enhanced Cleaning Mechanisms: </a:t>
            </a:r>
            <a:r>
              <a:rPr lang="en-US" b="0" i="0" dirty="0">
                <a:solidFill>
                  <a:schemeClr val="tx1"/>
                </a:solidFill>
                <a:effectLst/>
                <a:latin typeface="Times" panose="02020603050405020304" pitchFamily="18" charset="0"/>
                <a:cs typeface="Times" panose="02020603050405020304" pitchFamily="18" charset="0"/>
              </a:rPr>
              <a:t>Adding roller and side brushes to the vacuum cleaner to clean corners and edges more effectively. </a:t>
            </a:r>
          </a:p>
          <a:p>
            <a:pPr marL="285750" indent="-285750">
              <a:buFont typeface="Arial" panose="020B0604020202020204" pitchFamily="34" charset="0"/>
              <a:buChar char="•"/>
            </a:pPr>
            <a:endParaRPr lang="en-US" b="0" i="0" dirty="0">
              <a:solidFill>
                <a:schemeClr val="tx1"/>
              </a:solidFill>
              <a:effectLst/>
              <a:latin typeface="Times" panose="02020603050405020304" pitchFamily="18" charset="0"/>
              <a:cs typeface="Times" panose="02020603050405020304" pitchFamily="18" charset="0"/>
            </a:endParaRPr>
          </a:p>
          <a:p>
            <a:pPr marL="285750" indent="-285750">
              <a:buFont typeface="Arial" panose="020B0604020202020204" pitchFamily="34" charset="0"/>
              <a:buChar char="•"/>
            </a:pPr>
            <a:r>
              <a:rPr lang="en-US" b="1" i="0" dirty="0">
                <a:solidFill>
                  <a:schemeClr val="tx1"/>
                </a:solidFill>
                <a:effectLst/>
                <a:latin typeface="Times" panose="02020603050405020304" pitchFamily="18" charset="0"/>
                <a:cs typeface="Times" panose="02020603050405020304" pitchFamily="18" charset="0"/>
              </a:rPr>
              <a:t>AI Integration: </a:t>
            </a:r>
            <a:r>
              <a:rPr lang="en-US" b="0" i="0" dirty="0">
                <a:solidFill>
                  <a:schemeClr val="tx1"/>
                </a:solidFill>
                <a:effectLst/>
                <a:latin typeface="Times" panose="02020603050405020304" pitchFamily="18" charset="0"/>
                <a:cs typeface="Times" panose="02020603050405020304" pitchFamily="18" charset="0"/>
              </a:rPr>
              <a:t>Implement AI-driven algorithms to optimize object detection and decision-making.</a:t>
            </a:r>
            <a:endParaRPr lang="en-US" dirty="0">
              <a:solidFill>
                <a:schemeClr val="tx1"/>
              </a:solidFill>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1415803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5"/>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dirty="0">
                <a:solidFill>
                  <a:srgbClr val="002060"/>
                </a:solidFill>
                <a:latin typeface="Calibri"/>
                <a:ea typeface="Calibri"/>
                <a:cs typeface="Calibri"/>
                <a:sym typeface="Calibri"/>
              </a:rPr>
              <a:t>Conclusion</a:t>
            </a:r>
            <a:endParaRPr dirty="0"/>
          </a:p>
        </p:txBody>
      </p:sp>
      <p:sp>
        <p:nvSpPr>
          <p:cNvPr id="174" name="Google Shape;174;p25"/>
          <p:cNvSpPr txBox="1"/>
          <p:nvPr/>
        </p:nvSpPr>
        <p:spPr>
          <a:xfrm>
            <a:off x="122980" y="1043833"/>
            <a:ext cx="8736207" cy="2769959"/>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0"/>
              </a:spcBef>
              <a:spcAft>
                <a:spcPts val="0"/>
              </a:spcAft>
              <a:buClr>
                <a:schemeClr val="dk1"/>
              </a:buClr>
              <a:buSzPts val="1100"/>
              <a:buFont typeface="Arial"/>
              <a:buNone/>
            </a:pPr>
            <a:r>
              <a:rPr lang="en-US" sz="1600" dirty="0">
                <a:solidFill>
                  <a:schemeClr val="tx1"/>
                </a:solidFill>
                <a:latin typeface="Times New Roman" panose="02020603050405020304" pitchFamily="18" charset="0"/>
                <a:cs typeface="Times New Roman" panose="02020603050405020304" pitchFamily="18" charset="0"/>
              </a:rPr>
              <a:t>The research introduces an autonomous line-following robot designed for cleaning and disinfection, combining UV sterilization, vacuum cleaning, and AI-powered object detection with integrated motion detection for user safety and wireless charging to enhance energy efficiency, the robot offers an effective, innovative solution.</a:t>
            </a:r>
          </a:p>
          <a:p>
            <a:pPr marL="0" lvl="0" indent="0" algn="just" rtl="0">
              <a:lnSpc>
                <a:spcPct val="150000"/>
              </a:lnSpc>
              <a:spcBef>
                <a:spcPts val="0"/>
              </a:spcBef>
              <a:spcAft>
                <a:spcPts val="0"/>
              </a:spcAft>
              <a:buClr>
                <a:schemeClr val="dk1"/>
              </a:buClr>
              <a:buSzPts val="1100"/>
              <a:buFont typeface="Arial"/>
              <a:buNone/>
            </a:pPr>
            <a:endParaRPr lang="en-US" sz="1600"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0"/>
              </a:spcBef>
              <a:spcAft>
                <a:spcPts val="0"/>
              </a:spcAft>
              <a:buClr>
                <a:schemeClr val="dk1"/>
              </a:buClr>
              <a:buSzPts val="1100"/>
              <a:buFont typeface="Arial"/>
              <a:buNone/>
            </a:pPr>
            <a:r>
              <a:rPr lang="en-US" sz="1600" dirty="0">
                <a:latin typeface="Times New Roman" panose="02020603050405020304" pitchFamily="18" charset="0"/>
                <a:cs typeface="Times New Roman" panose="02020603050405020304" pitchFamily="18" charset="0"/>
              </a:rPr>
              <a:t>Enhancing autonomy through AI, integrating IoT, expanding scalability, and incorporating multifunctionality are potential future advancements.</a:t>
            </a:r>
            <a:endParaRPr 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6"/>
          <p:cNvSpPr txBox="1"/>
          <p:nvPr/>
        </p:nvSpPr>
        <p:spPr>
          <a:xfrm>
            <a:off x="622325" y="-70275"/>
            <a:ext cx="8320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a:solidFill>
                  <a:srgbClr val="002060"/>
                </a:solidFill>
                <a:latin typeface="Calibri"/>
                <a:ea typeface="Calibri"/>
                <a:cs typeface="Calibri"/>
                <a:sym typeface="Calibri"/>
              </a:rPr>
              <a:t>References</a:t>
            </a:r>
            <a:endParaRPr/>
          </a:p>
        </p:txBody>
      </p:sp>
      <p:sp>
        <p:nvSpPr>
          <p:cNvPr id="180" name="Google Shape;180;p26"/>
          <p:cNvSpPr txBox="1"/>
          <p:nvPr/>
        </p:nvSpPr>
        <p:spPr>
          <a:xfrm>
            <a:off x="85505" y="345057"/>
            <a:ext cx="9058495" cy="6549455"/>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endParaRPr sz="2400" dirty="0">
              <a:solidFill>
                <a:schemeClr val="dk1"/>
              </a:solidFill>
            </a:endParaRPr>
          </a:p>
          <a:p>
            <a:pPr algn="just" rtl="0">
              <a:spcBef>
                <a:spcPts val="0"/>
              </a:spcBef>
              <a:spcAft>
                <a:spcPts val="0"/>
              </a:spcAft>
            </a:pPr>
            <a:endParaRPr lang="en-US" sz="1200" b="0" i="0" u="none" strike="noStrike" dirty="0">
              <a:solidFill>
                <a:srgbClr val="000000"/>
              </a:solidFill>
              <a:effectLst/>
              <a:latin typeface="Times" panose="02020603050405020304" pitchFamily="18" charset="0"/>
              <a:cs typeface="Times" panose="02020603050405020304" pitchFamily="18" charset="0"/>
            </a:endParaRPr>
          </a:p>
          <a:p>
            <a:pPr algn="just" rtl="0">
              <a:spcBef>
                <a:spcPts val="0"/>
              </a:spcBef>
              <a:spcAft>
                <a:spcPts val="0"/>
              </a:spcAft>
            </a:pPr>
            <a:r>
              <a:rPr lang="en-US" sz="1200" b="0" i="0" u="none" strike="noStrike" dirty="0">
                <a:solidFill>
                  <a:srgbClr val="000000"/>
                </a:solidFill>
                <a:effectLst/>
                <a:latin typeface="Times" panose="02020603050405020304" pitchFamily="18" charset="0"/>
                <a:cs typeface="Times" panose="02020603050405020304" pitchFamily="18" charset="0"/>
              </a:rPr>
              <a:t>[1] C. McGinn, R. Scott, N. Donnelly, K. L. Roberts, M. Bogue, C. Kiernan, and M. Beckett, "Exploring the applicability of robot-assisted UV disinfection in radiology," Frontiers in Robotics and AI, vol. 7, p. 590306, 2021. </a:t>
            </a:r>
          </a:p>
          <a:p>
            <a:pPr algn="just" rtl="0">
              <a:spcBef>
                <a:spcPts val="0"/>
              </a:spcBef>
              <a:spcAft>
                <a:spcPts val="0"/>
              </a:spcAft>
            </a:pPr>
            <a:endParaRPr lang="en-US" sz="1200" b="0" dirty="0">
              <a:effectLst/>
              <a:latin typeface="Times" panose="02020603050405020304" pitchFamily="18" charset="0"/>
              <a:cs typeface="Times" panose="02020603050405020304" pitchFamily="18" charset="0"/>
            </a:endParaRPr>
          </a:p>
          <a:p>
            <a:pPr algn="just" rtl="0">
              <a:spcBef>
                <a:spcPts val="0"/>
              </a:spcBef>
              <a:spcAft>
                <a:spcPts val="0"/>
              </a:spcAft>
            </a:pPr>
            <a:r>
              <a:rPr lang="en-US" sz="1200" b="0" i="0" u="none" strike="noStrike" dirty="0">
                <a:solidFill>
                  <a:srgbClr val="000000"/>
                </a:solidFill>
                <a:effectLst/>
                <a:latin typeface="Times" panose="02020603050405020304" pitchFamily="18" charset="0"/>
                <a:cs typeface="Times" panose="02020603050405020304" pitchFamily="18" charset="0"/>
              </a:rPr>
              <a:t>[2] Z. A. </a:t>
            </a:r>
            <a:r>
              <a:rPr lang="en-US" sz="1200" b="0" i="0" u="none" strike="noStrike" dirty="0" err="1">
                <a:solidFill>
                  <a:srgbClr val="000000"/>
                </a:solidFill>
                <a:effectLst/>
                <a:latin typeface="Times" panose="02020603050405020304" pitchFamily="18" charset="0"/>
                <a:cs typeface="Times" panose="02020603050405020304" pitchFamily="18" charset="0"/>
              </a:rPr>
              <a:t>Majib</a:t>
            </a:r>
            <a:r>
              <a:rPr lang="en-US" sz="1200" b="0" i="0" u="none" strike="noStrike" dirty="0">
                <a:solidFill>
                  <a:srgbClr val="000000"/>
                </a:solidFill>
                <a:effectLst/>
                <a:latin typeface="Times" panose="02020603050405020304" pitchFamily="18" charset="0"/>
                <a:cs typeface="Times" panose="02020603050405020304" pitchFamily="18" charset="0"/>
              </a:rPr>
              <a:t>, M. S. </a:t>
            </a:r>
            <a:r>
              <a:rPr lang="en-US" sz="1200" b="0" i="0" u="none" strike="noStrike" dirty="0" err="1">
                <a:solidFill>
                  <a:srgbClr val="000000"/>
                </a:solidFill>
                <a:effectLst/>
                <a:latin typeface="Times" panose="02020603050405020304" pitchFamily="18" charset="0"/>
                <a:cs typeface="Times" panose="02020603050405020304" pitchFamily="18" charset="0"/>
              </a:rPr>
              <a:t>Tanjim</a:t>
            </a:r>
            <a:r>
              <a:rPr lang="en-US" sz="1200" b="0" i="0" u="none" strike="noStrike" dirty="0">
                <a:solidFill>
                  <a:srgbClr val="000000"/>
                </a:solidFill>
                <a:effectLst/>
                <a:latin typeface="Times" panose="02020603050405020304" pitchFamily="18" charset="0"/>
                <a:cs typeface="Times" panose="02020603050405020304" pitchFamily="18" charset="0"/>
              </a:rPr>
              <a:t>, S. A. Siddique, S. Islam, M. S. </a:t>
            </a:r>
            <a:r>
              <a:rPr lang="en-US" sz="1200" b="0" i="0" u="none" strike="noStrike" dirty="0" err="1">
                <a:solidFill>
                  <a:srgbClr val="000000"/>
                </a:solidFill>
                <a:effectLst/>
                <a:latin typeface="Times" panose="02020603050405020304" pitchFamily="18" charset="0"/>
                <a:cs typeface="Times" panose="02020603050405020304" pitchFamily="18" charset="0"/>
              </a:rPr>
              <a:t>Aadeeb</a:t>
            </a:r>
            <a:r>
              <a:rPr lang="en-US" sz="1200" b="0" i="0" u="none" strike="noStrike" dirty="0">
                <a:solidFill>
                  <a:srgbClr val="000000"/>
                </a:solidFill>
                <a:effectLst/>
                <a:latin typeface="Times" panose="02020603050405020304" pitchFamily="18" charset="0"/>
                <a:cs typeface="Times" panose="02020603050405020304" pitchFamily="18" charset="0"/>
              </a:rPr>
              <a:t>, and M. N. Islam, "UVC-PURGE: A novel cost-effective disinfection robot for combating COVID-19 pandemic," IEEE Access, vol. 10, pp. 37613-37634, 2022.</a:t>
            </a:r>
          </a:p>
          <a:p>
            <a:pPr algn="just" rtl="0">
              <a:spcBef>
                <a:spcPts val="0"/>
              </a:spcBef>
              <a:spcAft>
                <a:spcPts val="0"/>
              </a:spcAft>
            </a:pPr>
            <a:endParaRPr lang="en-US" sz="1200" b="0" dirty="0">
              <a:effectLst/>
              <a:latin typeface="Times" panose="02020603050405020304" pitchFamily="18" charset="0"/>
              <a:cs typeface="Times" panose="02020603050405020304" pitchFamily="18" charset="0"/>
            </a:endParaRPr>
          </a:p>
          <a:p>
            <a:pPr algn="just" rtl="0">
              <a:spcBef>
                <a:spcPts val="0"/>
              </a:spcBef>
              <a:spcAft>
                <a:spcPts val="0"/>
              </a:spcAft>
            </a:pPr>
            <a:r>
              <a:rPr lang="en-US" sz="1200" b="0" i="0" u="none" strike="noStrike" dirty="0">
                <a:solidFill>
                  <a:srgbClr val="000000"/>
                </a:solidFill>
                <a:effectLst/>
                <a:latin typeface="Times" panose="02020603050405020304" pitchFamily="18" charset="0"/>
                <a:cs typeface="Times" panose="02020603050405020304" pitchFamily="18" charset="0"/>
              </a:rPr>
              <a:t>[3]. </a:t>
            </a:r>
            <a:r>
              <a:rPr lang="en-US" sz="1200" b="0" i="0" u="none" strike="noStrike" dirty="0" err="1">
                <a:solidFill>
                  <a:srgbClr val="000000"/>
                </a:solidFill>
                <a:effectLst/>
                <a:latin typeface="Times" panose="02020603050405020304" pitchFamily="18" charset="0"/>
                <a:cs typeface="Times" panose="02020603050405020304" pitchFamily="18" charset="0"/>
              </a:rPr>
              <a:t>Korti</a:t>
            </a:r>
            <a:r>
              <a:rPr lang="en-US" sz="1200" b="0" i="0" u="none" strike="noStrike" dirty="0">
                <a:solidFill>
                  <a:srgbClr val="000000"/>
                </a:solidFill>
                <a:effectLst/>
                <a:latin typeface="Times" panose="02020603050405020304" pitchFamily="18" charset="0"/>
                <a:cs typeface="Times" panose="02020603050405020304" pitchFamily="18" charset="0"/>
              </a:rPr>
              <a:t>, B. S. </a:t>
            </a:r>
            <a:r>
              <a:rPr lang="en-US" sz="1200" b="0" i="0" u="none" strike="noStrike" dirty="0" err="1">
                <a:solidFill>
                  <a:srgbClr val="000000"/>
                </a:solidFill>
                <a:effectLst/>
                <a:latin typeface="Times" panose="02020603050405020304" pitchFamily="18" charset="0"/>
                <a:cs typeface="Times" panose="02020603050405020304" pitchFamily="18" charset="0"/>
              </a:rPr>
              <a:t>Malapur</a:t>
            </a:r>
            <a:r>
              <a:rPr lang="en-US" sz="1200" b="0" i="0" u="none" strike="noStrike" dirty="0">
                <a:solidFill>
                  <a:srgbClr val="000000"/>
                </a:solidFill>
                <a:effectLst/>
                <a:latin typeface="Times" panose="02020603050405020304" pitchFamily="18" charset="0"/>
                <a:cs typeface="Times" panose="02020603050405020304" pitchFamily="18" charset="0"/>
              </a:rPr>
              <a:t>, S. Gour, and R. M. </a:t>
            </a:r>
            <a:r>
              <a:rPr lang="en-US" sz="1200" b="0" i="0" u="none" strike="noStrike" dirty="0" err="1">
                <a:solidFill>
                  <a:srgbClr val="000000"/>
                </a:solidFill>
                <a:effectLst/>
                <a:latin typeface="Times" panose="02020603050405020304" pitchFamily="18" charset="0"/>
                <a:cs typeface="Times" panose="02020603050405020304" pitchFamily="18" charset="0"/>
              </a:rPr>
              <a:t>Biradar</a:t>
            </a:r>
            <a:r>
              <a:rPr lang="en-US" sz="1200" b="0" i="0" u="none" strike="noStrike" dirty="0">
                <a:solidFill>
                  <a:srgbClr val="000000"/>
                </a:solidFill>
                <a:effectLst/>
                <a:latin typeface="Times" panose="02020603050405020304" pitchFamily="18" charset="0"/>
                <a:cs typeface="Times" panose="02020603050405020304" pitchFamily="18" charset="0"/>
              </a:rPr>
              <a:t>, "</a:t>
            </a:r>
            <a:r>
              <a:rPr lang="en-US" sz="1200" b="0" i="0" u="none" strike="noStrike" dirty="0" err="1">
                <a:solidFill>
                  <a:srgbClr val="000000"/>
                </a:solidFill>
                <a:effectLst/>
                <a:latin typeface="Times" panose="02020603050405020304" pitchFamily="18" charset="0"/>
                <a:cs typeface="Times" panose="02020603050405020304" pitchFamily="18" charset="0"/>
              </a:rPr>
              <a:t>Shuchi</a:t>
            </a:r>
            <a:r>
              <a:rPr lang="en-US" sz="1200" b="0" i="0" u="none" strike="noStrike" dirty="0">
                <a:solidFill>
                  <a:srgbClr val="000000"/>
                </a:solidFill>
                <a:effectLst/>
                <a:latin typeface="Times" panose="02020603050405020304" pitchFamily="18" charset="0"/>
                <a:cs typeface="Times" panose="02020603050405020304" pitchFamily="18" charset="0"/>
              </a:rPr>
              <a:t> 1.0: Robotic system for automatic segregation of waste &amp; floor cleaning," International Research Journal on Advanced Science Hub, vol. 4, no. 02, pp. 31-37, 2022. </a:t>
            </a:r>
          </a:p>
          <a:p>
            <a:pPr algn="just" rtl="0">
              <a:spcBef>
                <a:spcPts val="0"/>
              </a:spcBef>
              <a:spcAft>
                <a:spcPts val="0"/>
              </a:spcAft>
            </a:pPr>
            <a:endParaRPr lang="en-US" sz="1200" b="0" i="0" u="none" strike="noStrike" dirty="0">
              <a:solidFill>
                <a:srgbClr val="000000"/>
              </a:solidFill>
              <a:effectLst/>
              <a:latin typeface="Times" panose="02020603050405020304" pitchFamily="18" charset="0"/>
              <a:cs typeface="Times" panose="02020603050405020304" pitchFamily="18" charset="0"/>
            </a:endParaRPr>
          </a:p>
          <a:p>
            <a:pPr algn="just" rtl="0">
              <a:spcBef>
                <a:spcPts val="0"/>
              </a:spcBef>
              <a:spcAft>
                <a:spcPts val="0"/>
              </a:spcAft>
            </a:pPr>
            <a:r>
              <a:rPr lang="en-US" sz="1200" b="0" i="0" u="none" strike="noStrike" dirty="0">
                <a:solidFill>
                  <a:srgbClr val="000000"/>
                </a:solidFill>
                <a:effectLst/>
                <a:latin typeface="Times" panose="02020603050405020304" pitchFamily="18" charset="0"/>
                <a:cs typeface="Times" panose="02020603050405020304" pitchFamily="18" charset="0"/>
              </a:rPr>
              <a:t>[</a:t>
            </a:r>
            <a:r>
              <a:rPr lang="en-US" sz="1200" dirty="0">
                <a:latin typeface="Times" panose="02020603050405020304" pitchFamily="18" charset="0"/>
                <a:cs typeface="Times" panose="02020603050405020304" pitchFamily="18" charset="0"/>
              </a:rPr>
              <a:t>4</a:t>
            </a:r>
            <a:r>
              <a:rPr lang="en-US" sz="1200" b="0" i="0" u="none" strike="noStrike" dirty="0">
                <a:solidFill>
                  <a:srgbClr val="000000"/>
                </a:solidFill>
                <a:effectLst/>
                <a:latin typeface="Times" panose="02020603050405020304" pitchFamily="18" charset="0"/>
                <a:cs typeface="Times" panose="02020603050405020304" pitchFamily="18" charset="0"/>
              </a:rPr>
              <a:t>] D. V. </a:t>
            </a:r>
            <a:r>
              <a:rPr lang="en-US" sz="1200" b="0" i="0" u="none" strike="noStrike" dirty="0" err="1">
                <a:solidFill>
                  <a:srgbClr val="000000"/>
                </a:solidFill>
                <a:effectLst/>
                <a:latin typeface="Times" panose="02020603050405020304" pitchFamily="18" charset="0"/>
                <a:cs typeface="Times" panose="02020603050405020304" pitchFamily="18" charset="0"/>
              </a:rPr>
              <a:t>Bratu</a:t>
            </a:r>
            <a:r>
              <a:rPr lang="en-US" sz="1200" b="0" i="0" u="none" strike="noStrike" dirty="0">
                <a:solidFill>
                  <a:srgbClr val="000000"/>
                </a:solidFill>
                <a:effectLst/>
                <a:latin typeface="Times" panose="02020603050405020304" pitchFamily="18" charset="0"/>
                <a:cs typeface="Times" panose="02020603050405020304" pitchFamily="18" charset="0"/>
              </a:rPr>
              <a:t>, M. A. </a:t>
            </a:r>
            <a:r>
              <a:rPr lang="en-US" sz="1200" b="0" i="0" u="none" strike="noStrike" dirty="0" err="1">
                <a:solidFill>
                  <a:srgbClr val="000000"/>
                </a:solidFill>
                <a:effectLst/>
                <a:latin typeface="Times" panose="02020603050405020304" pitchFamily="18" charset="0"/>
                <a:cs typeface="Times" panose="02020603050405020304" pitchFamily="18" charset="0"/>
              </a:rPr>
              <a:t>Zolya</a:t>
            </a:r>
            <a:r>
              <a:rPr lang="en-US" sz="1200" b="0" i="0" u="none" strike="noStrike" dirty="0">
                <a:solidFill>
                  <a:srgbClr val="000000"/>
                </a:solidFill>
                <a:effectLst/>
                <a:latin typeface="Times" panose="02020603050405020304" pitchFamily="18" charset="0"/>
                <a:cs typeface="Times" panose="02020603050405020304" pitchFamily="18" charset="0"/>
              </a:rPr>
              <a:t>, and S. A. </a:t>
            </a:r>
            <a:r>
              <a:rPr lang="en-US" sz="1200" b="0" i="0" u="none" strike="noStrike" dirty="0" err="1">
                <a:solidFill>
                  <a:srgbClr val="000000"/>
                </a:solidFill>
                <a:effectLst/>
                <a:latin typeface="Times" panose="02020603050405020304" pitchFamily="18" charset="0"/>
                <a:cs typeface="Times" panose="02020603050405020304" pitchFamily="18" charset="0"/>
              </a:rPr>
              <a:t>Moraru</a:t>
            </a:r>
            <a:r>
              <a:rPr lang="en-US" sz="1200" b="0" i="0" u="none" strike="noStrike" dirty="0">
                <a:solidFill>
                  <a:srgbClr val="000000"/>
                </a:solidFill>
                <a:effectLst/>
                <a:latin typeface="Times" panose="02020603050405020304" pitchFamily="18" charset="0"/>
                <a:cs typeface="Times" panose="02020603050405020304" pitchFamily="18" charset="0"/>
              </a:rPr>
              <a:t>, "</a:t>
            </a:r>
            <a:r>
              <a:rPr lang="en-US" sz="1200" b="0" i="0" u="none" strike="noStrike" dirty="0" err="1">
                <a:solidFill>
                  <a:srgbClr val="000000"/>
                </a:solidFill>
                <a:effectLst/>
                <a:latin typeface="Times" panose="02020603050405020304" pitchFamily="18" charset="0"/>
                <a:cs typeface="Times" panose="02020603050405020304" pitchFamily="18" charset="0"/>
              </a:rPr>
              <a:t>RoboCoV</a:t>
            </a:r>
            <a:r>
              <a:rPr lang="en-US" sz="1200" b="0" i="0" u="none" strike="noStrike" dirty="0">
                <a:solidFill>
                  <a:srgbClr val="000000"/>
                </a:solidFill>
                <a:effectLst/>
                <a:latin typeface="Times" panose="02020603050405020304" pitchFamily="18" charset="0"/>
                <a:cs typeface="Times" panose="02020603050405020304" pitchFamily="18" charset="0"/>
              </a:rPr>
              <a:t> Cleaner: An indoor autonomous UV-C disinfection robot with advanced dual-safety systems," Sensors, vol. 24, no. 3, p. 974, 2024.</a:t>
            </a:r>
          </a:p>
          <a:p>
            <a:pPr algn="just" rtl="0">
              <a:spcBef>
                <a:spcPts val="0"/>
              </a:spcBef>
              <a:spcAft>
                <a:spcPts val="0"/>
              </a:spcAft>
            </a:pPr>
            <a:endParaRPr lang="en-US" sz="1200" b="0" i="0" u="none" strike="noStrike" dirty="0">
              <a:solidFill>
                <a:srgbClr val="000000"/>
              </a:solidFill>
              <a:effectLst/>
              <a:latin typeface="Times" panose="02020603050405020304" pitchFamily="18" charset="0"/>
              <a:cs typeface="Times" panose="02020603050405020304" pitchFamily="18" charset="0"/>
            </a:endParaRPr>
          </a:p>
          <a:p>
            <a:pPr algn="just" rtl="0">
              <a:spcBef>
                <a:spcPts val="0"/>
              </a:spcBef>
              <a:spcAft>
                <a:spcPts val="0"/>
              </a:spcAft>
            </a:pPr>
            <a:r>
              <a:rPr lang="en-US" sz="1200" b="0" i="0" u="none" strike="noStrike" dirty="0">
                <a:solidFill>
                  <a:srgbClr val="000000"/>
                </a:solidFill>
                <a:effectLst/>
                <a:latin typeface="Times" panose="02020603050405020304" pitchFamily="18" charset="0"/>
                <a:cs typeface="Times" panose="02020603050405020304" pitchFamily="18" charset="0"/>
              </a:rPr>
              <a:t>[</a:t>
            </a:r>
            <a:r>
              <a:rPr lang="en-US" sz="1200" dirty="0">
                <a:latin typeface="Times" panose="02020603050405020304" pitchFamily="18" charset="0"/>
                <a:cs typeface="Times" panose="02020603050405020304" pitchFamily="18" charset="0"/>
              </a:rPr>
              <a:t>5</a:t>
            </a:r>
            <a:r>
              <a:rPr lang="en-US" sz="1200" b="0" i="0" u="none" strike="noStrike" dirty="0">
                <a:solidFill>
                  <a:srgbClr val="000000"/>
                </a:solidFill>
                <a:effectLst/>
                <a:latin typeface="Times" panose="02020603050405020304" pitchFamily="18" charset="0"/>
                <a:cs typeface="Times" panose="02020603050405020304" pitchFamily="18" charset="0"/>
              </a:rPr>
              <a:t>] M. Molina, A. Vera, C. Molina, and P. Garzon, "Design and construction of an obstacle avoiding robot based on Arduino platform and programming tool," in 2018 9th IEEE Annual Ubiquitous Computing, Electronics &amp; Mobile Communication Conference (UEMCON), pp. 788-791, IEEE, Nov. 2018.</a:t>
            </a:r>
          </a:p>
          <a:p>
            <a:pPr algn="just" rtl="0">
              <a:spcBef>
                <a:spcPts val="0"/>
              </a:spcBef>
              <a:spcAft>
                <a:spcPts val="0"/>
              </a:spcAft>
            </a:pPr>
            <a:endParaRPr lang="en-US" sz="1200" b="0" dirty="0">
              <a:effectLst/>
              <a:latin typeface="Times" panose="02020603050405020304" pitchFamily="18" charset="0"/>
              <a:cs typeface="Times" panose="02020603050405020304" pitchFamily="18" charset="0"/>
            </a:endParaRPr>
          </a:p>
          <a:p>
            <a:pPr algn="just" rtl="0">
              <a:spcBef>
                <a:spcPts val="0"/>
              </a:spcBef>
              <a:spcAft>
                <a:spcPts val="0"/>
              </a:spcAft>
            </a:pPr>
            <a:r>
              <a:rPr lang="en-US" sz="1200" b="0" i="0" u="none" strike="noStrike" dirty="0">
                <a:solidFill>
                  <a:srgbClr val="000000"/>
                </a:solidFill>
                <a:effectLst/>
                <a:latin typeface="Times" panose="02020603050405020304" pitchFamily="18" charset="0"/>
                <a:cs typeface="Times" panose="02020603050405020304" pitchFamily="18" charset="0"/>
              </a:rPr>
              <a:t>[6] I. Ulrich, F. </a:t>
            </a:r>
            <a:r>
              <a:rPr lang="en-US" sz="1200" b="0" i="0" u="none" strike="noStrike" dirty="0" err="1">
                <a:solidFill>
                  <a:srgbClr val="000000"/>
                </a:solidFill>
                <a:effectLst/>
                <a:latin typeface="Times" panose="02020603050405020304" pitchFamily="18" charset="0"/>
                <a:cs typeface="Times" panose="02020603050405020304" pitchFamily="18" charset="0"/>
              </a:rPr>
              <a:t>Mondada</a:t>
            </a:r>
            <a:r>
              <a:rPr lang="en-US" sz="1200" b="0" i="0" u="none" strike="noStrike" dirty="0">
                <a:solidFill>
                  <a:srgbClr val="000000"/>
                </a:solidFill>
                <a:effectLst/>
                <a:latin typeface="Times" panose="02020603050405020304" pitchFamily="18" charset="0"/>
                <a:cs typeface="Times" panose="02020603050405020304" pitchFamily="18" charset="0"/>
              </a:rPr>
              <a:t>, and J. D. </a:t>
            </a:r>
            <a:r>
              <a:rPr lang="en-US" sz="1200" b="0" i="0" u="none" strike="noStrike" dirty="0" err="1">
                <a:solidFill>
                  <a:srgbClr val="000000"/>
                </a:solidFill>
                <a:effectLst/>
                <a:latin typeface="Times" panose="02020603050405020304" pitchFamily="18" charset="0"/>
                <a:cs typeface="Times" panose="02020603050405020304" pitchFamily="18" charset="0"/>
              </a:rPr>
              <a:t>Nicoud</a:t>
            </a:r>
            <a:r>
              <a:rPr lang="en-US" sz="1200" b="0" i="0" u="none" strike="noStrike" dirty="0">
                <a:solidFill>
                  <a:srgbClr val="000000"/>
                </a:solidFill>
                <a:effectLst/>
                <a:latin typeface="Times" panose="02020603050405020304" pitchFamily="18" charset="0"/>
                <a:cs typeface="Times" panose="02020603050405020304" pitchFamily="18" charset="0"/>
              </a:rPr>
              <a:t>, "Autonomous vacuum cleaner," Robotics and Autonomous Systems, vol. 19, no. 3-4, pp. 233-245, 1997.</a:t>
            </a:r>
            <a:endParaRPr lang="en-US" sz="1200" b="0" dirty="0">
              <a:effectLst/>
              <a:latin typeface="Times" panose="02020603050405020304" pitchFamily="18" charset="0"/>
              <a:cs typeface="Times" panose="02020603050405020304" pitchFamily="18" charset="0"/>
            </a:endParaRPr>
          </a:p>
          <a:p>
            <a:pPr algn="just" rtl="0">
              <a:spcBef>
                <a:spcPts val="0"/>
              </a:spcBef>
              <a:spcAft>
                <a:spcPts val="0"/>
              </a:spcAft>
            </a:pPr>
            <a:endParaRPr lang="en-US" sz="1200" b="0" i="0" u="none" strike="noStrike" dirty="0">
              <a:solidFill>
                <a:srgbClr val="000000"/>
              </a:solidFill>
              <a:effectLst/>
              <a:latin typeface="Times" panose="02020603050405020304" pitchFamily="18" charset="0"/>
              <a:cs typeface="Times" panose="02020603050405020304" pitchFamily="18" charset="0"/>
            </a:endParaRPr>
          </a:p>
          <a:p>
            <a:br>
              <a:rPr lang="en-US" sz="1600" dirty="0"/>
            </a:br>
            <a:endParaRPr lang="en-US" sz="1200" b="0" dirty="0">
              <a:effectLst/>
              <a:latin typeface="Times" panose="02020603050405020304" pitchFamily="18" charset="0"/>
              <a:cs typeface="Times" panose="02020603050405020304" pitchFamily="18" charset="0"/>
            </a:endParaRPr>
          </a:p>
          <a:p>
            <a:br>
              <a:rPr lang="en-US" sz="2000" dirty="0"/>
            </a:br>
            <a:br>
              <a:rPr lang="en-US" sz="1600" dirty="0"/>
            </a:br>
            <a:endParaRPr lang="en-US" sz="1200" b="0" dirty="0">
              <a:effectLst/>
              <a:latin typeface="Times" panose="02020603050405020304" pitchFamily="18" charset="0"/>
              <a:cs typeface="Times" panose="02020603050405020304" pitchFamily="18" charset="0"/>
            </a:endParaRPr>
          </a:p>
          <a:p>
            <a:br>
              <a:rPr lang="en-US" sz="1600" dirty="0"/>
            </a:br>
            <a:endParaRPr lang="en-US" sz="1200" b="0" dirty="0">
              <a:effectLst/>
              <a:latin typeface="Times" panose="02020603050405020304" pitchFamily="18" charset="0"/>
              <a:cs typeface="Times" panose="02020603050405020304" pitchFamily="18" charset="0"/>
            </a:endParaRPr>
          </a:p>
          <a:p>
            <a:pPr algn="just"/>
            <a:br>
              <a:rPr lang="en-US" sz="2400" dirty="0"/>
            </a:br>
            <a:endParaRPr sz="1800" dirty="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8"/>
          <p:cNvSpPr txBox="1"/>
          <p:nvPr/>
        </p:nvSpPr>
        <p:spPr>
          <a:xfrm>
            <a:off x="622325" y="-70275"/>
            <a:ext cx="832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92" name="Google Shape;192;p28"/>
          <p:cNvSpPr txBox="1"/>
          <p:nvPr/>
        </p:nvSpPr>
        <p:spPr>
          <a:xfrm>
            <a:off x="260950" y="1652225"/>
            <a:ext cx="9144000" cy="2394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Clr>
                <a:schemeClr val="dk1"/>
              </a:buClr>
              <a:buSzPts val="1100"/>
              <a:buFont typeface="Arial"/>
              <a:buNone/>
            </a:pPr>
            <a:r>
              <a:rPr lang="en" sz="10400" b="1">
                <a:solidFill>
                  <a:srgbClr val="002060"/>
                </a:solidFill>
              </a:rPr>
              <a:t>Thank You !</a:t>
            </a:r>
            <a:endParaRPr sz="10400" b="1">
              <a:solidFill>
                <a:srgbClr val="002060"/>
              </a:solidFill>
            </a:endParaRPr>
          </a:p>
          <a:p>
            <a:pPr marL="0" lvl="0" indent="0" algn="l" rtl="0">
              <a:lnSpc>
                <a:spcPct val="150000"/>
              </a:lnSpc>
              <a:spcBef>
                <a:spcPts val="0"/>
              </a:spcBef>
              <a:spcAft>
                <a:spcPts val="0"/>
              </a:spcAft>
              <a:buNone/>
            </a:pPr>
            <a:endParaRPr sz="2400">
              <a:solidFill>
                <a:schemeClr val="dk1"/>
              </a:solidFill>
            </a:endParaRPr>
          </a:p>
        </p:txBody>
      </p:sp>
    </p:spTree>
  </p:cSld>
  <p:clrMapOvr>
    <a:masterClrMapping/>
  </p:clrMapOvr>
</p:sld>
</file>

<file path=ppt/theme/theme1.xml><?xml version="1.0" encoding="utf-8"?>
<a:theme xmlns:a="http://schemas.openxmlformats.org/drawingml/2006/main" name="Retrospect">
  <a:themeElements>
    <a:clrScheme name="Custom 1">
      <a:dk1>
        <a:srgbClr val="000000"/>
      </a:dk1>
      <a:lt1>
        <a:srgbClr val="FFFFFF"/>
      </a:lt1>
      <a:dk2>
        <a:srgbClr val="344068"/>
      </a:dk2>
      <a:lt2>
        <a:srgbClr val="D9E0E6"/>
      </a:lt2>
      <a:accent1>
        <a:srgbClr val="76CDEE"/>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TotalTime>
  <Words>2170</Words>
  <Application>Microsoft Office PowerPoint</Application>
  <PresentationFormat>On-screen Show (16:9)</PresentationFormat>
  <Paragraphs>204</Paragraphs>
  <Slides>25</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Times New Roman</vt:lpstr>
      <vt:lpstr>Times</vt:lpstr>
      <vt:lpstr>Courier New</vt:lpstr>
      <vt:lpstr>Arial</vt:lpstr>
      <vt:lpstr>Georgia</vt:lpstr>
      <vt:lpstr>Calibri</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Sadia Shitol</cp:lastModifiedBy>
  <cp:revision>11</cp:revision>
  <dcterms:modified xsi:type="dcterms:W3CDTF">2024-09-29T02:27:37Z</dcterms:modified>
</cp:coreProperties>
</file>